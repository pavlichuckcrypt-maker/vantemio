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bfcff3de4ee4278" /><Relationship Type="http://schemas.openxmlformats.org/officeDocument/2006/relationships/extended-properties" Target="/docProps/app.xml" Id="R34bf16295f49412d" /><Relationship Type="http://schemas.openxmlformats.org/officeDocument/2006/relationships/officeDocument" Target="/ppt/presentation.xml" Id="R229d0fe338a244bd" /></Relationships>
</file>

<file path=ppt/presentation.xml><?xml version="1.0" encoding="utf-8"?>
<p:presentation xmlns:p="http://schemas.openxmlformats.org/presentationml/2006/main">
  <p:sldMasterIdLst>
    <p:sldMasterId xmlns:r="http://schemas.openxmlformats.org/officeDocument/2006/relationships" id="2147483648" r:id="Rff687789f38642c4"/>
  </p:sldMasterIdLst>
  <p:notesMasterIdLst>
    <p:notesMasterId xmlns:r="http://schemas.openxmlformats.org/officeDocument/2006/relationships" r:id="Re3fd79b054e447d1"/>
  </p:notesMasterIdLst>
  <p:sldIdLst>
    <p:sldId xmlns:r="http://schemas.openxmlformats.org/officeDocument/2006/relationships" id="256" r:id="R782969775abd4972"/>
    <p:sldId xmlns:r="http://schemas.openxmlformats.org/officeDocument/2006/relationships" id="257" r:id="R1c05c51e3cb34d6b"/>
    <p:sldId xmlns:r="http://schemas.openxmlformats.org/officeDocument/2006/relationships" id="258" r:id="R6c10f9c1d1d740ae"/>
    <p:sldId xmlns:r="http://schemas.openxmlformats.org/officeDocument/2006/relationships" id="259" r:id="R6ac691928d0b4a2a"/>
    <p:sldId xmlns:r="http://schemas.openxmlformats.org/officeDocument/2006/relationships" id="260" r:id="Rc6162d183cb34d32"/>
    <p:sldId xmlns:r="http://schemas.openxmlformats.org/officeDocument/2006/relationships" id="261" r:id="R3e284f26a904488b"/>
    <p:sldId xmlns:r="http://schemas.openxmlformats.org/officeDocument/2006/relationships" id="262" r:id="R0305beecfbbb4544"/>
    <p:sldId xmlns:r="http://schemas.openxmlformats.org/officeDocument/2006/relationships" id="263" r:id="Rd6c7bea031834f9a"/>
    <p:sldId xmlns:r="http://schemas.openxmlformats.org/officeDocument/2006/relationships" id="264" r:id="R38d506561b9e4d3f"/>
    <p:sldId xmlns:r="http://schemas.openxmlformats.org/officeDocument/2006/relationships" id="265" r:id="Re1e75150f1524bf9"/>
    <p:sldId xmlns:r="http://schemas.openxmlformats.org/officeDocument/2006/relationships" id="266" r:id="R5e40373f586d43bc"/>
    <p:sldId xmlns:r="http://schemas.openxmlformats.org/officeDocument/2006/relationships" id="267" r:id="Rf25dba8afbb04987"/>
    <p:sldId xmlns:r="http://schemas.openxmlformats.org/officeDocument/2006/relationships" id="268" r:id="Rac73762cbda145f0"/>
    <p:sldId xmlns:r="http://schemas.openxmlformats.org/officeDocument/2006/relationships" id="269" r:id="Ra3031f404a964c40"/>
    <p:sldId xmlns:r="http://schemas.openxmlformats.org/officeDocument/2006/relationships" id="270" r:id="R083b75b8582d4646"/>
    <p:sldId xmlns:r="http://schemas.openxmlformats.org/officeDocument/2006/relationships" id="271" r:id="R82502bdb06f24b09"/>
    <p:sldId xmlns:r="http://schemas.openxmlformats.org/officeDocument/2006/relationships" id="272" r:id="Rbc1e79808e994f37"/>
    <p:sldId xmlns:r="http://schemas.openxmlformats.org/officeDocument/2006/relationships" id="273" r:id="R650cd375b89d4de0"/>
    <p:sldId xmlns:r="http://schemas.openxmlformats.org/officeDocument/2006/relationships" id="274" r:id="R1a48c6b8506a46d2"/>
    <p:sldId xmlns:r="http://schemas.openxmlformats.org/officeDocument/2006/relationships" id="275" r:id="R55ccc9dfeb9c4603"/>
    <p:sldId xmlns:r="http://schemas.openxmlformats.org/officeDocument/2006/relationships" id="276" r:id="R37c42590ebc64bab"/>
    <p:sldId xmlns:r="http://schemas.openxmlformats.org/officeDocument/2006/relationships" id="277" r:id="Rb140256809e34319"/>
    <p:sldId xmlns:r="http://schemas.openxmlformats.org/officeDocument/2006/relationships" id="278" r:id="R4716ca0b90cf45da"/>
    <p:sldId xmlns:r="http://schemas.openxmlformats.org/officeDocument/2006/relationships" id="279" r:id="R03c0eefd0a344421"/>
    <p:sldId xmlns:r="http://schemas.openxmlformats.org/officeDocument/2006/relationships" id="280" r:id="R6584321667c44fa8"/>
    <p:sldId xmlns:r="http://schemas.openxmlformats.org/officeDocument/2006/relationships" id="281" r:id="R37e097d57bb744b4"/>
    <p:sldId xmlns:r="http://schemas.openxmlformats.org/officeDocument/2006/relationships" id="282" r:id="R2e6582c757484fff"/>
    <p:sldId xmlns:r="http://schemas.openxmlformats.org/officeDocument/2006/relationships" id="283" r:id="R589cad0ba3a848d5"/>
    <p:sldId xmlns:r="http://schemas.openxmlformats.org/officeDocument/2006/relationships" id="284" r:id="R3206d6d85e7949a9"/>
    <p:sldId xmlns:r="http://schemas.openxmlformats.org/officeDocument/2006/relationships" id="285" r:id="R78d4f8e7134b4a00"/>
    <p:sldId xmlns:r="http://schemas.openxmlformats.org/officeDocument/2006/relationships" id="286" r:id="Re1f7a25b09f7455a"/>
    <p:sldId xmlns:r="http://schemas.openxmlformats.org/officeDocument/2006/relationships" id="287" r:id="R8df1854e392344d4"/>
    <p:sldId xmlns:r="http://schemas.openxmlformats.org/officeDocument/2006/relationships" id="288" r:id="R12cabe9cbcce4ee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8a3fef5dd324faa" /><Relationship Type="http://schemas.openxmlformats.org/officeDocument/2006/relationships/slideMaster" Target="/ppt/slideMasters/slideMaster1.xml" Id="Rff687789f38642c4" /><Relationship Type="http://schemas.openxmlformats.org/officeDocument/2006/relationships/notesMaster" Target="/ppt/notesMasters/notesMaster1.xml" Id="Re3fd79b054e447d1" /><Relationship Type="http://schemas.openxmlformats.org/officeDocument/2006/relationships/presProps" Target="/ppt/presProps.xml" Id="R09113cb7eee645ce" /><Relationship Type="http://schemas.openxmlformats.org/officeDocument/2006/relationships/tableStyles" Target="/ppt/tableStyles.xml" Id="R24417a19990d4889" /><Relationship Type="http://schemas.openxmlformats.org/officeDocument/2006/relationships/slide" Target="/ppt/slides/slide1.xml" Id="R782969775abd4972" /><Relationship Type="http://schemas.openxmlformats.org/officeDocument/2006/relationships/slide" Target="/ppt/slides/slide2.xml" Id="R1c05c51e3cb34d6b" /><Relationship Type="http://schemas.openxmlformats.org/officeDocument/2006/relationships/slide" Target="/ppt/slides/slide3.xml" Id="R6c10f9c1d1d740ae" /><Relationship Type="http://schemas.openxmlformats.org/officeDocument/2006/relationships/slide" Target="/ppt/slides/slide4.xml" Id="R6ac691928d0b4a2a" /><Relationship Type="http://schemas.openxmlformats.org/officeDocument/2006/relationships/slide" Target="/ppt/slides/slide5.xml" Id="Rc6162d183cb34d32" /><Relationship Type="http://schemas.openxmlformats.org/officeDocument/2006/relationships/slide" Target="/ppt/slides/slide6.xml" Id="R3e284f26a904488b" /><Relationship Type="http://schemas.openxmlformats.org/officeDocument/2006/relationships/slide" Target="/ppt/slides/slide7.xml" Id="R0305beecfbbb4544" /><Relationship Type="http://schemas.openxmlformats.org/officeDocument/2006/relationships/slide" Target="/ppt/slides/slide8.xml" Id="Rd6c7bea031834f9a" /><Relationship Type="http://schemas.openxmlformats.org/officeDocument/2006/relationships/slide" Target="/ppt/slides/slide9.xml" Id="R38d506561b9e4d3f" /><Relationship Type="http://schemas.openxmlformats.org/officeDocument/2006/relationships/slide" Target="/ppt/slides/slide10.xml" Id="Re1e75150f1524bf9" /><Relationship Type="http://schemas.openxmlformats.org/officeDocument/2006/relationships/slide" Target="/ppt/slides/slide11.xml" Id="R5e40373f586d43bc" /><Relationship Type="http://schemas.openxmlformats.org/officeDocument/2006/relationships/slide" Target="/ppt/slides/slide12.xml" Id="Rf25dba8afbb04987" /><Relationship Type="http://schemas.openxmlformats.org/officeDocument/2006/relationships/slide" Target="/ppt/slides/slide13.xml" Id="Rac73762cbda145f0" /><Relationship Type="http://schemas.openxmlformats.org/officeDocument/2006/relationships/slide" Target="/ppt/slides/slide14.xml" Id="Ra3031f404a964c40" /><Relationship Type="http://schemas.openxmlformats.org/officeDocument/2006/relationships/slide" Target="/ppt/slides/slide15.xml" Id="R083b75b8582d4646" /><Relationship Type="http://schemas.openxmlformats.org/officeDocument/2006/relationships/slide" Target="/ppt/slides/slide16.xml" Id="R82502bdb06f24b09" /><Relationship Type="http://schemas.openxmlformats.org/officeDocument/2006/relationships/slide" Target="/ppt/slides/slide17.xml" Id="Rbc1e79808e994f37" /><Relationship Type="http://schemas.openxmlformats.org/officeDocument/2006/relationships/slide" Target="/ppt/slides/slide18.xml" Id="R650cd375b89d4de0" /><Relationship Type="http://schemas.openxmlformats.org/officeDocument/2006/relationships/slide" Target="/ppt/slides/slide19.xml" Id="R1a48c6b8506a46d2" /><Relationship Type="http://schemas.openxmlformats.org/officeDocument/2006/relationships/slide" Target="/ppt/slides/slide20.xml" Id="R55ccc9dfeb9c4603" /><Relationship Type="http://schemas.openxmlformats.org/officeDocument/2006/relationships/slide" Target="/ppt/slides/slide21.xml" Id="R37c42590ebc64bab" /><Relationship Type="http://schemas.openxmlformats.org/officeDocument/2006/relationships/slide" Target="/ppt/slides/slide22.xml" Id="Rb140256809e34319" /><Relationship Type="http://schemas.openxmlformats.org/officeDocument/2006/relationships/slide" Target="/ppt/slides/slide23.xml" Id="R4716ca0b90cf45da" /><Relationship Type="http://schemas.openxmlformats.org/officeDocument/2006/relationships/slide" Target="/ppt/slides/slide24.xml" Id="R03c0eefd0a344421" /><Relationship Type="http://schemas.openxmlformats.org/officeDocument/2006/relationships/slide" Target="/ppt/slides/slide25.xml" Id="R6584321667c44fa8" /><Relationship Type="http://schemas.openxmlformats.org/officeDocument/2006/relationships/slide" Target="/ppt/slides/slide26.xml" Id="R37e097d57bb744b4" /><Relationship Type="http://schemas.openxmlformats.org/officeDocument/2006/relationships/slide" Target="/ppt/slides/slide27.xml" Id="R2e6582c757484fff" /><Relationship Type="http://schemas.openxmlformats.org/officeDocument/2006/relationships/slide" Target="/ppt/slides/slide28.xml" Id="R589cad0ba3a848d5" /><Relationship Type="http://schemas.openxmlformats.org/officeDocument/2006/relationships/slide" Target="/ppt/slides/slide29.xml" Id="R3206d6d85e7949a9" /><Relationship Type="http://schemas.openxmlformats.org/officeDocument/2006/relationships/slide" Target="/ppt/slides/slide30.xml" Id="R78d4f8e7134b4a00" /><Relationship Type="http://schemas.openxmlformats.org/officeDocument/2006/relationships/slide" Target="/ppt/slides/slide31.xml" Id="Re1f7a25b09f7455a" /><Relationship Type="http://schemas.openxmlformats.org/officeDocument/2006/relationships/slide" Target="/ppt/slides/slide32.xml" Id="R8df1854e392344d4" /><Relationship Type="http://schemas.openxmlformats.org/officeDocument/2006/relationships/slide" Target="/ppt/slides/slide33.xml" Id="R12cabe9cbcce4ee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4a37a64e7d0400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b84d6e1b0474db3" /><Relationship Type="http://schemas.openxmlformats.org/officeDocument/2006/relationships/notesMaster" Target="/ppt/notesMasters/notesMaster1.xml" Id="Raf471317dbf54231" /></Relationships>
</file>

<file path=ppt/notesSlides/_rels/notesSlide2.xml.rels>&#65279;<?xml version="1.0" encoding="utf-8"?><Relationships xmlns="http://schemas.openxmlformats.org/package/2006/relationships"><Relationship Type="http://schemas.openxmlformats.org/officeDocument/2006/relationships/slide" Target="/ppt/slides/slide2.xml" Id="Raebac2d756bb4786" /><Relationship Type="http://schemas.openxmlformats.org/officeDocument/2006/relationships/notesMaster" Target="/ppt/notesMasters/notesMaster1.xml" Id="R063ea709d8ba4d97" /></Relationships>
</file>

<file path=ppt/notesSlides/_rels/notesSlide3.xml.rels>&#65279;<?xml version="1.0" encoding="utf-8"?><Relationships xmlns="http://schemas.openxmlformats.org/package/2006/relationships"><Relationship Type="http://schemas.openxmlformats.org/officeDocument/2006/relationships/slide" Target="/ppt/slides/slide3.xml" Id="R4f9dafba9dcc4e10" /><Relationship Type="http://schemas.openxmlformats.org/officeDocument/2006/relationships/notesMaster" Target="/ppt/notesMasters/notesMaster1.xml" Id="R990d5ea196504801" /></Relationships>
</file>

<file path=ppt/notesSlides/_rels/notesSlide4.xml.rels>&#65279;<?xml version="1.0" encoding="utf-8"?><Relationships xmlns="http://schemas.openxmlformats.org/package/2006/relationships"><Relationship Type="http://schemas.openxmlformats.org/officeDocument/2006/relationships/slide" Target="/ppt/slides/slide4.xml" Id="Ra6a50e843c44451d" /><Relationship Type="http://schemas.openxmlformats.org/officeDocument/2006/relationships/notesMaster" Target="/ppt/notesMasters/notesMaster1.xml" Id="R6093baa9127a4afd" /></Relationships>
</file>

<file path=ppt/notesSlides/_rels/notesSlide5.xml.rels>&#65279;<?xml version="1.0" encoding="utf-8"?><Relationships xmlns="http://schemas.openxmlformats.org/package/2006/relationships"><Relationship Type="http://schemas.openxmlformats.org/officeDocument/2006/relationships/slide" Target="/ppt/slides/slide5.xml" Id="R7e22bbbb40be4cf1" /><Relationship Type="http://schemas.openxmlformats.org/officeDocument/2006/relationships/notesMaster" Target="/ppt/notesMasters/notesMaster1.xml" Id="R7aaa964e6d034c2c" /></Relationships>
</file>

<file path=ppt/notesSlides/_rels/notesSlide6.xml.rels>&#65279;<?xml version="1.0" encoding="utf-8"?><Relationships xmlns="http://schemas.openxmlformats.org/package/2006/relationships"><Relationship Type="http://schemas.openxmlformats.org/officeDocument/2006/relationships/slide" Target="/ppt/slides/slide6.xml" Id="Re54c71c419524efe" /><Relationship Type="http://schemas.openxmlformats.org/officeDocument/2006/relationships/notesMaster" Target="/ppt/notesMasters/notesMaster1.xml" Id="R39d757e134394351" /></Relationships>
</file>

<file path=ppt/notesSlides/_rels/notesSlide7.xml.rels>&#65279;<?xml version="1.0" encoding="utf-8"?><Relationships xmlns="http://schemas.openxmlformats.org/package/2006/relationships"><Relationship Type="http://schemas.openxmlformats.org/officeDocument/2006/relationships/slide" Target="/ppt/slides/slide7.xml" Id="Rfde77f8063ad4e30" /><Relationship Type="http://schemas.openxmlformats.org/officeDocument/2006/relationships/notesMaster" Target="/ppt/notesMasters/notesMaster1.xml" Id="R443891e60a014bc3" /></Relationships>
</file>

<file path=ppt/notesSlides/_rels/notesSlide8.xml.rels>&#65279;<?xml version="1.0" encoding="utf-8"?><Relationships xmlns="http://schemas.openxmlformats.org/package/2006/relationships"><Relationship Type="http://schemas.openxmlformats.org/officeDocument/2006/relationships/slide" Target="/ppt/slides/slide8.xml" Id="R65c916849b964d76" /><Relationship Type="http://schemas.openxmlformats.org/officeDocument/2006/relationships/notesMaster" Target="/ppt/notesMasters/notesMaster1.xml" Id="Ra121fcc0441a4cd7" /></Relationships>
</file>

<file path=ppt/notesSlides/_rels/notesSlide9.xml.rels>&#65279;<?xml version="1.0" encoding="utf-8"?><Relationships xmlns="http://schemas.openxmlformats.org/package/2006/relationships"><Relationship Type="http://schemas.openxmlformats.org/officeDocument/2006/relationships/slide" Target="/ppt/slides/slide9.xml" Id="Rdbfeddbac5014628" /><Relationship Type="http://schemas.openxmlformats.org/officeDocument/2006/relationships/notesMaster" Target="/ppt/notesMasters/notesMaster1.xml" Id="Re0bc465d0a10402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8da2b5bd3c74c01" /><Relationship Type="http://schemas.openxmlformats.org/officeDocument/2006/relationships/notesMaster" Target="/ppt/notesMasters/notesMaster1.xml" Id="R2b35e45db4e6494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964042b8f864077" /><Relationship Type="http://schemas.openxmlformats.org/officeDocument/2006/relationships/notesMaster" Target="/ppt/notesMasters/notesMaster1.xml" Id="R24fa44611d9744a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fae497f7c594cf2" /><Relationship Type="http://schemas.openxmlformats.org/officeDocument/2006/relationships/notesMaster" Target="/ppt/notesMasters/notesMaster1.xml" Id="Rb74fd9a937684a8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6d7361ceae447a0" /><Relationship Type="http://schemas.openxmlformats.org/officeDocument/2006/relationships/notesMaster" Target="/ppt/notesMasters/notesMaster1.xml" Id="Rdb425ab3b9794758"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248bc2fc6db748da" /><Relationship Type="http://schemas.openxmlformats.org/officeDocument/2006/relationships/notesMaster" Target="/ppt/notesMasters/notesMaster1.xml" Id="R7f8f3cbd779f4f2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ece1e9f6dfc04f80" /><Relationship Type="http://schemas.openxmlformats.org/officeDocument/2006/relationships/notesMaster" Target="/ppt/notesMasters/notesMaster1.xml" Id="R1bbea3ddcab04347"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be4cf062579f4701" /><Relationship Type="http://schemas.openxmlformats.org/officeDocument/2006/relationships/notesMaster" Target="/ppt/notesMasters/notesMaster1.xml" Id="R7ae3380d5d2e42e8"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69d4432bce054051" /><Relationship Type="http://schemas.openxmlformats.org/officeDocument/2006/relationships/notesMaster" Target="/ppt/notesMasters/notesMaster1.xml" Id="R4a3bb82f6d8e4290"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1e957113207d480d" /><Relationship Type="http://schemas.openxmlformats.org/officeDocument/2006/relationships/notesMaster" Target="/ppt/notesMasters/notesMaster1.xml" Id="R3a4bad0141a740e7"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0de9ab5f9fe54beb" /><Relationship Type="http://schemas.openxmlformats.org/officeDocument/2006/relationships/notesMaster" Target="/ppt/notesMasters/notesMaster1.xml" Id="R891bf7ba4e7e485c"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760dd66385bb495b" /><Relationship Type="http://schemas.openxmlformats.org/officeDocument/2006/relationships/notesMaster" Target="/ppt/notesMasters/notesMaster1.xml" Id="R774328f12c7c4958"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600f4f29e2a04976" /><Relationship Type="http://schemas.openxmlformats.org/officeDocument/2006/relationships/notesMaster" Target="/ppt/notesMasters/notesMaster1.xml" Id="R083e04f1a0234df8"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9fc83f6033744db3" /><Relationship Type="http://schemas.openxmlformats.org/officeDocument/2006/relationships/notesMaster" Target="/ppt/notesMasters/notesMaster1.xml" Id="R599b57c8d61c425b"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e225ed7aae2d49b5" /><Relationship Type="http://schemas.openxmlformats.org/officeDocument/2006/relationships/notesMaster" Target="/ppt/notesMasters/notesMaster1.xml" Id="Rb8dde79bad8949ab"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6bdf365f324d4e26" /><Relationship Type="http://schemas.openxmlformats.org/officeDocument/2006/relationships/notesMaster" Target="/ppt/notesMasters/notesMaster1.xml" Id="R5089315da4474765"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dc0fda4467f84e78" /><Relationship Type="http://schemas.openxmlformats.org/officeDocument/2006/relationships/notesMaster" Target="/ppt/notesMasters/notesMaster1.xml" Id="Rdc077f5132574cb7"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a42b58fc9ca440d0" /><Relationship Type="http://schemas.openxmlformats.org/officeDocument/2006/relationships/notesMaster" Target="/ppt/notesMasters/notesMaster1.xml" Id="R12198eace5754f65"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4b7f1cc98d9d4afa" /><Relationship Type="http://schemas.openxmlformats.org/officeDocument/2006/relationships/notesMaster" Target="/ppt/notesMasters/notesMaster1.xml" Id="Ra5ffd594606c4c98"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4c912e23dc6c4c16" /><Relationship Type="http://schemas.openxmlformats.org/officeDocument/2006/relationships/notesMaster" Target="/ppt/notesMasters/notesMaster1.xml" Id="Rc1dd17fb45b0475b"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63b3021ce49d45cc" /><Relationship Type="http://schemas.openxmlformats.org/officeDocument/2006/relationships/notesMaster" Target="/ppt/notesMasters/notesMaster1.xml" Id="R8031264b3dca47f2"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e198943390994f8f" /><Relationship Type="http://schemas.openxmlformats.org/officeDocument/2006/relationships/notesMaster" Target="/ppt/notesMasters/notesMaster1.xml" Id="R4b7ba33a635345bb"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1953f3c0b3a24b2c" /><Relationship Type="http://schemas.openxmlformats.org/officeDocument/2006/relationships/notesMaster" Target="/ppt/notesMasters/notesMaster1.xml" Id="R284254c768bf4380"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5f6384bb737c4923" /><Relationship Type="http://schemas.openxmlformats.org/officeDocument/2006/relationships/notesMaster" Target="/ppt/notesMasters/notesMaster1.xml" Id="Rdd9ee36f9cff4617"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7b1c1ea374634927" /><Relationship Type="http://schemas.openxmlformats.org/officeDocument/2006/relationships/notesMaster" Target="/ppt/notesMasters/notesMaster1.xml" Id="Ref4c2bfd59514c6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Founder-supplied project description. Concept artwork generated with ImageGen. It does not depict a released product. Core funding request USD 90,000, optional expansion to USD 100,000.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Founder product strategy, October 2026. Boson Market is the Vantemio marketplace built using Boson Protocol, not an assertion that Vantemio operates the protocol itself. https://github.com/pavlichuckcrypt-maker/Vantemio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Problem framing reflects the founder’s experience operating content channels and the intended customer workflows. No quantified market-size or productivity claim is made.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Primary post read directly in the founder’s Chrome on 5 October 2026. Author reports a 12-hour run after supplying a prompt, Midjourney and a moodboard. This does not establish 12 hours of human labor, 100 prompts, an 18-hour duration, or a comparable benchmark. The minutes-to-hours target is founder-defined and unvalidated. Manual prompting and repeated corrections are a separate problem from elapsed autonomous runtime. Source: https://x.com/anabology/status/2103534482930491441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Engineering rationale based on the existing orchestration, matrix, repair and distributed-execution design. Speedup is a hypothesis to validate, not a current measured result. Provider latency, media generation and rendering remain constraints.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integrated lifecycle. Research, production and quality components exist; full publishing and feedback integration is in development. The return arrow represents recorded feedback informing the next operation.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Architecture synthesized from founder description and indexed orchestration/brain modules. Python core, JavaScript graphics, Node.js and Solidity commerce. The public developer API is a future product interface; internal routes already exist.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founder-provided technical descriptions and recorded engineering evidence. Python orchestrates the engine, JavaScript supports graphics. Component implementation does not establish readiness of the entire production workflow. https://github.com/pavlichuckcrypt-maker/Vantemio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Founder-reported implemented matrices and production logic. Current engineering evidence supports component work, not completed acceptance of every integrated audio/video output. No proprietary source disclosed.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Implemented memory and repair mechanisms described by founder and current engineering work. This is not a claim of autonomous foundation-model training, guaranteed continuous improvement or uncontrolled code modification.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Founder’s architecture instructions and current engineering status, October 2026. Three actual machines are registered. Full fleet readiness and legacy queue handoff are still under validation. No network addresses, credentials or private source are included.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Planned mature operating mode. Existing engine components are still being integrated. Initial configuration does not eliminate all maintenance, exceptions or provider/platform constraints.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Latest founder plan as of 5 October 2026: connect first YouTube channel as early as the next day; test full management within days to two weeks. Timing is an estimate, not a completed integration or external launch commitment.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Platform list and future scope supplied by founder. Posting and analytics depend on supported platform interfaces, permissions and connection validation. No claim that all listed platforms are integrated today.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Founder-defined model. Customer connections are in development and must be supported by each provider. MCP does not imply universal access to arbitrary subscription accounts.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Proposed commercial formats, not currently launched offers. Public developer API has not yet been implemented. Pricing, licensing and service terms remain to be validated.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Future marketing-agency use case. SEO and full campaign automation are planned extensions, not claimed current functions. Customer-level permissions, context isolation and outcome validation are required.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Long-term product thesis: open-ended extensibility, not a claim that arbitrary business functions can be automated without engineering or validation. Each domain requires its own integration, permissions and acceptance criteria.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https://github.com/pavlichuckcrypt-maker/Vantemio/blob/main/docs/DEMO_EVIDENCE.md . Tokenization checks existing passports to prevent duplicate publication of an accepted release. Content provenance and declared attribution do not independently establish legal authorship. Token ownership does not automatically transfer copyright. Usage rights follow the associated terms.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https://github.com/pavlichuckcrypt-maker/Vantemio/blob/main/docs/DEMO_EVIDENCE.md . Base Sepolia integration. Content passport is distinct from Boson redeemable NFT. Terms govern licensed rights; no legal guarantee is asserted.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Founder strategy: Boson Market develops as a full standalone marketplace alongside the private studio engine. Existing source includes account separation, tokenization and testnet commerce. Independent multi-provider commercial operation is a future milestone. https://github.com/pavlichuckcrypt-maker/Vantemio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https://github.com/pavlichuckcrypt-maker/Vantemio/blob/main/docs/DEMO_EVIDENCE.md . Diagram summarizes intended complete service flow. Recorded testnet purchase/delivery and studio callback tests do not prove a complete production run for a paying customer.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https://github.com/pavlichuckcrypt-maker/Vantemio/blob/main/docs/VERIFICATION.json and https://github.com/pavlichuckcrypt-maker/Vantemio/blob/main/docs/DEMO_EVIDENCE.md . Actual recorded offer 138 and exchange 261 used 25 DEMO test credits. Screenshot taken from the public recording at 25 seconds. Original recording retains earlier VidRa branding. These checks are not an independent security audit or proof of complete AI-film production for a paying customer.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Status synthesized from founder statements and current engineering evidence as of October 2026. Verification record dated 4 October 2026: https://github.com/pavlichuckcrypt-maker/Vantemio/blob/main/docs/VERIFICATION.json . Tests are not an independent security audit.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Business objective, not a financial forecast. Profitability depends on audience growth, monetization eligibility, demand, quality and operating costs. Current revenue is zero.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Founder-defined prospective business model. All streams are planned, with no current revenue. Marketplace fees are an option for future design, not a claim that fee collection is already implemented.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Founder’s proposed go-to-market plan. Customer profiles and willingness to pay remain hypotheses. The project currently has no live customer product or revenue. No invented TAM, conversion rate or acquisition-cost forecast is used.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 official program: https://www.base.org/ecosystem-fund . The request is early-stage product funding; no grant amount, investment or acceptance is assumed. Project evidence: https://github.com/pavlichuckcrypt-maker/Vantemio/blob/main/docs/DEMO_EVIDENCE.md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Founder planning estimate refined against current engineering work. These dates are relative to funding and are not promised completion dates. Full automation of all proposed platforms or agency types is outside the bounded first-year commitment.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Budget supplied and refined with the founder in this application workflow. USD amounts sum to 90,000. No customer video-generation expense is included. Targeted external review does not represent a full independent security audit. Allocations are preliminary budgets, not supplier quotations.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Founder’s minimum requirement: existing workstation to 96 GB RAM plus 4 TB SSD. Optional additional workstation: desktop RTX 5090, 128 GB system RAM, 4 TB SSD. Additional USD 10,000 is an allowance subject to supplier quotations and workload validation. The new system is a bounded compute worker. Source for RTX 5090 32 GB VRAM: https://www.nvidia.com/en-us/geforce/graphics-cards/50-series/rtx-5090/ . Cost reference: https://www.corsair.com/us/en/c/gaming-computers/nvidia/rtx-5090 . Current cloud allowance may be rebalanced after a rent-versus-buy comparison.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Founder-supplied biography. No previous software-development career is claimed. The founder designs the product and uses AI coding tools for implementation. BEF description: https://www.base.org/ecosystem-fund . Public source: https://github.com/pavlichuckcrypt-maker/Vantemio . Founder: https://www.linkedin.com/in/vitalii-pavlichuk-98206122a/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Public links verified against the public repository. No private studio code, internal machine addresses, credentials or customer data are published in this presentation.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239d70d59eb4f7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5ef2e10d7194406" /><Relationship Type="http://schemas.openxmlformats.org/officeDocument/2006/relationships/slideLayout" Target="/ppt/slideLayouts/slideLayout1.xml" Id="Rb872176175a3431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872176175a3431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db2b34360bbb4135" /><Relationship Type="http://schemas.openxmlformats.org/officeDocument/2006/relationships/image" Target="/ppt/media/image.png" Id="R6c470a96c6a04902" /><Relationship Type="http://schemas.openxmlformats.org/officeDocument/2006/relationships/notesSlide" Target="/ppt/notesSlides/notesSlide1.xml" Id="R2225efcc7e3c42eb"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d2e440abad7c4d6e" /><Relationship Type="http://schemas.openxmlformats.org/officeDocument/2006/relationships/notesSlide" Target="/ppt/notesSlides/notesSlide2.xml" Id="R5cc02428d6434c3c"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288ac402e656419f" /><Relationship Type="http://schemas.openxmlformats.org/officeDocument/2006/relationships/notesSlide" Target="/ppt/notesSlides/notesSlide3.xml" Id="Rdd338b55163a47cb"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eae68c4da08d47af" /><Relationship Type="http://schemas.openxmlformats.org/officeDocument/2006/relationships/hyperlink" Target="https://x.com/anabology/status/2103534482930491441" TargetMode="External" Id="R93331c2db1e7403b" /><Relationship Type="http://schemas.openxmlformats.org/officeDocument/2006/relationships/notesSlide" Target="/ppt/notesSlides/notesSlide4.xml" Id="Rcece4ca51aa14214"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e8ff027c13544f36" /><Relationship Type="http://schemas.openxmlformats.org/officeDocument/2006/relationships/notesSlide" Target="/ppt/notesSlides/notesSlide5.xml" Id="R8aefdd34caff4618"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db0d6622ce294e31" /><Relationship Type="http://schemas.openxmlformats.org/officeDocument/2006/relationships/notesSlide" Target="/ppt/notesSlides/notesSlide6.xml" Id="R8badc6b66694491b"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5723b7be68784959" /><Relationship Type="http://schemas.openxmlformats.org/officeDocument/2006/relationships/notesSlide" Target="/ppt/notesSlides/notesSlide7.xml" Id="Rfda6e9f5bff6441d"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0f4a1965917445c7" /><Relationship Type="http://schemas.openxmlformats.org/officeDocument/2006/relationships/notesSlide" Target="/ppt/notesSlides/notesSlide8.xml" Id="R320a02de5d214646"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9ce124bf7e2a4cf7" /><Relationship Type="http://schemas.openxmlformats.org/officeDocument/2006/relationships/notesSlide" Target="/ppt/notesSlides/notesSlide9.xml" Id="Re77617033164440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13922e5e3d58493d" /><Relationship Type="http://schemas.openxmlformats.org/officeDocument/2006/relationships/notesSlide" Target="/ppt/notesSlides/notesSlide10.xml" Id="R45812887b6ff4b6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bce2fa973ab54d1a" /><Relationship Type="http://schemas.openxmlformats.org/officeDocument/2006/relationships/notesSlide" Target="/ppt/notesSlides/notesSlide11.xml" Id="R753489fc2af2441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5f596a5a45c44d5f" /><Relationship Type="http://schemas.openxmlformats.org/officeDocument/2006/relationships/notesSlide" Target="/ppt/notesSlides/notesSlide12.xml" Id="Rf9b221392e65421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5e8a18a11be54954" /><Relationship Type="http://schemas.openxmlformats.org/officeDocument/2006/relationships/notesSlide" Target="/ppt/notesSlides/notesSlide13.xml" Id="R8d1d9df4c3534b3c"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56d40e1200034520" /><Relationship Type="http://schemas.openxmlformats.org/officeDocument/2006/relationships/notesSlide" Target="/ppt/notesSlides/notesSlide14.xml" Id="R66c40096e19d49c3"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818cc04a748441a9" /><Relationship Type="http://schemas.openxmlformats.org/officeDocument/2006/relationships/notesSlide" Target="/ppt/notesSlides/notesSlide15.xml" Id="R60d2b1705291440f"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e50fdb09dcb54389" /><Relationship Type="http://schemas.openxmlformats.org/officeDocument/2006/relationships/notesSlide" Target="/ppt/notesSlides/notesSlide16.xml" Id="R37b27e1ed41b4b54"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d8fbbc1626444627" /><Relationship Type="http://schemas.openxmlformats.org/officeDocument/2006/relationships/notesSlide" Target="/ppt/notesSlides/notesSlide17.xml" Id="R3bac044cac9344e3"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a2ce0c70ab8f420a" /><Relationship Type="http://schemas.openxmlformats.org/officeDocument/2006/relationships/notesSlide" Target="/ppt/notesSlides/notesSlide18.xml" Id="R0a7757d49b9e4522"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97e4dba1e9384be8" /><Relationship Type="http://schemas.openxmlformats.org/officeDocument/2006/relationships/notesSlide" Target="/ppt/notesSlides/notesSlide19.xml" Id="R6d278493f5a344a3"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10e6675c27d24f78" /><Relationship Type="http://schemas.openxmlformats.org/officeDocument/2006/relationships/notesSlide" Target="/ppt/notesSlides/notesSlide20.xml" Id="R0b90a9ddeea94634"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cd28384a1f374c8f" /><Relationship Type="http://schemas.openxmlformats.org/officeDocument/2006/relationships/notesSlide" Target="/ppt/notesSlides/notesSlide21.xml" Id="R8b502e858d794750"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171bb7969c6448f6" /><Relationship Type="http://schemas.openxmlformats.org/officeDocument/2006/relationships/notesSlide" Target="/ppt/notesSlides/notesSlide22.xml" Id="Ra2ff69913cda424a"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479c58d337a545ed" /><Relationship Type="http://schemas.openxmlformats.org/officeDocument/2006/relationships/hyperlink" Target="https://github.com/pavlichuckcrypt-maker/Vantemio/blob/main/docs/VERIFICATION.json" TargetMode="External" Id="Rdabbbed2b25f4524" /><Relationship Type="http://schemas.openxmlformats.org/officeDocument/2006/relationships/image" Target="/ppt/media/image2.png" Id="R60b7832199614d39" /><Relationship Type="http://schemas.openxmlformats.org/officeDocument/2006/relationships/notesSlide" Target="/ppt/notesSlides/notesSlide23.xml" Id="R7a07e332632d4513"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83bccffb59f04c8d" /><Relationship Type="http://schemas.openxmlformats.org/officeDocument/2006/relationships/notesSlide" Target="/ppt/notesSlides/notesSlide24.xml" Id="R68cd089f05854055"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bbdc02eb4a4742c9" /><Relationship Type="http://schemas.openxmlformats.org/officeDocument/2006/relationships/notesSlide" Target="/ppt/notesSlides/notesSlide25.xml" Id="R3ca1a731102c4a20"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1813acd2f47b45e8" /><Relationship Type="http://schemas.openxmlformats.org/officeDocument/2006/relationships/notesSlide" Target="/ppt/notesSlides/notesSlide26.xml" Id="R6c320bf8329646a5"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8c65ddb2cf0e41d4" /><Relationship Type="http://schemas.openxmlformats.org/officeDocument/2006/relationships/notesSlide" Target="/ppt/notesSlides/notesSlide27.xml" Id="Rcfe4acf3e94d4492"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14385b182f5e4bd5" /><Relationship Type="http://schemas.openxmlformats.org/officeDocument/2006/relationships/notesSlide" Target="/ppt/notesSlides/notesSlide28.xml" Id="R6b205d13d1cc472b"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0be7a9682a944772" /><Relationship Type="http://schemas.openxmlformats.org/officeDocument/2006/relationships/notesSlide" Target="/ppt/notesSlides/notesSlide29.xml" Id="R1f3256466a7c4f44"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9811dbc968f24a83" /><Relationship Type="http://schemas.openxmlformats.org/officeDocument/2006/relationships/notesSlide" Target="/ppt/notesSlides/notesSlide30.xml" Id="R1f7942f89ae849a4"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f8e790c1c0d74e74" /><Relationship Type="http://schemas.openxmlformats.org/officeDocument/2006/relationships/notesSlide" Target="/ppt/notesSlides/notesSlide31.xml" Id="R4348f721eb634ad0"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50010524e2c84289" /><Relationship Type="http://schemas.openxmlformats.org/officeDocument/2006/relationships/hyperlink" Target="https://github.com/pavlichuckcrypt-maker/Vantemio" TargetMode="External" Id="R3452694e163c47ac" /><Relationship Type="http://schemas.openxmlformats.org/officeDocument/2006/relationships/hyperlink" Target="https://www.linkedin.com/in/vitalii-pavlichuk-98206122a/" TargetMode="External" Id="Rfa68a6a8922e455c" /><Relationship Type="http://schemas.openxmlformats.org/officeDocument/2006/relationships/notesSlide" Target="/ppt/notesSlides/notesSlide32.xml" Id="R67fcc8cfd0034e1d"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4f0e8a0f900548bb" /><Relationship Type="http://schemas.openxmlformats.org/officeDocument/2006/relationships/hyperlink" Target="https://github.com/pavlichuckcrypt-maker/Vantemio" TargetMode="External" Id="Rd8adf1cc712d4513" /><Relationship Type="http://schemas.openxmlformats.org/officeDocument/2006/relationships/hyperlink" Target="https://github.com/pavlichuckcrypt-maker/Vantemio/blob/main/docs/VERIFICATION.json" TargetMode="External" Id="R9c553504503846b8" /><Relationship Type="http://schemas.openxmlformats.org/officeDocument/2006/relationships/hyperlink" Target="https://github.com/pavlichuckcrypt-maker/Vantemio/blob/main/docs/DEMO_EVIDENCE.md" TargetMode="External" Id="Re7564abb8a8e48d6" /><Relationship Type="http://schemas.openxmlformats.org/officeDocument/2006/relationships/hyperlink" Target="https://github.com/pavlichuckcrypt-maker/Vantemio/blob/main/demo/VIDRA_METAMASK_BOSON_DEMO_EN.mp4" TargetMode="External" Id="Rf12a5d1e3f7e4c98" /><Relationship Type="http://schemas.openxmlformats.org/officeDocument/2006/relationships/hyperlink" Target="https://www.linkedin.com/in/vitalii-pavlichuk-98206122a/" TargetMode="External" Id="Rb0fa3612b8284e42" /><Relationship Type="http://schemas.openxmlformats.org/officeDocument/2006/relationships/notesSlide" Target="/ppt/notesSlides/notesSlide33.xml" Id="R592e82bf381c4773" /></Relationships>
</file>

<file path=ppt/slides/slide1.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pic>
        <p:nvPicPr>
          <p:cNvPr id="6" name=""/>
          <p:cNvPicPr>
            <a:picLocks xmlns:a="http://schemas.openxmlformats.org/drawingml/2006/main" noChangeAspect="1"/>
          </p:cNvPicPr>
          <p:nvPr/>
        </p:nvPicPr>
        <p:blipFill>
          <a:blip xmlns:r="http://schemas.openxmlformats.org/officeDocument/2006/relationships" xmlns:a="http://schemas.openxmlformats.org/drawingml/2006/main" r:embed="R6c470a96c6a04902"/>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E7B152D8-7798-4ECD-8180-50EADCBE37EF}"/>
              </a:ext>
            </a:extLst>
          </p:cNvPr>
          <p:cNvSpPr>
            <a:spLocks xmlns:a="http://schemas.openxmlformats.org/drawingml/2006/main" noGrp="1"/>
          </p:cNvSpPr>
          <p:nvPr/>
        </p:nvSpPr>
        <p:spPr>
          <a:xfrm xmlns:a="http://schemas.openxmlformats.org/drawingml/2006/main">
            <a:off x="609600" y="1000125"/>
            <a:ext cx="6191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6600" b="1">
                <a:solidFill>
                  <a:srgbClr val="FFFFFF"/>
                </a:solidFill>
                <a:latin typeface="Helvetica Neue"/>
                <a:ea typeface="Helvetica Neue"/>
                <a:cs typeface="Helvetica Neue"/>
              </a:defRPr>
            </a:pPr>
            <a:r>
              <a:rPr sz="6600" b="1">
                <a:solidFill>
                  <a:srgbClr val="FFFFFF"/>
                </a:solidFill>
                <a:latin typeface="Helvetica Neue"/>
                <a:ea typeface="Helvetica Neue"/>
                <a:cs typeface="Helvetica Neue"/>
              </a:rPr>
              <a:t>Vantemio</a:t>
            </a:r>
          </a:p>
        </p:txBody>
      </p:sp>
      <p:sp>
        <p:nvSpPr>
          <p:cNvPr id="3" name="">
            <a:extLst xmlns:a="http://schemas.openxmlformats.org/drawingml/2006/main">
              <a:ext uri="{FF2B5EF4-FFF2-40B4-BE49-F238E27FC236}">
                <a16:creationId xmlns:a16="http://schemas.microsoft.com/office/drawing/2014/main" id="{0B74C021-DE54-4520-8015-ACD9D8ED4182}"/>
              </a:ext>
            </a:extLst>
          </p:cNvPr>
          <p:cNvSpPr>
            <a:spLocks xmlns:a="http://schemas.openxmlformats.org/drawingml/2006/main" noGrp="1"/>
          </p:cNvSpPr>
          <p:nvPr/>
        </p:nvSpPr>
        <p:spPr>
          <a:xfrm xmlns:a="http://schemas.openxmlformats.org/drawingml/2006/main">
            <a:off x="647700" y="2333625"/>
            <a:ext cx="78105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0">
                <a:solidFill>
                  <a:srgbClr val="FFFFFF"/>
                </a:solidFill>
                <a:latin typeface="Helvetica Neue"/>
                <a:ea typeface="Helvetica Neue"/>
                <a:cs typeface="Helvetica Neue"/>
              </a:defRPr>
            </a:pPr>
            <a:r>
              <a:rPr sz="3150" b="0">
                <a:solidFill>
                  <a:srgbClr val="FFFFFF"/>
                </a:solidFill>
                <a:latin typeface="Helvetica Neue"/>
                <a:ea typeface="Helvetica Neue"/>
                <a:cs typeface="Helvetica Neue"/>
              </a:rPr>
              <a:t>A software engine for automated</a:t>
            </a:r>
          </a:p>
          <a:p xmlns:a="http://schemas.openxmlformats.org/drawingml/2006/main">
            <a:pPr algn="l">
              <a:defRPr sz="3150" b="0">
                <a:solidFill>
                  <a:srgbClr val="FFFFFF"/>
                </a:solidFill>
                <a:latin typeface="Helvetica Neue"/>
                <a:ea typeface="Helvetica Neue"/>
                <a:cs typeface="Helvetica Neue"/>
              </a:defRPr>
            </a:pPr>
            <a:r>
              <a:rPr sz="3150" b="0">
                <a:solidFill>
                  <a:srgbClr val="FFFFFF"/>
                </a:solidFill>
                <a:latin typeface="Helvetica Neue"/>
                <a:ea typeface="Helvetica Neue"/>
                <a:cs typeface="Helvetica Neue"/>
              </a:rPr>
              <a:t>digital services</a:t>
            </a:r>
          </a:p>
        </p:txBody>
      </p:sp>
      <p:sp>
        <p:nvSpPr>
          <p:cNvPr id="4" name="">
            <a:extLst xmlns:a="http://schemas.openxmlformats.org/drawingml/2006/main">
              <a:ext uri="{FF2B5EF4-FFF2-40B4-BE49-F238E27FC236}">
                <a16:creationId xmlns:a16="http://schemas.microsoft.com/office/drawing/2014/main" id="{6FEA13D3-703F-4348-8D7F-624DA5B34AC8}"/>
              </a:ext>
            </a:extLst>
          </p:cNvPr>
          <p:cNvSpPr>
            <a:spLocks xmlns:a="http://schemas.openxmlformats.org/drawingml/2006/main" noGrp="1"/>
          </p:cNvSpPr>
          <p:nvPr/>
        </p:nvSpPr>
        <p:spPr>
          <a:xfrm xmlns:a="http://schemas.openxmlformats.org/drawingml/2006/main">
            <a:off x="647700" y="4905375"/>
            <a:ext cx="4572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B5C4CD"/>
                </a:solidFill>
                <a:latin typeface="Helvetica Neue"/>
                <a:ea typeface="Helvetica Neue"/>
                <a:cs typeface="Helvetica Neue"/>
              </a:defRPr>
            </a:pPr>
            <a:r>
              <a:rPr sz="1875" b="0">
                <a:solidFill>
                  <a:srgbClr val="B5C4CD"/>
                </a:solidFill>
                <a:latin typeface="Helvetica Neue"/>
                <a:ea typeface="Helvetica Neue"/>
                <a:cs typeface="Helvetica Neue"/>
              </a:rPr>
              <a:t>Pre-seed proposal</a:t>
            </a:r>
          </a:p>
          <a:p xmlns:a="http://schemas.openxmlformats.org/drawingml/2006/main">
            <a:pPr algn="l">
              <a:defRPr sz="1875" b="0">
                <a:solidFill>
                  <a:srgbClr val="B5C4CD"/>
                </a:solidFill>
                <a:latin typeface="Helvetica Neue"/>
                <a:ea typeface="Helvetica Neue"/>
                <a:cs typeface="Helvetica Neue"/>
              </a:defRPr>
            </a:pPr>
            <a:r>
              <a:rPr sz="1875" b="0">
                <a:solidFill>
                  <a:srgbClr val="B5C4CD"/>
                </a:solidFill>
                <a:latin typeface="Helvetica Neue"/>
                <a:ea typeface="Helvetica Neue"/>
                <a:cs typeface="Helvetica Neue"/>
              </a:rPr>
              <a:t>October 2026</a:t>
            </a:r>
          </a:p>
        </p:txBody>
      </p:sp>
      <p:sp>
        <p:nvSpPr>
          <p:cNvPr id="5" name="">
            <a:extLst xmlns:a="http://schemas.openxmlformats.org/drawingml/2006/main">
              <a:ext uri="{FF2B5EF4-FFF2-40B4-BE49-F238E27FC236}">
                <a16:creationId xmlns:a16="http://schemas.microsoft.com/office/drawing/2014/main" id="{F77CC34C-6563-4698-8E35-A8EB233369BE}"/>
              </a:ext>
            </a:extLst>
          </p:cNvPr>
          <p:cNvSpPr>
            <a:spLocks xmlns:a="http://schemas.openxmlformats.org/drawingml/2006/main" noGrp="1"/>
          </p:cNvSpPr>
          <p:nvPr/>
        </p:nvSpPr>
        <p:spPr>
          <a:xfrm xmlns:a="http://schemas.openxmlformats.org/drawingml/2006/main">
            <a:off x="647700" y="5829300"/>
            <a:ext cx="6286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FFFFFF"/>
                </a:solidFill>
                <a:latin typeface="Helvetica Neue"/>
                <a:ea typeface="Helvetica Neue"/>
                <a:cs typeface="Helvetica Neue"/>
              </a:defRPr>
            </a:pPr>
            <a:r>
              <a:rPr sz="1650" b="0">
                <a:solidFill>
                  <a:srgbClr val="FFFFFF"/>
                </a:solidFill>
                <a:latin typeface="Helvetica Neue"/>
                <a:ea typeface="Helvetica Neue"/>
                <a:cs typeface="Helvetica Neue"/>
              </a:rPr>
              <a:t>Vitalii Pavlichuk</a:t>
            </a:r>
          </a:p>
          <a:p xmlns:a="http://schemas.openxmlformats.org/drawingml/2006/main">
            <a:pPr algn="l">
              <a:defRPr sz="1650" b="0">
                <a:solidFill>
                  <a:srgbClr val="FFFFFF"/>
                </a:solidFill>
                <a:latin typeface="Helvetica Neue"/>
                <a:ea typeface="Helvetica Neue"/>
                <a:cs typeface="Helvetica Neue"/>
              </a:defRPr>
            </a:pPr>
            <a:r>
              <a:rPr sz="1650" b="0">
                <a:solidFill>
                  <a:srgbClr val="FFFFFF"/>
                </a:solidFill>
                <a:latin typeface="Helvetica Neue"/>
                <a:ea typeface="Helvetica Neue"/>
                <a:cs typeface="Helvetica Neue"/>
              </a:rPr>
              <a:t>Founder and Product Architect</a:t>
            </a:r>
          </a:p>
        </p:txBody>
      </p:sp>
    </p:spTree>
    <p:extLst>
      <p:ext uri="{BB962C8B-B14F-4D97-AF65-F5344CB8AC3E}">
        <p14:creationId xmlns:p14="http://schemas.microsoft.com/office/powerpoint/2010/main" val="1737564964"/>
      </p:ext>
    </p:extLst>
  </p:cSld>
</p:sld>
</file>

<file path=ppt/slides/slide2.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59C6B37-1EB7-4DF8-9D7B-7A06FD3B6807}"/>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EAF1F5"/>
                </a:solidFill>
                <a:latin typeface="Helvetica Neue"/>
                <a:ea typeface="Helvetica Neue"/>
                <a:cs typeface="Helvetica Neue"/>
              </a:defRPr>
            </a:pPr>
            <a:r>
              <a:rPr sz="3300" b="1">
                <a:solidFill>
                  <a:srgbClr val="EAF1F5"/>
                </a:solidFill>
                <a:latin typeface="Helvetica Neue"/>
                <a:ea typeface="Helvetica Neue"/>
                <a:cs typeface="Helvetica Neue"/>
              </a:rPr>
              <a:t>One engine. Two product lines.</a:t>
            </a:r>
          </a:p>
        </p:txBody>
      </p:sp>
      <p:sp>
        <p:nvSpPr>
          <p:cNvPr id="2" name="">
            <a:extLst xmlns:a="http://schemas.openxmlformats.org/drawingml/2006/main">
              <a:ext uri="{FF2B5EF4-FFF2-40B4-BE49-F238E27FC236}">
                <a16:creationId xmlns:a16="http://schemas.microsoft.com/office/drawing/2014/main" id="{993C56B4-E34A-4000-A5AB-9817AF18A9BD}"/>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A9BDC9"/>
                </a:solidFill>
                <a:latin typeface="Helvetica Neue"/>
                <a:ea typeface="Helvetica Neue"/>
                <a:cs typeface="Helvetica Neue"/>
              </a:defRPr>
            </a:pPr>
            <a:r>
              <a:rPr sz="1200" b="0">
                <a:solidFill>
                  <a:srgbClr val="A9BDC9"/>
                </a:solidFill>
                <a:latin typeface="Helvetica Neue"/>
                <a:ea typeface="Helvetica Neue"/>
                <a:cs typeface="Helvetica Neue"/>
              </a:rPr>
              <a:t>02</a:t>
            </a:r>
          </a:p>
        </p:txBody>
      </p:sp>
      <p:sp>
        <p:nvSpPr>
          <p:cNvPr id="3" name="">
            <a:extLst xmlns:a="http://schemas.openxmlformats.org/drawingml/2006/main">
              <a:ext uri="{FF2B5EF4-FFF2-40B4-BE49-F238E27FC236}">
                <a16:creationId xmlns:a16="http://schemas.microsoft.com/office/drawing/2014/main" id="{9C778336-F510-4060-B901-8F334FA85059}"/>
              </a:ext>
            </a:extLst>
          </p:cNvPr>
          <p:cNvSpPr>
            <a:spLocks xmlns:a="http://schemas.openxmlformats.org/drawingml/2006/main" noGrp="1"/>
          </p:cNvSpPr>
          <p:nvPr/>
        </p:nvSpPr>
        <p:spPr>
          <a:xfrm xmlns:a="http://schemas.openxmlformats.org/drawingml/2006/main">
            <a:off x="609600" y="1600200"/>
            <a:ext cx="10953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56DBD0"/>
                </a:solidFill>
                <a:latin typeface="Helvetica Neue"/>
                <a:ea typeface="Helvetica Neue"/>
                <a:cs typeface="Helvetica Neue"/>
              </a:defRPr>
            </a:pPr>
            <a:r>
              <a:rPr sz="2850" b="1">
                <a:solidFill>
                  <a:srgbClr val="56DBD0"/>
                </a:solidFill>
                <a:latin typeface="Helvetica Neue"/>
                <a:ea typeface="Helvetica Neue"/>
                <a:cs typeface="Helvetica Neue"/>
              </a:rPr>
              <a:t>Reusable orchestration and execution core</a:t>
            </a:r>
          </a:p>
        </p:txBody>
      </p:sp>
      <p:sp>
        <p:nvSpPr>
          <p:cNvPr id="4" name="">
            <a:extLst xmlns:a="http://schemas.openxmlformats.org/drawingml/2006/main">
              <a:ext uri="{FF2B5EF4-FFF2-40B4-BE49-F238E27FC236}">
                <a16:creationId xmlns:a16="http://schemas.microsoft.com/office/drawing/2014/main" id="{838F65BB-AB08-4F5A-BA43-1A4B205248D4}"/>
              </a:ext>
            </a:extLst>
          </p:cNvPr>
          <p:cNvSpPr>
            <a:spLocks xmlns:a="http://schemas.openxmlformats.org/drawingml/2006/main" noGrp="1"/>
          </p:cNvSpPr>
          <p:nvPr/>
        </p:nvSpPr>
        <p:spPr>
          <a:xfrm xmlns:a="http://schemas.openxmlformats.org/drawingml/2006/main">
            <a:off x="609600" y="2333625"/>
            <a:ext cx="1095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EAF1F5"/>
                </a:solidFill>
                <a:latin typeface="Helvetica Neue"/>
                <a:ea typeface="Helvetica Neue"/>
                <a:cs typeface="Helvetica Neue"/>
              </a:defRPr>
            </a:pPr>
            <a:r>
              <a:rPr sz="2175" b="0">
                <a:solidFill>
                  <a:srgbClr val="EAF1F5"/>
                </a:solidFill>
                <a:latin typeface="Helvetica Neue"/>
                <a:ea typeface="Helvetica Neue"/>
                <a:cs typeface="Helvetica Neue"/>
              </a:rPr>
              <a:t>Coordinates work, preserves context, validates results and connects outputs to delivery and commerce.</a:t>
            </a:r>
          </a:p>
        </p:txBody>
      </p:sp>
      <p:sp>
        <p:nvSpPr>
          <p:cNvPr id="5" name="">
            <a:extLst xmlns:a="http://schemas.openxmlformats.org/drawingml/2006/main">
              <a:ext uri="{FF2B5EF4-FFF2-40B4-BE49-F238E27FC236}">
                <a16:creationId xmlns:a16="http://schemas.microsoft.com/office/drawing/2014/main" id="{42B12839-1333-4C73-A632-F95B750C894C}"/>
              </a:ext>
            </a:extLst>
          </p:cNvPr>
          <p:cNvSpPr>
            <a:spLocks xmlns:a="http://schemas.openxmlformats.org/drawingml/2006/main" noGrp="1"/>
          </p:cNvSpPr>
          <p:nvPr/>
        </p:nvSpPr>
        <p:spPr>
          <a:xfrm xmlns:a="http://schemas.openxmlformats.org/drawingml/2006/main">
            <a:off x="609600" y="3648075"/>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Vantemio Studio</a:t>
            </a:r>
          </a:p>
        </p:txBody>
      </p:sp>
      <p:sp>
        <p:nvSpPr>
          <p:cNvPr id="6" name="">
            <a:extLst xmlns:a="http://schemas.openxmlformats.org/drawingml/2006/main">
              <a:ext uri="{FF2B5EF4-FFF2-40B4-BE49-F238E27FC236}">
                <a16:creationId xmlns:a16="http://schemas.microsoft.com/office/drawing/2014/main" id="{408A8425-E398-4871-8511-EBE3E025F685}"/>
              </a:ext>
            </a:extLst>
          </p:cNvPr>
          <p:cNvSpPr>
            <a:spLocks xmlns:a="http://schemas.openxmlformats.org/drawingml/2006/main" noGrp="1"/>
          </p:cNvSpPr>
          <p:nvPr/>
        </p:nvSpPr>
        <p:spPr>
          <a:xfrm xmlns:a="http://schemas.openxmlformats.org/drawingml/2006/main">
            <a:off x="609600" y="4143375"/>
            <a:ext cx="5191125"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EAF1F5"/>
                </a:solidFill>
                <a:latin typeface="Helvetica Neue"/>
                <a:ea typeface="Helvetica Neue"/>
                <a:cs typeface="Helvetica Neue"/>
              </a:defRPr>
            </a:pPr>
            <a:r>
              <a:rPr sz="2100" b="0">
                <a:solidFill>
                  <a:srgbClr val="EAF1F5"/>
                </a:solidFill>
                <a:latin typeface="Helvetica Neue"/>
                <a:ea typeface="Helvetica Neue"/>
                <a:cs typeface="Helvetica Neue"/>
              </a:rPr>
              <a:t>Video production is the first application. Social-media operations and business-specific automation expand the same engine.</a:t>
            </a:r>
          </a:p>
        </p:txBody>
      </p:sp>
      <p:sp>
        <p:nvSpPr>
          <p:cNvPr id="7" name="">
            <a:extLst xmlns:a="http://schemas.openxmlformats.org/drawingml/2006/main">
              <a:ext uri="{FF2B5EF4-FFF2-40B4-BE49-F238E27FC236}">
                <a16:creationId xmlns:a16="http://schemas.microsoft.com/office/drawing/2014/main" id="{3199524A-00C3-4227-A291-AC987413006C}"/>
              </a:ext>
            </a:extLst>
          </p:cNvPr>
          <p:cNvSpPr>
            <a:spLocks xmlns:a="http://schemas.openxmlformats.org/drawingml/2006/main" noGrp="1"/>
          </p:cNvSpPr>
          <p:nvPr/>
        </p:nvSpPr>
        <p:spPr>
          <a:xfrm xmlns:a="http://schemas.openxmlformats.org/drawingml/2006/main">
            <a:off x="6429375" y="3648075"/>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Boson Market</a:t>
            </a:r>
          </a:p>
        </p:txBody>
      </p:sp>
      <p:sp>
        <p:nvSpPr>
          <p:cNvPr id="8" name="">
            <a:extLst xmlns:a="http://schemas.openxmlformats.org/drawingml/2006/main">
              <a:ext uri="{FF2B5EF4-FFF2-40B4-BE49-F238E27FC236}">
                <a16:creationId xmlns:a16="http://schemas.microsoft.com/office/drawing/2014/main" id="{1276E6A6-4E88-4854-BA4C-481DDC16328C}"/>
              </a:ext>
            </a:extLst>
          </p:cNvPr>
          <p:cNvSpPr>
            <a:spLocks xmlns:a="http://schemas.openxmlformats.org/drawingml/2006/main" noGrp="1"/>
          </p:cNvSpPr>
          <p:nvPr/>
        </p:nvSpPr>
        <p:spPr>
          <a:xfrm xmlns:a="http://schemas.openxmlformats.org/drawingml/2006/main">
            <a:off x="6429375" y="4143375"/>
            <a:ext cx="5191125"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EAF1F5"/>
                </a:solidFill>
                <a:latin typeface="Helvetica Neue"/>
                <a:ea typeface="Helvetica Neue"/>
                <a:cs typeface="Helvetica Neue"/>
              </a:defRPr>
            </a:pPr>
            <a:r>
              <a:rPr sz="2100" b="0">
                <a:solidFill>
                  <a:srgbClr val="EAF1F5"/>
                </a:solidFill>
                <a:latin typeface="Helvetica Neue"/>
                <a:ea typeface="Helvetica Neue"/>
                <a:cs typeface="Helvetica Neue"/>
              </a:rPr>
              <a:t>A marketplace for studio services and digital assets, with its own roadmap toward an independent multi-provider platform.</a:t>
            </a:r>
          </a:p>
        </p:txBody>
      </p:sp>
      <p:sp>
        <p:nvSpPr>
          <p:cNvPr id="9" name="">
            <a:extLst xmlns:a="http://schemas.openxmlformats.org/drawingml/2006/main">
              <a:ext uri="{FF2B5EF4-FFF2-40B4-BE49-F238E27FC236}">
                <a16:creationId xmlns:a16="http://schemas.microsoft.com/office/drawing/2014/main" id="{162B6E8A-FF82-4D2E-8F75-416FE85E325E}"/>
              </a:ext>
            </a:extLst>
          </p:cNvPr>
          <p:cNvSpPr>
            <a:spLocks xmlns:a="http://schemas.openxmlformats.org/drawingml/2006/main" noGrp="1"/>
          </p:cNvSpPr>
          <p:nvPr/>
        </p:nvSpPr>
        <p:spPr>
          <a:xfrm xmlns:a="http://schemas.openxmlformats.org/drawingml/2006/main">
            <a:off x="609600" y="5972175"/>
            <a:ext cx="10953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A9BDC9"/>
                </a:solidFill>
                <a:latin typeface="Helvetica Neue"/>
                <a:ea typeface="Helvetica Neue"/>
                <a:cs typeface="Helvetica Neue"/>
              </a:defRPr>
            </a:pPr>
            <a:r>
              <a:rPr sz="1725" b="0">
                <a:solidFill>
                  <a:srgbClr val="A9BDC9"/>
                </a:solidFill>
                <a:latin typeface="Helvetica Neue"/>
                <a:ea typeface="Helvetica Neue"/>
                <a:cs typeface="Helvetica Neue"/>
              </a:rPr>
              <a:t>Current stage: implemented components and testnet demos; integrated product under development.</a:t>
            </a:r>
          </a:p>
        </p:txBody>
      </p:sp>
    </p:spTree>
    <p:extLst>
      <p:ext uri="{BB962C8B-B14F-4D97-AF65-F5344CB8AC3E}">
        <p14:creationId xmlns:p14="http://schemas.microsoft.com/office/powerpoint/2010/main" val="1731065561"/>
      </p:ext>
    </p:extLst>
  </p:cSld>
</p:sld>
</file>

<file path=ppt/slides/slide3.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5083E70-E4EC-4F77-95FF-F4D24C5670D8}"/>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EAF1F5"/>
                </a:solidFill>
                <a:latin typeface="Helvetica Neue"/>
                <a:ea typeface="Helvetica Neue"/>
                <a:cs typeface="Helvetica Neue"/>
              </a:defRPr>
            </a:pPr>
            <a:r>
              <a:rPr sz="3300" b="1">
                <a:solidFill>
                  <a:srgbClr val="EAF1F5"/>
                </a:solidFill>
                <a:latin typeface="Helvetica Neue"/>
                <a:ea typeface="Helvetica Neue"/>
                <a:cs typeface="Helvetica Neue"/>
              </a:rPr>
              <a:t>The production problem</a:t>
            </a:r>
          </a:p>
        </p:txBody>
      </p:sp>
      <p:sp>
        <p:nvSpPr>
          <p:cNvPr id="2" name="">
            <a:extLst xmlns:a="http://schemas.openxmlformats.org/drawingml/2006/main">
              <a:ext uri="{FF2B5EF4-FFF2-40B4-BE49-F238E27FC236}">
                <a16:creationId xmlns:a16="http://schemas.microsoft.com/office/drawing/2014/main" id="{D5E4E81F-88AF-402F-95C8-D3F889789B81}"/>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A9BDC9"/>
                </a:solidFill>
                <a:latin typeface="Helvetica Neue"/>
                <a:ea typeface="Helvetica Neue"/>
                <a:cs typeface="Helvetica Neue"/>
              </a:defRPr>
            </a:pPr>
            <a:r>
              <a:rPr sz="1200" b="0">
                <a:solidFill>
                  <a:srgbClr val="A9BDC9"/>
                </a:solidFill>
                <a:latin typeface="Helvetica Neue"/>
                <a:ea typeface="Helvetica Neue"/>
                <a:cs typeface="Helvetica Neue"/>
              </a:rPr>
              <a:t>03</a:t>
            </a:r>
          </a:p>
        </p:txBody>
      </p:sp>
      <p:sp>
        <p:nvSpPr>
          <p:cNvPr id="3" name="">
            <a:extLst xmlns:a="http://schemas.openxmlformats.org/drawingml/2006/main">
              <a:ext uri="{FF2B5EF4-FFF2-40B4-BE49-F238E27FC236}">
                <a16:creationId xmlns:a16="http://schemas.microsoft.com/office/drawing/2014/main" id="{632C7704-6BCF-4B2F-A771-56CA9EF37F50}"/>
              </a:ext>
            </a:extLst>
          </p:cNvPr>
          <p:cNvSpPr>
            <a:spLocks xmlns:a="http://schemas.openxmlformats.org/drawingml/2006/main" noGrp="1"/>
          </p:cNvSpPr>
          <p:nvPr/>
        </p:nvSpPr>
        <p:spPr>
          <a:xfrm xmlns:a="http://schemas.openxmlformats.org/drawingml/2006/main">
            <a:off x="609600" y="1619250"/>
            <a:ext cx="7620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Manual handoffs</a:t>
            </a:r>
          </a:p>
        </p:txBody>
      </p:sp>
      <p:sp>
        <p:nvSpPr>
          <p:cNvPr id="4" name="">
            <a:extLst xmlns:a="http://schemas.openxmlformats.org/drawingml/2006/main">
              <a:ext uri="{FF2B5EF4-FFF2-40B4-BE49-F238E27FC236}">
                <a16:creationId xmlns:a16="http://schemas.microsoft.com/office/drawing/2014/main" id="{A4F6DDDF-CC20-4B4B-8134-C61D7FEF4648}"/>
              </a:ext>
            </a:extLst>
          </p:cNvPr>
          <p:cNvSpPr>
            <a:spLocks xmlns:a="http://schemas.openxmlformats.org/drawingml/2006/main" noGrp="1"/>
          </p:cNvSpPr>
          <p:nvPr/>
        </p:nvSpPr>
        <p:spPr>
          <a:xfrm xmlns:a="http://schemas.openxmlformats.org/drawingml/2006/main">
            <a:off x="609600" y="2114550"/>
            <a:ext cx="7620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EAF1F5"/>
                </a:solidFill>
                <a:latin typeface="Helvetica Neue"/>
                <a:ea typeface="Helvetica Neue"/>
                <a:cs typeface="Helvetica Neue"/>
              </a:defRPr>
            </a:pPr>
            <a:r>
              <a:rPr sz="2175" b="0">
                <a:solidFill>
                  <a:srgbClr val="EAF1F5"/>
                </a:solidFill>
                <a:latin typeface="Helvetica Neue"/>
                <a:ea typeface="Helvetica Neue"/>
                <a:cs typeface="Helvetica Neue"/>
              </a:rPr>
              <a:t>Creators move research, scripts, assets and editing instructions between disconnected tools.</a:t>
            </a:r>
          </a:p>
        </p:txBody>
      </p:sp>
      <p:sp>
        <p:nvSpPr>
          <p:cNvPr id="5" name="">
            <a:extLst xmlns:a="http://schemas.openxmlformats.org/drawingml/2006/main">
              <a:ext uri="{FF2B5EF4-FFF2-40B4-BE49-F238E27FC236}">
                <a16:creationId xmlns:a16="http://schemas.microsoft.com/office/drawing/2014/main" id="{A6FC92D7-DB1E-4F35-ACEA-879AA1B42B31}"/>
              </a:ext>
            </a:extLst>
          </p:cNvPr>
          <p:cNvSpPr>
            <a:spLocks xmlns:a="http://schemas.openxmlformats.org/drawingml/2006/main" noGrp="1"/>
          </p:cNvSpPr>
          <p:nvPr/>
        </p:nvSpPr>
        <p:spPr>
          <a:xfrm xmlns:a="http://schemas.openxmlformats.org/drawingml/2006/main">
            <a:off x="609600" y="3095625"/>
            <a:ext cx="7620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Feedback gets lost</a:t>
            </a:r>
          </a:p>
        </p:txBody>
      </p:sp>
      <p:sp>
        <p:nvSpPr>
          <p:cNvPr id="6" name="">
            <a:extLst xmlns:a="http://schemas.openxmlformats.org/drawingml/2006/main">
              <a:ext uri="{FF2B5EF4-FFF2-40B4-BE49-F238E27FC236}">
                <a16:creationId xmlns:a16="http://schemas.microsoft.com/office/drawing/2014/main" id="{A5F1860D-85E8-440F-81D0-4B1EE794A001}"/>
              </a:ext>
            </a:extLst>
          </p:cNvPr>
          <p:cNvSpPr>
            <a:spLocks xmlns:a="http://schemas.openxmlformats.org/drawingml/2006/main" noGrp="1"/>
          </p:cNvSpPr>
          <p:nvPr/>
        </p:nvSpPr>
        <p:spPr>
          <a:xfrm xmlns:a="http://schemas.openxmlformats.org/drawingml/2006/main">
            <a:off x="609600" y="3590925"/>
            <a:ext cx="7620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EAF1F5"/>
                </a:solidFill>
                <a:latin typeface="Helvetica Neue"/>
                <a:ea typeface="Helvetica Neue"/>
                <a:cs typeface="Helvetica Neue"/>
              </a:defRPr>
            </a:pPr>
            <a:r>
              <a:rPr sz="2175" b="0">
                <a:solidFill>
                  <a:srgbClr val="EAF1F5"/>
                </a:solidFill>
                <a:latin typeface="Helvetica Neue"/>
                <a:ea typeface="Helvetica Neue"/>
                <a:cs typeface="Helvetica Neue"/>
              </a:rPr>
              <a:t>Audience response and production failures rarely become reusable instructions for the next project.</a:t>
            </a:r>
          </a:p>
        </p:txBody>
      </p:sp>
      <p:sp>
        <p:nvSpPr>
          <p:cNvPr id="7" name="">
            <a:extLst xmlns:a="http://schemas.openxmlformats.org/drawingml/2006/main">
              <a:ext uri="{FF2B5EF4-FFF2-40B4-BE49-F238E27FC236}">
                <a16:creationId xmlns:a16="http://schemas.microsoft.com/office/drawing/2014/main" id="{0ADB0C0E-E62D-40A1-95AB-D968D2A20199}"/>
              </a:ext>
            </a:extLst>
          </p:cNvPr>
          <p:cNvSpPr>
            <a:spLocks xmlns:a="http://schemas.openxmlformats.org/drawingml/2006/main" noGrp="1"/>
          </p:cNvSpPr>
          <p:nvPr/>
        </p:nvSpPr>
        <p:spPr>
          <a:xfrm xmlns:a="http://schemas.openxmlformats.org/drawingml/2006/main">
            <a:off x="609600" y="4686300"/>
            <a:ext cx="7620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Delivery adds another workflow</a:t>
            </a:r>
          </a:p>
        </p:txBody>
      </p:sp>
      <p:sp>
        <p:nvSpPr>
          <p:cNvPr id="8" name="">
            <a:extLst xmlns:a="http://schemas.openxmlformats.org/drawingml/2006/main">
              <a:ext uri="{FF2B5EF4-FFF2-40B4-BE49-F238E27FC236}">
                <a16:creationId xmlns:a16="http://schemas.microsoft.com/office/drawing/2014/main" id="{1B7D59AB-5D01-4B53-9999-57435A797301}"/>
              </a:ext>
            </a:extLst>
          </p:cNvPr>
          <p:cNvSpPr>
            <a:spLocks xmlns:a="http://schemas.openxmlformats.org/drawingml/2006/main" noGrp="1"/>
          </p:cNvSpPr>
          <p:nvPr/>
        </p:nvSpPr>
        <p:spPr>
          <a:xfrm xmlns:a="http://schemas.openxmlformats.org/drawingml/2006/main">
            <a:off x="609600" y="5181600"/>
            <a:ext cx="76200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EAF1F5"/>
                </a:solidFill>
                <a:latin typeface="Helvetica Neue"/>
                <a:ea typeface="Helvetica Neue"/>
                <a:cs typeface="Helvetica Neue"/>
              </a:defRPr>
            </a:pPr>
            <a:r>
              <a:rPr sz="2175" b="0">
                <a:solidFill>
                  <a:srgbClr val="EAF1F5"/>
                </a:solidFill>
                <a:latin typeface="Helvetica Neue"/>
                <a:ea typeface="Helvetica Neue"/>
                <a:cs typeface="Helvetica Neue"/>
              </a:rPr>
              <a:t>An order must connect to the accepted version, buyer entitlement and the correct delivered file.</a:t>
            </a:r>
          </a:p>
        </p:txBody>
      </p:sp>
      <p:sp>
        <p:nvSpPr>
          <p:cNvPr id="9" name="">
            <a:extLst xmlns:a="http://schemas.openxmlformats.org/drawingml/2006/main">
              <a:ext uri="{FF2B5EF4-FFF2-40B4-BE49-F238E27FC236}">
                <a16:creationId xmlns:a16="http://schemas.microsoft.com/office/drawing/2014/main" id="{47F2602F-23B3-4E21-8169-2A57F0444E1C}"/>
              </a:ext>
            </a:extLst>
          </p:cNvPr>
          <p:cNvSpPr>
            <a:spLocks xmlns:a="http://schemas.openxmlformats.org/drawingml/2006/main" noGrp="1"/>
          </p:cNvSpPr>
          <p:nvPr/>
        </p:nvSpPr>
        <p:spPr>
          <a:xfrm xmlns:a="http://schemas.openxmlformats.org/drawingml/2006/main">
            <a:off x="9048750" y="1952625"/>
            <a:ext cx="2571750" cy="2143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56DBD0"/>
                </a:solidFill>
                <a:latin typeface="Helvetica Neue"/>
                <a:ea typeface="Helvetica Neue"/>
                <a:cs typeface="Helvetica Neue"/>
              </a:defRPr>
            </a:pPr>
            <a:r>
              <a:rPr sz="2325" b="1">
                <a:solidFill>
                  <a:srgbClr val="56DBD0"/>
                </a:solidFill>
                <a:latin typeface="Helvetica Neue"/>
                <a:ea typeface="Helvetica Neue"/>
                <a:cs typeface="Helvetica Neue"/>
              </a:rPr>
              <a:t>Creators</a:t>
            </a:r>
          </a:p>
          <a:p xmlns:a="http://schemas.openxmlformats.org/drawingml/2006/main">
            <a:pPr algn="l">
              <a:defRPr sz="2325" b="1">
                <a:solidFill>
                  <a:srgbClr val="56DBD0"/>
                </a:solidFill>
                <a:latin typeface="Helvetica Neue"/>
                <a:ea typeface="Helvetica Neue"/>
                <a:cs typeface="Helvetica Neue"/>
              </a:defRPr>
            </a:pPr>
            <a:r>
              <a:rPr sz="2325" b="1">
                <a:solidFill>
                  <a:srgbClr val="56DBD0"/>
                </a:solidFill>
                <a:latin typeface="Helvetica Neue"/>
                <a:ea typeface="Helvetica Neue"/>
                <a:cs typeface="Helvetica Neue"/>
              </a:rPr>
              <a:t>Small studios</a:t>
            </a:r>
          </a:p>
          <a:p xmlns:a="http://schemas.openxmlformats.org/drawingml/2006/main">
            <a:pPr algn="l">
              <a:defRPr sz="2325" b="1">
                <a:solidFill>
                  <a:srgbClr val="56DBD0"/>
                </a:solidFill>
                <a:latin typeface="Helvetica Neue"/>
                <a:ea typeface="Helvetica Neue"/>
                <a:cs typeface="Helvetica Neue"/>
              </a:defRPr>
            </a:pPr>
            <a:r>
              <a:rPr sz="2325" b="1">
                <a:solidFill>
                  <a:srgbClr val="56DBD0"/>
                </a:solidFill>
                <a:latin typeface="Helvetica Neue"/>
                <a:ea typeface="Helvetica Neue"/>
                <a:cs typeface="Helvetica Neue"/>
              </a:rPr>
              <a:t>Agencies</a:t>
            </a:r>
          </a:p>
        </p:txBody>
      </p:sp>
    </p:spTree>
    <p:extLst>
      <p:ext uri="{BB962C8B-B14F-4D97-AF65-F5344CB8AC3E}">
        <p14:creationId xmlns:p14="http://schemas.microsoft.com/office/powerpoint/2010/main" val="624340810"/>
      </p:ext>
    </p:extLst>
  </p:cSld>
</p:sld>
</file>

<file path=ppt/slides/slide4.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2174430-0F27-4E43-A2BF-427DA1CB71CF}"/>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EAF1F5"/>
                </a:solidFill>
                <a:latin typeface="Helvetica Neue"/>
                <a:ea typeface="Helvetica Neue"/>
                <a:cs typeface="Helvetica Neue"/>
              </a:defRPr>
            </a:pPr>
            <a:r>
              <a:rPr sz="3300" b="1">
                <a:solidFill>
                  <a:srgbClr val="EAF1F5"/>
                </a:solidFill>
                <a:latin typeface="Helvetica Neue"/>
                <a:ea typeface="Helvetica Neue"/>
                <a:cs typeface="Helvetica Neue"/>
              </a:rPr>
              <a:t>Short videos can still require long production runs</a:t>
            </a:r>
          </a:p>
        </p:txBody>
      </p:sp>
      <p:sp>
        <p:nvSpPr>
          <p:cNvPr id="2" name="">
            <a:extLst xmlns:a="http://schemas.openxmlformats.org/drawingml/2006/main">
              <a:ext uri="{FF2B5EF4-FFF2-40B4-BE49-F238E27FC236}">
                <a16:creationId xmlns:a16="http://schemas.microsoft.com/office/drawing/2014/main" id="{C6851176-D841-452C-B7DF-D077380F722B}"/>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A9BDC9"/>
                </a:solidFill>
                <a:latin typeface="Helvetica Neue"/>
                <a:ea typeface="Helvetica Neue"/>
                <a:cs typeface="Helvetica Neue"/>
              </a:defRPr>
            </a:pPr>
            <a:r>
              <a:rPr sz="1200" b="0">
                <a:solidFill>
                  <a:srgbClr val="A9BDC9"/>
                </a:solidFill>
                <a:latin typeface="Helvetica Neue"/>
                <a:ea typeface="Helvetica Neue"/>
                <a:cs typeface="Helvetica Neue"/>
              </a:rPr>
              <a:t>04</a:t>
            </a:r>
          </a:p>
        </p:txBody>
      </p:sp>
      <p:sp>
        <p:nvSpPr>
          <p:cNvPr id="3" name="">
            <a:extLst xmlns:a="http://schemas.openxmlformats.org/drawingml/2006/main">
              <a:ext uri="{FF2B5EF4-FFF2-40B4-BE49-F238E27FC236}">
                <a16:creationId xmlns:a16="http://schemas.microsoft.com/office/drawing/2014/main" id="{BAC94441-0833-4FB1-81A2-C55CBCC6231C}"/>
              </a:ext>
            </a:extLst>
          </p:cNvPr>
          <p:cNvSpPr>
            <a:spLocks xmlns:a="http://schemas.openxmlformats.org/drawingml/2006/main" noGrp="1"/>
          </p:cNvSpPr>
          <p:nvPr/>
        </p:nvSpPr>
        <p:spPr>
          <a:xfrm xmlns:a="http://schemas.openxmlformats.org/drawingml/2006/main">
            <a:off x="609600" y="1676400"/>
            <a:ext cx="5143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5025" b="1">
                <a:solidFill>
                  <a:srgbClr val="61A3FF"/>
                </a:solidFill>
                <a:latin typeface="Helvetica Neue"/>
                <a:ea typeface="Helvetica Neue"/>
                <a:cs typeface="Helvetica Neue"/>
              </a:defRPr>
            </a:pPr>
            <a:r>
              <a:rPr sz="5025" b="1">
                <a:solidFill>
                  <a:srgbClr val="61A3FF"/>
                </a:solidFill>
                <a:latin typeface="Helvetica Neue"/>
                <a:ea typeface="Helvetica Neue"/>
                <a:cs typeface="Helvetica Neue"/>
              </a:rPr>
              <a:t>12 hours</a:t>
            </a:r>
          </a:p>
        </p:txBody>
      </p:sp>
      <p:sp>
        <p:nvSpPr>
          <p:cNvPr id="4" name="">
            <a:extLst xmlns:a="http://schemas.openxmlformats.org/drawingml/2006/main">
              <a:ext uri="{FF2B5EF4-FFF2-40B4-BE49-F238E27FC236}">
                <a16:creationId xmlns:a16="http://schemas.microsoft.com/office/drawing/2014/main" id="{B0896F21-56FE-4994-AF65-8BB7A3B90619}"/>
              </a:ext>
            </a:extLst>
          </p:cNvPr>
          <p:cNvSpPr>
            <a:spLocks xmlns:a="http://schemas.openxmlformats.org/drawingml/2006/main" noGrp="1"/>
          </p:cNvSpPr>
          <p:nvPr/>
        </p:nvSpPr>
        <p:spPr>
          <a:xfrm xmlns:a="http://schemas.openxmlformats.org/drawingml/2006/main">
            <a:off x="609600" y="2819400"/>
            <a:ext cx="5095875"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EAF1F5"/>
                </a:solidFill>
                <a:latin typeface="Helvetica Neue"/>
                <a:ea typeface="Helvetica Neue"/>
                <a:cs typeface="Helvetica Neue"/>
              </a:defRPr>
            </a:pPr>
            <a:r>
              <a:rPr sz="2100" b="0">
                <a:solidFill>
                  <a:srgbClr val="EAF1F5"/>
                </a:solidFill>
                <a:latin typeface="Helvetica Neue"/>
                <a:ea typeface="Helvetica Neue"/>
                <a:cs typeface="Helvetica Neue"/>
              </a:rPr>
              <a:t>Reported by @anabology for an AI-directed video produced from a prompt, tools and a moodboard.</a:t>
            </a:r>
          </a:p>
        </p:txBody>
      </p:sp>
      <p:sp>
        <p:nvSpPr>
          <p:cNvPr id="5" name="">
            <a:extLst xmlns:a="http://schemas.openxmlformats.org/drawingml/2006/main">
              <a:ext uri="{FF2B5EF4-FFF2-40B4-BE49-F238E27FC236}">
                <a16:creationId xmlns:a16="http://schemas.microsoft.com/office/drawing/2014/main" id="{4644A0E6-8818-467B-A035-0538C48DFD41}"/>
              </a:ext>
            </a:extLst>
          </p:cNvPr>
          <p:cNvSpPr>
            <a:spLocks xmlns:a="http://schemas.openxmlformats.org/drawingml/2006/main" noGrp="1"/>
          </p:cNvSpPr>
          <p:nvPr/>
        </p:nvSpPr>
        <p:spPr>
          <a:xfrm xmlns:a="http://schemas.openxmlformats.org/drawingml/2006/main">
            <a:off x="6429375" y="1676400"/>
            <a:ext cx="5143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75" b="1">
                <a:solidFill>
                  <a:srgbClr val="56DBD0"/>
                </a:solidFill>
                <a:latin typeface="Helvetica Neue"/>
                <a:ea typeface="Helvetica Neue"/>
                <a:cs typeface="Helvetica Neue"/>
              </a:defRPr>
            </a:pPr>
            <a:r>
              <a:rPr sz="3975" b="1">
                <a:solidFill>
                  <a:srgbClr val="56DBD0"/>
                </a:solidFill>
                <a:latin typeface="Helvetica Neue"/>
                <a:ea typeface="Helvetica Neue"/>
                <a:cs typeface="Helvetica Neue"/>
              </a:rPr>
              <a:t>Minutes to hours</a:t>
            </a:r>
          </a:p>
        </p:txBody>
      </p:sp>
      <p:sp>
        <p:nvSpPr>
          <p:cNvPr id="6" name="">
            <a:extLst xmlns:a="http://schemas.openxmlformats.org/drawingml/2006/main">
              <a:ext uri="{FF2B5EF4-FFF2-40B4-BE49-F238E27FC236}">
                <a16:creationId xmlns:a16="http://schemas.microsoft.com/office/drawing/2014/main" id="{23300B5D-74BD-419E-8253-5804C99D8D15}"/>
              </a:ext>
            </a:extLst>
          </p:cNvPr>
          <p:cNvSpPr>
            <a:spLocks xmlns:a="http://schemas.openxmlformats.org/drawingml/2006/main" noGrp="1"/>
          </p:cNvSpPr>
          <p:nvPr/>
        </p:nvSpPr>
        <p:spPr>
          <a:xfrm xmlns:a="http://schemas.openxmlformats.org/drawingml/2006/main">
            <a:off x="6429375" y="2819400"/>
            <a:ext cx="5095875"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EAF1F5"/>
                </a:solidFill>
                <a:latin typeface="Helvetica Neue"/>
                <a:ea typeface="Helvetica Neue"/>
                <a:cs typeface="Helvetica Neue"/>
              </a:defRPr>
            </a:pPr>
            <a:r>
              <a:rPr sz="2100" b="0">
                <a:solidFill>
                  <a:srgbClr val="EAF1F5"/>
                </a:solidFill>
                <a:latin typeface="Helvetica Neue"/>
                <a:ea typeface="Helvetica Neue"/>
                <a:cs typeface="Helvetica Neue"/>
              </a:rPr>
              <a:t>Vantemio target: tens of minutes for simpler work and a few hours for more complex productions, depending on assets, hardware and rendering.</a:t>
            </a:r>
          </a:p>
        </p:txBody>
      </p:sp>
      <p:sp>
        <p:nvSpPr>
          <p:cNvPr id="7" name="">
            <a:extLst xmlns:a="http://schemas.openxmlformats.org/drawingml/2006/main">
              <a:ext uri="{FF2B5EF4-FFF2-40B4-BE49-F238E27FC236}">
                <a16:creationId xmlns:a16="http://schemas.microsoft.com/office/drawing/2014/main" id="{E9B7946E-9232-4641-BCB2-F7FAAF407D29}"/>
              </a:ext>
            </a:extLst>
          </p:cNvPr>
          <p:cNvSpPr>
            <a:spLocks xmlns:a="http://schemas.openxmlformats.org/drawingml/2006/main" noGrp="1"/>
          </p:cNvSpPr>
          <p:nvPr/>
        </p:nvSpPr>
        <p:spPr>
          <a:xfrm xmlns:a="http://schemas.openxmlformats.org/drawingml/2006/main">
            <a:off x="609600" y="4905375"/>
            <a:ext cx="1095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EAF1F5"/>
                </a:solidFill>
                <a:latin typeface="Helvetica Neue"/>
                <a:ea typeface="Helvetica Neue"/>
                <a:cs typeface="Helvetica Neue"/>
              </a:defRPr>
            </a:pPr>
            <a:r>
              <a:rPr sz="2175" b="1">
                <a:solidFill>
                  <a:srgbClr val="EAF1F5"/>
                </a:solidFill>
                <a:latin typeface="Helvetica Neue"/>
                <a:ea typeface="Helvetica Neue"/>
                <a:cs typeface="Helvetica Neue"/>
              </a:rPr>
              <a:t>Reduce manual prompting, repeated corrections and avoidable rework; measure graphics and final-render time separately.</a:t>
            </a:r>
          </a:p>
        </p:txBody>
      </p:sp>
      <p:sp>
        <p:nvSpPr>
          <p:cNvPr id="8" name="">
            <a:extLst xmlns:a="http://schemas.openxmlformats.org/drawingml/2006/main">
              <a:ext uri="{FF2B5EF4-FFF2-40B4-BE49-F238E27FC236}">
                <a16:creationId xmlns:a16="http://schemas.microsoft.com/office/drawing/2014/main" id="{B1913477-7AD6-424A-9E9A-C1D52AE6263E}"/>
              </a:ext>
            </a:extLst>
          </p:cNvPr>
          <p:cNvSpPr>
            <a:spLocks xmlns:a="http://schemas.openxmlformats.org/drawingml/2006/main" noGrp="1"/>
          </p:cNvSpPr>
          <p:nvPr/>
        </p:nvSpPr>
        <p:spPr>
          <a:xfrm xmlns:a="http://schemas.openxmlformats.org/drawingml/2006/main">
            <a:off x="609600" y="6000750"/>
            <a:ext cx="8382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61A3FF"/>
                </a:solidFill>
                <a:latin typeface="Helvetica Neue"/>
                <a:ea typeface="Helvetica Neue"/>
                <a:cs typeface="Helvetica Neue"/>
              </a:defRPr>
            </a:pPr>
            <a:r>
              <a:rPr sz="1650" b="0">
                <a:solidFill>
                  <a:srgbClr val="61A3FF"/>
                </a:solidFill>
                <a:latin typeface="Helvetica Neue"/>
                <a:ea typeface="Helvetica Neue"/>
                <a:cs typeface="Helvetica Neue"/>
                <a:hlinkClick xmlns:r="http://schemas.openxmlformats.org/officeDocument/2006/relationships" r:id="R93331c2db1e7403b"/>
              </a:rPr>
              <a:t>Reference: @anabology’s production example</a:t>
            </a:r>
          </a:p>
        </p:txBody>
      </p:sp>
    </p:spTree>
    <p:extLst>
      <p:ext uri="{BB962C8B-B14F-4D97-AF65-F5344CB8AC3E}">
        <p14:creationId xmlns:p14="http://schemas.microsoft.com/office/powerpoint/2010/main" val="1770357846"/>
      </p:ext>
    </p:extLst>
  </p:cSld>
</p:sld>
</file>

<file path=ppt/slides/slide5.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5880F3E-126F-4BD5-AD92-FD2091F4756D}"/>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EAF1F5"/>
                </a:solidFill>
                <a:latin typeface="Helvetica Neue"/>
                <a:ea typeface="Helvetica Neue"/>
                <a:cs typeface="Helvetica Neue"/>
              </a:defRPr>
            </a:pPr>
            <a:r>
              <a:rPr sz="3300" b="1">
                <a:solidFill>
                  <a:srgbClr val="EAF1F5"/>
                </a:solidFill>
                <a:latin typeface="Helvetica Neue"/>
                <a:ea typeface="Helvetica Neue"/>
                <a:cs typeface="Helvetica Neue"/>
              </a:rPr>
              <a:t>How production time should decrease</a:t>
            </a:r>
          </a:p>
        </p:txBody>
      </p:sp>
      <p:sp>
        <p:nvSpPr>
          <p:cNvPr id="2" name="">
            <a:extLst xmlns:a="http://schemas.openxmlformats.org/drawingml/2006/main">
              <a:ext uri="{FF2B5EF4-FFF2-40B4-BE49-F238E27FC236}">
                <a16:creationId xmlns:a16="http://schemas.microsoft.com/office/drawing/2014/main" id="{A125F12B-1E98-4E11-B51F-92AF45FABD3A}"/>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A9BDC9"/>
                </a:solidFill>
                <a:latin typeface="Helvetica Neue"/>
                <a:ea typeface="Helvetica Neue"/>
                <a:cs typeface="Helvetica Neue"/>
              </a:defRPr>
            </a:pPr>
            <a:r>
              <a:rPr sz="1200" b="0">
                <a:solidFill>
                  <a:srgbClr val="A9BDC9"/>
                </a:solidFill>
                <a:latin typeface="Helvetica Neue"/>
                <a:ea typeface="Helvetica Neue"/>
                <a:cs typeface="Helvetica Neue"/>
              </a:rPr>
              <a:t>05</a:t>
            </a:r>
          </a:p>
        </p:txBody>
      </p:sp>
      <p:sp>
        <p:nvSpPr>
          <p:cNvPr id="3" name="">
            <a:extLst xmlns:a="http://schemas.openxmlformats.org/drawingml/2006/main">
              <a:ext uri="{FF2B5EF4-FFF2-40B4-BE49-F238E27FC236}">
                <a16:creationId xmlns:a16="http://schemas.microsoft.com/office/drawing/2014/main" id="{86C5949B-70B8-4BE3-A5D7-2AAC6610C40F}"/>
              </a:ext>
            </a:extLst>
          </p:cNvPr>
          <p:cNvSpPr>
            <a:spLocks xmlns:a="http://schemas.openxmlformats.org/drawingml/2006/main" noGrp="1"/>
          </p:cNvSpPr>
          <p:nvPr/>
        </p:nvSpPr>
        <p:spPr>
          <a:xfrm xmlns:a="http://schemas.openxmlformats.org/drawingml/2006/main">
            <a:off x="609600" y="171450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Plan before execution</a:t>
            </a:r>
          </a:p>
        </p:txBody>
      </p:sp>
      <p:sp>
        <p:nvSpPr>
          <p:cNvPr id="4" name="">
            <a:extLst xmlns:a="http://schemas.openxmlformats.org/drawingml/2006/main">
              <a:ext uri="{FF2B5EF4-FFF2-40B4-BE49-F238E27FC236}">
                <a16:creationId xmlns:a16="http://schemas.microsoft.com/office/drawing/2014/main" id="{29F245E2-6851-4F09-8FED-EBFC436B73D4}"/>
              </a:ext>
            </a:extLst>
          </p:cNvPr>
          <p:cNvSpPr>
            <a:spLocks xmlns:a="http://schemas.openxmlformats.org/drawingml/2006/main" noGrp="1"/>
          </p:cNvSpPr>
          <p:nvPr/>
        </p:nvSpPr>
        <p:spPr>
          <a:xfrm xmlns:a="http://schemas.openxmlformats.org/drawingml/2006/main">
            <a:off x="609600" y="2209800"/>
            <a:ext cx="5191125"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EAF1F5"/>
                </a:solidFill>
                <a:latin typeface="Helvetica Neue"/>
                <a:ea typeface="Helvetica Neue"/>
                <a:cs typeface="Helvetica Neue"/>
              </a:defRPr>
            </a:pPr>
            <a:r>
              <a:rPr sz="2100" b="0">
                <a:solidFill>
                  <a:srgbClr val="EAF1F5"/>
                </a:solidFill>
                <a:latin typeface="Helvetica Neue"/>
                <a:ea typeface="Helvetica Neue"/>
                <a:cs typeface="Helvetica Neue"/>
              </a:rPr>
              <a:t>Use structured scene and sound plans so downstream tasks receive consistent requirements and asset identities.</a:t>
            </a:r>
          </a:p>
        </p:txBody>
      </p:sp>
      <p:sp>
        <p:nvSpPr>
          <p:cNvPr id="5" name="">
            <a:extLst xmlns:a="http://schemas.openxmlformats.org/drawingml/2006/main">
              <a:ext uri="{FF2B5EF4-FFF2-40B4-BE49-F238E27FC236}">
                <a16:creationId xmlns:a16="http://schemas.microsoft.com/office/drawing/2014/main" id="{83DFE81D-7475-43B8-9B43-A2BC13973D27}"/>
              </a:ext>
            </a:extLst>
          </p:cNvPr>
          <p:cNvSpPr>
            <a:spLocks xmlns:a="http://schemas.openxmlformats.org/drawingml/2006/main" noGrp="1"/>
          </p:cNvSpPr>
          <p:nvPr/>
        </p:nvSpPr>
        <p:spPr>
          <a:xfrm xmlns:a="http://schemas.openxmlformats.org/drawingml/2006/main">
            <a:off x="6429375" y="171450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Repair only failed work</a:t>
            </a:r>
          </a:p>
        </p:txBody>
      </p:sp>
      <p:sp>
        <p:nvSpPr>
          <p:cNvPr id="6" name="">
            <a:extLst xmlns:a="http://schemas.openxmlformats.org/drawingml/2006/main">
              <a:ext uri="{FF2B5EF4-FFF2-40B4-BE49-F238E27FC236}">
                <a16:creationId xmlns:a16="http://schemas.microsoft.com/office/drawing/2014/main" id="{51D7D155-1C9F-4EDF-B2C1-4547E56D58BA}"/>
              </a:ext>
            </a:extLst>
          </p:cNvPr>
          <p:cNvSpPr>
            <a:spLocks xmlns:a="http://schemas.openxmlformats.org/drawingml/2006/main" noGrp="1"/>
          </p:cNvSpPr>
          <p:nvPr/>
        </p:nvSpPr>
        <p:spPr>
          <a:xfrm xmlns:a="http://schemas.openxmlformats.org/drawingml/2006/main">
            <a:off x="6429375" y="2209800"/>
            <a:ext cx="5191125"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EAF1F5"/>
                </a:solidFill>
                <a:latin typeface="Helvetica Neue"/>
                <a:ea typeface="Helvetica Neue"/>
                <a:cs typeface="Helvetica Neue"/>
              </a:defRPr>
            </a:pPr>
            <a:r>
              <a:rPr sz="2100" b="0">
                <a:solidFill>
                  <a:srgbClr val="EAF1F5"/>
                </a:solidFill>
                <a:latin typeface="Helvetica Neue"/>
                <a:ea typeface="Helvetica Neue"/>
                <a:cs typeface="Helvetica Neue"/>
              </a:rPr>
              <a:t>Validate each stage, preserve accepted results and generate targeted corrections instead of repeating a whole production.</a:t>
            </a:r>
          </a:p>
        </p:txBody>
      </p:sp>
      <p:sp>
        <p:nvSpPr>
          <p:cNvPr id="7" name="">
            <a:extLst xmlns:a="http://schemas.openxmlformats.org/drawingml/2006/main">
              <a:ext uri="{FF2B5EF4-FFF2-40B4-BE49-F238E27FC236}">
                <a16:creationId xmlns:a16="http://schemas.microsoft.com/office/drawing/2014/main" id="{66549E96-7D62-4D33-A43A-BD9EE8060B57}"/>
              </a:ext>
            </a:extLst>
          </p:cNvPr>
          <p:cNvSpPr>
            <a:spLocks xmlns:a="http://schemas.openxmlformats.org/drawingml/2006/main" noGrp="1"/>
          </p:cNvSpPr>
          <p:nvPr/>
        </p:nvSpPr>
        <p:spPr>
          <a:xfrm xmlns:a="http://schemas.openxmlformats.org/drawingml/2006/main">
            <a:off x="609600" y="390525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Use available machines</a:t>
            </a:r>
          </a:p>
        </p:txBody>
      </p:sp>
      <p:sp>
        <p:nvSpPr>
          <p:cNvPr id="8" name="">
            <a:extLst xmlns:a="http://schemas.openxmlformats.org/drawingml/2006/main">
              <a:ext uri="{FF2B5EF4-FFF2-40B4-BE49-F238E27FC236}">
                <a16:creationId xmlns:a16="http://schemas.microsoft.com/office/drawing/2014/main" id="{72612DE9-4C80-4FA7-B5A5-B13BEFEB8216}"/>
              </a:ext>
            </a:extLst>
          </p:cNvPr>
          <p:cNvSpPr>
            <a:spLocks xmlns:a="http://schemas.openxmlformats.org/drawingml/2006/main" noGrp="1"/>
          </p:cNvSpPr>
          <p:nvPr/>
        </p:nvSpPr>
        <p:spPr>
          <a:xfrm xmlns:a="http://schemas.openxmlformats.org/drawingml/2006/main">
            <a:off x="609600" y="4400550"/>
            <a:ext cx="5191125"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EAF1F5"/>
                </a:solidFill>
                <a:latin typeface="Helvetica Neue"/>
                <a:ea typeface="Helvetica Neue"/>
                <a:cs typeface="Helvetica Neue"/>
              </a:defRPr>
            </a:pPr>
            <a:r>
              <a:rPr sz="2025" b="0">
                <a:solidFill>
                  <a:srgbClr val="EAF1F5"/>
                </a:solidFill>
                <a:latin typeface="Helvetica Neue"/>
                <a:ea typeface="Helvetica Neue"/>
                <a:cs typeface="Helvetica Neue"/>
              </a:rPr>
              <a:t>Distribute independent admitted jobs and graphics work across bounded workers under Station control.</a:t>
            </a:r>
          </a:p>
        </p:txBody>
      </p:sp>
      <p:sp>
        <p:nvSpPr>
          <p:cNvPr id="9" name="">
            <a:extLst xmlns:a="http://schemas.openxmlformats.org/drawingml/2006/main">
              <a:ext uri="{FF2B5EF4-FFF2-40B4-BE49-F238E27FC236}">
                <a16:creationId xmlns:a16="http://schemas.microsoft.com/office/drawing/2014/main" id="{DCC9FF07-3A27-4B1A-90C9-98E6CDEB6AC9}"/>
              </a:ext>
            </a:extLst>
          </p:cNvPr>
          <p:cNvSpPr>
            <a:spLocks xmlns:a="http://schemas.openxmlformats.org/drawingml/2006/main" noGrp="1"/>
          </p:cNvSpPr>
          <p:nvPr/>
        </p:nvSpPr>
        <p:spPr>
          <a:xfrm xmlns:a="http://schemas.openxmlformats.org/drawingml/2006/main">
            <a:off x="6429375" y="390525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Benchmark the complete job</a:t>
            </a:r>
          </a:p>
        </p:txBody>
      </p:sp>
      <p:sp>
        <p:nvSpPr>
          <p:cNvPr id="10" name="">
            <a:extLst xmlns:a="http://schemas.openxmlformats.org/drawingml/2006/main">
              <a:ext uri="{FF2B5EF4-FFF2-40B4-BE49-F238E27FC236}">
                <a16:creationId xmlns:a16="http://schemas.microsoft.com/office/drawing/2014/main" id="{4CAB1F93-FBE6-47C8-800C-B97F575DAB45}"/>
              </a:ext>
            </a:extLst>
          </p:cNvPr>
          <p:cNvSpPr>
            <a:spLocks xmlns:a="http://schemas.openxmlformats.org/drawingml/2006/main" noGrp="1"/>
          </p:cNvSpPr>
          <p:nvPr/>
        </p:nvSpPr>
        <p:spPr>
          <a:xfrm xmlns:a="http://schemas.openxmlformats.org/drawingml/2006/main">
            <a:off x="6429375" y="4400550"/>
            <a:ext cx="5191125"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EAF1F5"/>
                </a:solidFill>
                <a:latin typeface="Helvetica Neue"/>
                <a:ea typeface="Helvetica Neue"/>
                <a:cs typeface="Helvetica Neue"/>
              </a:defRPr>
            </a:pPr>
            <a:r>
              <a:rPr sz="2025" b="0">
                <a:solidFill>
                  <a:srgbClr val="EAF1F5"/>
                </a:solidFill>
                <a:latin typeface="Helvetica Neue"/>
                <a:ea typeface="Helvetica Neue"/>
                <a:cs typeface="Helvetica Neue"/>
              </a:rPr>
              <a:t>Track elapsed time, render time, cost, output quality and human interventions on equivalent briefs.</a:t>
            </a:r>
          </a:p>
        </p:txBody>
      </p:sp>
    </p:spTree>
    <p:extLst>
      <p:ext uri="{BB962C8B-B14F-4D97-AF65-F5344CB8AC3E}">
        <p14:creationId xmlns:p14="http://schemas.microsoft.com/office/powerpoint/2010/main" val="1197050903"/>
      </p:ext>
    </p:extLst>
  </p:cSld>
</p:sld>
</file>

<file path=ppt/slides/slide6.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2B42322E-3C3E-471D-B461-3E66A5845533}"/>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EAF1F5"/>
                </a:solidFill>
                <a:latin typeface="Helvetica Neue"/>
                <a:ea typeface="Helvetica Neue"/>
                <a:cs typeface="Helvetica Neue"/>
              </a:defRPr>
            </a:pPr>
            <a:r>
              <a:rPr sz="3300" b="1">
                <a:solidFill>
                  <a:srgbClr val="EAF1F5"/>
                </a:solidFill>
                <a:latin typeface="Helvetica Neue"/>
                <a:ea typeface="Helvetica Neue"/>
                <a:cs typeface="Helvetica Neue"/>
              </a:rPr>
              <a:t>The intended end-to-end service cycle</a:t>
            </a:r>
          </a:p>
        </p:txBody>
      </p:sp>
      <p:sp>
        <p:nvSpPr>
          <p:cNvPr id="2" name="">
            <a:extLst xmlns:a="http://schemas.openxmlformats.org/drawingml/2006/main">
              <a:ext uri="{FF2B5EF4-FFF2-40B4-BE49-F238E27FC236}">
                <a16:creationId xmlns:a16="http://schemas.microsoft.com/office/drawing/2014/main" id="{5EEA8556-0A05-4E6A-A2F9-9027A89302AA}"/>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A9BDC9"/>
                </a:solidFill>
                <a:latin typeface="Helvetica Neue"/>
                <a:ea typeface="Helvetica Neue"/>
                <a:cs typeface="Helvetica Neue"/>
              </a:defRPr>
            </a:pPr>
            <a:r>
              <a:rPr sz="1200" b="0">
                <a:solidFill>
                  <a:srgbClr val="A9BDC9"/>
                </a:solidFill>
                <a:latin typeface="Helvetica Neue"/>
                <a:ea typeface="Helvetica Neue"/>
                <a:cs typeface="Helvetica Neue"/>
              </a:rPr>
              <a:t>06</a:t>
            </a:r>
          </a:p>
        </p:txBody>
      </p:sp>
      <p:sp>
        <p:nvSpPr>
          <p:cNvPr id="3" name="">
            <a:extLst xmlns:a="http://schemas.openxmlformats.org/drawingml/2006/main">
              <a:ext uri="{FF2B5EF4-FFF2-40B4-BE49-F238E27FC236}">
                <a16:creationId xmlns:a16="http://schemas.microsoft.com/office/drawing/2014/main" id="{6F993CAF-1442-4881-BBC3-42BE75735950}"/>
              </a:ext>
            </a:extLst>
          </p:cNvPr>
          <p:cNvSpPr>
            <a:spLocks xmlns:a="http://schemas.openxmlformats.org/drawingml/2006/main" noGrp="1"/>
          </p:cNvSpPr>
          <p:nvPr/>
        </p:nvSpPr>
        <p:spPr>
          <a:xfrm xmlns:a="http://schemas.openxmlformats.org/drawingml/2006/main">
            <a:off x="609600" y="1885950"/>
            <a:ext cx="3314700" cy="1047750"/>
          </a:xfrm>
          <a:prstGeom xmlns:a="http://schemas.openxmlformats.org/drawingml/2006/main" prst="rect">
            <a:avLst/>
          </a:prstGeom>
          <a:solidFill xmlns:a="http://schemas.openxmlformats.org/drawingml/2006/main">
            <a:srgbClr val="102C3C"/>
          </a:solidFill>
          <a:ln xmlns:a="http://schemas.openxmlformats.org/drawingml/2006/main" w="11430">
            <a:solidFill>
              <a:srgbClr val="397785"/>
            </a:solidFill>
          </a:ln>
        </p:spPr>
        <p:txBody>
          <a:bodyPr xmlns:a="http://schemas.openxmlformats.org/drawingml/2006/main" lIns="114300" tIns="114300" rIns="114300" bIns="114300" anchor="ctr">
            <a:noAutofit/>
          </a:bodyPr>
          <a:lstStyle xmlns:a="http://schemas.openxmlformats.org/drawingml/2006/main"/>
          <a:p xmlns:a="http://schemas.openxmlformats.org/drawingml/2006/main">
            <a:pPr algn="ctr">
              <a:defRPr sz="1875" b="1">
                <a:solidFill>
                  <a:srgbClr val="EAF1F5"/>
                </a:solidFill>
                <a:latin typeface="Helvetica Neue"/>
                <a:ea typeface="Helvetica Neue"/>
                <a:cs typeface="Helvetica Neue"/>
              </a:defRPr>
            </a:pPr>
            <a:r>
              <a:rPr sz="1875" b="1">
                <a:solidFill>
                  <a:srgbClr val="EAF1F5"/>
                </a:solidFill>
                <a:latin typeface="Helvetica Neue"/>
                <a:ea typeface="Helvetica Neue"/>
                <a:cs typeface="Helvetica Neue"/>
              </a:rPr>
              <a:t>Idea or order</a:t>
            </a:r>
          </a:p>
        </p:txBody>
      </p:sp>
      <p:sp>
        <p:nvSpPr>
          <p:cNvPr id="4" name="">
            <a:extLst xmlns:a="http://schemas.openxmlformats.org/drawingml/2006/main">
              <a:ext uri="{FF2B5EF4-FFF2-40B4-BE49-F238E27FC236}">
                <a16:creationId xmlns:a16="http://schemas.microsoft.com/office/drawing/2014/main" id="{B2685C4B-E307-4EEB-8767-7B0F8CB29869}"/>
              </a:ext>
            </a:extLst>
          </p:cNvPr>
          <p:cNvSpPr>
            <a:spLocks xmlns:a="http://schemas.openxmlformats.org/drawingml/2006/main" noGrp="1"/>
          </p:cNvSpPr>
          <p:nvPr/>
        </p:nvSpPr>
        <p:spPr>
          <a:xfrm xmlns:a="http://schemas.openxmlformats.org/drawingml/2006/main">
            <a:off x="4438650" y="1885950"/>
            <a:ext cx="3314700" cy="1047750"/>
          </a:xfrm>
          <a:prstGeom xmlns:a="http://schemas.openxmlformats.org/drawingml/2006/main" prst="rect">
            <a:avLst/>
          </a:prstGeom>
          <a:solidFill xmlns:a="http://schemas.openxmlformats.org/drawingml/2006/main">
            <a:srgbClr val="102C3C"/>
          </a:solidFill>
          <a:ln xmlns:a="http://schemas.openxmlformats.org/drawingml/2006/main" w="11430">
            <a:solidFill>
              <a:srgbClr val="397785"/>
            </a:solidFill>
          </a:ln>
        </p:spPr>
        <p:txBody>
          <a:bodyPr xmlns:a="http://schemas.openxmlformats.org/drawingml/2006/main" lIns="114300" tIns="114300" rIns="114300" bIns="114300" anchor="ctr">
            <a:noAutofit/>
          </a:bodyPr>
          <a:lstStyle xmlns:a="http://schemas.openxmlformats.org/drawingml/2006/main"/>
          <a:p xmlns:a="http://schemas.openxmlformats.org/drawingml/2006/main">
            <a:pPr algn="ctr">
              <a:defRPr sz="1875" b="1">
                <a:solidFill>
                  <a:srgbClr val="EAF1F5"/>
                </a:solidFill>
                <a:latin typeface="Helvetica Neue"/>
                <a:ea typeface="Helvetica Neue"/>
                <a:cs typeface="Helvetica Neue"/>
              </a:defRPr>
            </a:pPr>
            <a:r>
              <a:rPr sz="1875" b="1">
                <a:solidFill>
                  <a:srgbClr val="EAF1F5"/>
                </a:solidFill>
                <a:latin typeface="Helvetica Neue"/>
                <a:ea typeface="Helvetica Neue"/>
                <a:cs typeface="Helvetica Neue"/>
              </a:rPr>
              <a:t>Research and plan</a:t>
            </a:r>
          </a:p>
        </p:txBody>
      </p:sp>
      <p:sp>
        <p:nvSpPr>
          <p:cNvPr id="5" name="">
            <a:extLst xmlns:a="http://schemas.openxmlformats.org/drawingml/2006/main">
              <a:ext uri="{FF2B5EF4-FFF2-40B4-BE49-F238E27FC236}">
                <a16:creationId xmlns:a16="http://schemas.microsoft.com/office/drawing/2014/main" id="{29337DA6-7987-41B4-822A-D5F9D6D6D3DF}"/>
              </a:ext>
            </a:extLst>
          </p:cNvPr>
          <p:cNvSpPr>
            <a:spLocks xmlns:a="http://schemas.openxmlformats.org/drawingml/2006/main" noGrp="1"/>
          </p:cNvSpPr>
          <p:nvPr/>
        </p:nvSpPr>
        <p:spPr>
          <a:xfrm xmlns:a="http://schemas.openxmlformats.org/drawingml/2006/main">
            <a:off x="8267700" y="1885950"/>
            <a:ext cx="3314700" cy="1047750"/>
          </a:xfrm>
          <a:prstGeom xmlns:a="http://schemas.openxmlformats.org/drawingml/2006/main" prst="rect">
            <a:avLst/>
          </a:prstGeom>
          <a:solidFill xmlns:a="http://schemas.openxmlformats.org/drawingml/2006/main">
            <a:srgbClr val="102C3C"/>
          </a:solidFill>
          <a:ln xmlns:a="http://schemas.openxmlformats.org/drawingml/2006/main" w="11430">
            <a:solidFill>
              <a:srgbClr val="397785"/>
            </a:solidFill>
          </a:ln>
        </p:spPr>
        <p:txBody>
          <a:bodyPr xmlns:a="http://schemas.openxmlformats.org/drawingml/2006/main" lIns="114300" tIns="114300" rIns="114300" bIns="114300" anchor="ctr">
            <a:noAutofit/>
          </a:bodyPr>
          <a:lstStyle xmlns:a="http://schemas.openxmlformats.org/drawingml/2006/main"/>
          <a:p xmlns:a="http://schemas.openxmlformats.org/drawingml/2006/main">
            <a:pPr algn="ctr">
              <a:defRPr sz="1875" b="1">
                <a:solidFill>
                  <a:srgbClr val="EAF1F5"/>
                </a:solidFill>
                <a:latin typeface="Helvetica Neue"/>
                <a:ea typeface="Helvetica Neue"/>
                <a:cs typeface="Helvetica Neue"/>
              </a:defRPr>
            </a:pPr>
            <a:r>
              <a:rPr sz="1875" b="1">
                <a:solidFill>
                  <a:srgbClr val="EAF1F5"/>
                </a:solidFill>
                <a:latin typeface="Helvetica Neue"/>
                <a:ea typeface="Helvetica Neue"/>
                <a:cs typeface="Helvetica Neue"/>
              </a:rPr>
              <a:t>Create and execute</a:t>
            </a:r>
          </a:p>
        </p:txBody>
      </p:sp>
      <p:sp>
        <p:nvSpPr>
          <p:cNvPr id="6" name="">
            <a:extLst xmlns:a="http://schemas.openxmlformats.org/drawingml/2006/main">
              <a:ext uri="{FF2B5EF4-FFF2-40B4-BE49-F238E27FC236}">
                <a16:creationId xmlns:a16="http://schemas.microsoft.com/office/drawing/2014/main" id="{27229BD2-F53B-455A-8DB2-A8F5BAADBD90}"/>
              </a:ext>
            </a:extLst>
          </p:cNvPr>
          <p:cNvSpPr>
            <a:spLocks xmlns:a="http://schemas.openxmlformats.org/drawingml/2006/main" noGrp="1"/>
          </p:cNvSpPr>
          <p:nvPr/>
        </p:nvSpPr>
        <p:spPr>
          <a:xfrm xmlns:a="http://schemas.openxmlformats.org/drawingml/2006/main">
            <a:off x="8267700" y="3857625"/>
            <a:ext cx="3314700" cy="1047750"/>
          </a:xfrm>
          <a:prstGeom xmlns:a="http://schemas.openxmlformats.org/drawingml/2006/main" prst="rect">
            <a:avLst/>
          </a:prstGeom>
          <a:solidFill xmlns:a="http://schemas.openxmlformats.org/drawingml/2006/main">
            <a:srgbClr val="102C3C"/>
          </a:solidFill>
          <a:ln xmlns:a="http://schemas.openxmlformats.org/drawingml/2006/main" w="11430">
            <a:solidFill>
              <a:srgbClr val="397785"/>
            </a:solidFill>
          </a:ln>
        </p:spPr>
        <p:txBody>
          <a:bodyPr xmlns:a="http://schemas.openxmlformats.org/drawingml/2006/main" lIns="114300" tIns="114300" rIns="114300" bIns="114300" anchor="ctr">
            <a:noAutofit/>
          </a:bodyPr>
          <a:lstStyle xmlns:a="http://schemas.openxmlformats.org/drawingml/2006/main"/>
          <a:p xmlns:a="http://schemas.openxmlformats.org/drawingml/2006/main">
            <a:pPr algn="ctr">
              <a:defRPr sz="1875" b="1">
                <a:solidFill>
                  <a:srgbClr val="EAF1F5"/>
                </a:solidFill>
                <a:latin typeface="Helvetica Neue"/>
                <a:ea typeface="Helvetica Neue"/>
                <a:cs typeface="Helvetica Neue"/>
              </a:defRPr>
            </a:pPr>
            <a:r>
              <a:rPr sz="1875" b="1">
                <a:solidFill>
                  <a:srgbClr val="EAF1F5"/>
                </a:solidFill>
                <a:latin typeface="Helvetica Neue"/>
                <a:ea typeface="Helvetica Neue"/>
                <a:cs typeface="Helvetica Neue"/>
              </a:rPr>
              <a:t>Validate results</a:t>
            </a:r>
          </a:p>
        </p:txBody>
      </p:sp>
      <p:sp>
        <p:nvSpPr>
          <p:cNvPr id="7" name="">
            <a:extLst xmlns:a="http://schemas.openxmlformats.org/drawingml/2006/main">
              <a:ext uri="{FF2B5EF4-FFF2-40B4-BE49-F238E27FC236}">
                <a16:creationId xmlns:a16="http://schemas.microsoft.com/office/drawing/2014/main" id="{C809FB09-9D8B-450E-BA3B-B1841F5B7496}"/>
              </a:ext>
            </a:extLst>
          </p:cNvPr>
          <p:cNvSpPr>
            <a:spLocks xmlns:a="http://schemas.openxmlformats.org/drawingml/2006/main" noGrp="1"/>
          </p:cNvSpPr>
          <p:nvPr/>
        </p:nvSpPr>
        <p:spPr>
          <a:xfrm xmlns:a="http://schemas.openxmlformats.org/drawingml/2006/main">
            <a:off x="4438650" y="3857625"/>
            <a:ext cx="3314700" cy="1047750"/>
          </a:xfrm>
          <a:prstGeom xmlns:a="http://schemas.openxmlformats.org/drawingml/2006/main" prst="rect">
            <a:avLst/>
          </a:prstGeom>
          <a:solidFill xmlns:a="http://schemas.openxmlformats.org/drawingml/2006/main">
            <a:srgbClr val="102C3C"/>
          </a:solidFill>
          <a:ln xmlns:a="http://schemas.openxmlformats.org/drawingml/2006/main" w="11430">
            <a:solidFill>
              <a:srgbClr val="397785"/>
            </a:solidFill>
          </a:ln>
        </p:spPr>
        <p:txBody>
          <a:bodyPr xmlns:a="http://schemas.openxmlformats.org/drawingml/2006/main" lIns="114300" tIns="114300" rIns="114300" bIns="114300" anchor="ctr">
            <a:noAutofit/>
          </a:bodyPr>
          <a:lstStyle xmlns:a="http://schemas.openxmlformats.org/drawingml/2006/main"/>
          <a:p xmlns:a="http://schemas.openxmlformats.org/drawingml/2006/main">
            <a:pPr algn="ctr">
              <a:defRPr sz="1875" b="1">
                <a:solidFill>
                  <a:srgbClr val="EAF1F5"/>
                </a:solidFill>
                <a:latin typeface="Helvetica Neue"/>
                <a:ea typeface="Helvetica Neue"/>
                <a:cs typeface="Helvetica Neue"/>
              </a:defRPr>
            </a:pPr>
            <a:r>
              <a:rPr sz="1875" b="1">
                <a:solidFill>
                  <a:srgbClr val="EAF1F5"/>
                </a:solidFill>
                <a:latin typeface="Helvetica Neue"/>
                <a:ea typeface="Helvetica Neue"/>
                <a:cs typeface="Helvetica Neue"/>
              </a:rPr>
              <a:t>Publish or deliver</a:t>
            </a:r>
          </a:p>
        </p:txBody>
      </p:sp>
      <p:sp>
        <p:nvSpPr>
          <p:cNvPr id="8" name="">
            <a:extLst xmlns:a="http://schemas.openxmlformats.org/drawingml/2006/main">
              <a:ext uri="{FF2B5EF4-FFF2-40B4-BE49-F238E27FC236}">
                <a16:creationId xmlns:a16="http://schemas.microsoft.com/office/drawing/2014/main" id="{1182ADB0-1F29-4369-AD25-6CFFE3605ACF}"/>
              </a:ext>
            </a:extLst>
          </p:cNvPr>
          <p:cNvSpPr>
            <a:spLocks xmlns:a="http://schemas.openxmlformats.org/drawingml/2006/main" noGrp="1"/>
          </p:cNvSpPr>
          <p:nvPr/>
        </p:nvSpPr>
        <p:spPr>
          <a:xfrm xmlns:a="http://schemas.openxmlformats.org/drawingml/2006/main">
            <a:off x="609600" y="3857625"/>
            <a:ext cx="3314700" cy="1047750"/>
          </a:xfrm>
          <a:prstGeom xmlns:a="http://schemas.openxmlformats.org/drawingml/2006/main" prst="rect">
            <a:avLst/>
          </a:prstGeom>
          <a:solidFill xmlns:a="http://schemas.openxmlformats.org/drawingml/2006/main">
            <a:srgbClr val="102C3C"/>
          </a:solidFill>
          <a:ln xmlns:a="http://schemas.openxmlformats.org/drawingml/2006/main" w="11430">
            <a:solidFill>
              <a:srgbClr val="397785"/>
            </a:solidFill>
          </a:ln>
        </p:spPr>
        <p:txBody>
          <a:bodyPr xmlns:a="http://schemas.openxmlformats.org/drawingml/2006/main" lIns="114300" tIns="114300" rIns="114300" bIns="114300" anchor="ctr">
            <a:noAutofit/>
          </a:bodyPr>
          <a:lstStyle xmlns:a="http://schemas.openxmlformats.org/drawingml/2006/main"/>
          <a:p xmlns:a="http://schemas.openxmlformats.org/drawingml/2006/main">
            <a:pPr algn="ctr">
              <a:defRPr sz="1875" b="1">
                <a:solidFill>
                  <a:srgbClr val="EAF1F5"/>
                </a:solidFill>
                <a:latin typeface="Helvetica Neue"/>
                <a:ea typeface="Helvetica Neue"/>
                <a:cs typeface="Helvetica Neue"/>
              </a:defRPr>
            </a:pPr>
            <a:r>
              <a:rPr sz="1875" b="1">
                <a:solidFill>
                  <a:srgbClr val="EAF1F5"/>
                </a:solidFill>
                <a:latin typeface="Helvetica Neue"/>
                <a:ea typeface="Helvetica Neue"/>
                <a:cs typeface="Helvetica Neue"/>
              </a:rPr>
              <a:t>Learn from outcomes</a:t>
            </a:r>
          </a:p>
        </p:txBody>
      </p:sp>
      <p:cxnSp>
        <p:nvCxnSpPr>
          <p:cNvPr id="24" name=""/>
          <p:cNvCxnSpPr>
            <a:stCxn xmlns:a="http://schemas.openxmlformats.org/drawingml/2006/main" id="3" idx="3"/>
            <a:endCxn xmlns:a="http://schemas.openxmlformats.org/drawingml/2006/main" id="4" idx="1"/>
          </p:cNvCxnSpPr>
          <p:nvPr/>
        </p:nvCxnSpPr>
        <p:spPr>
          <a:xfrm xmlns:a="http://schemas.openxmlformats.org/drawingml/2006/main">
            <a:off x="3924300" y="2409825"/>
            <a:ext cx="514350" cy="0"/>
          </a:xfrm>
          <a:prstGeom xmlns:a="http://schemas.openxmlformats.org/drawingml/2006/main" prst="straightConnector1">
            <a:avLst/>
          </a:prstGeom>
          <a:ln xmlns:a="http://schemas.openxmlformats.org/drawingml/2006/main" w="23813">
            <a:solidFill>
              <a:srgbClr val="56DBD0"/>
            </a:solidFill>
            <a:tailEnd type="arrow" w="med" len="med"/>
          </a:ln>
        </p:spPr>
      </p:cxnSp>
      <p:cxnSp>
        <p:nvCxnSpPr>
          <p:cNvPr id="25" name=""/>
          <p:cNvCxnSpPr>
            <a:stCxn xmlns:a="http://schemas.openxmlformats.org/drawingml/2006/main" id="4" idx="3"/>
            <a:endCxn xmlns:a="http://schemas.openxmlformats.org/drawingml/2006/main" id="5" idx="1"/>
          </p:cNvCxnSpPr>
          <p:nvPr/>
        </p:nvCxnSpPr>
        <p:spPr>
          <a:xfrm xmlns:a="http://schemas.openxmlformats.org/drawingml/2006/main">
            <a:off x="7753350" y="2409825"/>
            <a:ext cx="514350" cy="0"/>
          </a:xfrm>
          <a:prstGeom xmlns:a="http://schemas.openxmlformats.org/drawingml/2006/main" prst="straightConnector1">
            <a:avLst/>
          </a:prstGeom>
          <a:ln xmlns:a="http://schemas.openxmlformats.org/drawingml/2006/main" w="23813">
            <a:solidFill>
              <a:srgbClr val="56DBD0"/>
            </a:solidFill>
            <a:tailEnd type="arrow" w="med" len="med"/>
          </a:ln>
        </p:spPr>
      </p:cxnSp>
      <p:cxnSp>
        <p:nvCxnSpPr>
          <p:cNvPr id="26" name=""/>
          <p:cNvCxnSpPr>
            <a:stCxn xmlns:a="http://schemas.openxmlformats.org/drawingml/2006/main" id="5" idx="2"/>
            <a:endCxn xmlns:a="http://schemas.openxmlformats.org/drawingml/2006/main" id="6" idx="0"/>
          </p:cNvCxnSpPr>
          <p:nvPr/>
        </p:nvCxnSpPr>
        <p:spPr>
          <a:xfrm xmlns:a="http://schemas.openxmlformats.org/drawingml/2006/main">
            <a:off x="9925050" y="2933700"/>
            <a:ext cx="0" cy="923925"/>
          </a:xfrm>
          <a:prstGeom xmlns:a="http://schemas.openxmlformats.org/drawingml/2006/main" prst="straightConnector1">
            <a:avLst/>
          </a:prstGeom>
          <a:ln xmlns:a="http://schemas.openxmlformats.org/drawingml/2006/main" w="23813">
            <a:solidFill>
              <a:srgbClr val="56DBD0"/>
            </a:solidFill>
            <a:tailEnd type="arrow" w="med" len="med"/>
          </a:ln>
        </p:spPr>
      </p:cxnSp>
      <p:cxnSp>
        <p:nvCxnSpPr>
          <p:cNvPr id="27" name=""/>
          <p:cNvCxnSpPr>
            <a:stCxn xmlns:a="http://schemas.openxmlformats.org/drawingml/2006/main" id="6" idx="1"/>
            <a:endCxn xmlns:a="http://schemas.openxmlformats.org/drawingml/2006/main" id="7" idx="3"/>
          </p:cNvCxnSpPr>
          <p:nvPr/>
        </p:nvCxnSpPr>
        <p:spPr>
          <a:xfrm xmlns:a="http://schemas.openxmlformats.org/drawingml/2006/main" flipH="1">
            <a:off x="7753350" y="4381500"/>
            <a:ext cx="514350" cy="0"/>
          </a:xfrm>
          <a:prstGeom xmlns:a="http://schemas.openxmlformats.org/drawingml/2006/main" prst="straightConnector1">
            <a:avLst/>
          </a:prstGeom>
          <a:ln xmlns:a="http://schemas.openxmlformats.org/drawingml/2006/main" w="23813">
            <a:solidFill>
              <a:srgbClr val="56DBD0"/>
            </a:solidFill>
            <a:tailEnd type="arrow" w="med" len="med"/>
          </a:ln>
        </p:spPr>
      </p:cxnSp>
      <p:cxnSp>
        <p:nvCxnSpPr>
          <p:cNvPr id="28" name=""/>
          <p:cNvCxnSpPr>
            <a:stCxn xmlns:a="http://schemas.openxmlformats.org/drawingml/2006/main" id="7" idx="1"/>
            <a:endCxn xmlns:a="http://schemas.openxmlformats.org/drawingml/2006/main" id="8" idx="3"/>
          </p:cNvCxnSpPr>
          <p:nvPr/>
        </p:nvCxnSpPr>
        <p:spPr>
          <a:xfrm xmlns:a="http://schemas.openxmlformats.org/drawingml/2006/main" flipH="1">
            <a:off x="3924300" y="4381500"/>
            <a:ext cx="514350" cy="0"/>
          </a:xfrm>
          <a:prstGeom xmlns:a="http://schemas.openxmlformats.org/drawingml/2006/main" prst="straightConnector1">
            <a:avLst/>
          </a:prstGeom>
          <a:ln xmlns:a="http://schemas.openxmlformats.org/drawingml/2006/main" w="23813">
            <a:solidFill>
              <a:srgbClr val="56DBD0"/>
            </a:solidFill>
            <a:tailEnd type="arrow" w="med" len="med"/>
          </a:ln>
        </p:spPr>
      </p:cxnSp>
      <p:cxnSp>
        <p:nvCxnSpPr>
          <p:cNvPr id="29" name=""/>
          <p:cNvCxnSpPr>
            <a:stCxn xmlns:a="http://schemas.openxmlformats.org/drawingml/2006/main" id="8" idx="0"/>
            <a:endCxn xmlns:a="http://schemas.openxmlformats.org/drawingml/2006/main" id="3" idx="2"/>
          </p:cNvCxnSpPr>
          <p:nvPr/>
        </p:nvCxnSpPr>
        <p:spPr>
          <a:xfrm xmlns:a="http://schemas.openxmlformats.org/drawingml/2006/main" flipV="1">
            <a:off x="2266950" y="2933700"/>
            <a:ext cx="0" cy="923925"/>
          </a:xfrm>
          <a:prstGeom xmlns:a="http://schemas.openxmlformats.org/drawingml/2006/main" prst="straightConnector1">
            <a:avLst/>
          </a:prstGeom>
          <a:ln xmlns:a="http://schemas.openxmlformats.org/drawingml/2006/main" w="23813">
            <a:solidFill>
              <a:srgbClr val="56DBD0"/>
            </a:solidFill>
            <a:tailEnd type="arrow" w="med" len="med"/>
          </a:ln>
        </p:spPr>
      </p:cxnSp>
      <p:sp>
        <p:nvSpPr>
          <p:cNvPr id="15" name="">
            <a:extLst xmlns:a="http://schemas.openxmlformats.org/drawingml/2006/main">
              <a:ext uri="{FF2B5EF4-FFF2-40B4-BE49-F238E27FC236}">
                <a16:creationId xmlns:a16="http://schemas.microsoft.com/office/drawing/2014/main" id="{D010169E-C9FD-4C72-A72A-4EC00B1E4E59}"/>
              </a:ext>
            </a:extLst>
          </p:cNvPr>
          <p:cNvSpPr>
            <a:spLocks xmlns:a="http://schemas.openxmlformats.org/drawingml/2006/main" noGrp="1"/>
          </p:cNvSpPr>
          <p:nvPr/>
        </p:nvSpPr>
        <p:spPr>
          <a:xfrm xmlns:a="http://schemas.openxmlformats.org/drawingml/2006/main">
            <a:off x="609600" y="5334000"/>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56DBD0"/>
                </a:solidFill>
                <a:latin typeface="Helvetica Neue"/>
                <a:ea typeface="Helvetica Neue"/>
                <a:cs typeface="Helvetica Neue"/>
              </a:defRPr>
            </a:pPr>
            <a:r>
              <a:rPr sz="2100" b="1">
                <a:solidFill>
                  <a:srgbClr val="56DBD0"/>
                </a:solidFill>
                <a:latin typeface="Helvetica Neue"/>
                <a:ea typeface="Helvetica Neue"/>
                <a:cs typeface="Helvetica Neue"/>
              </a:rPr>
              <a:t>One recorded workflow carries task context, accepted assets and execution history between stages.</a:t>
            </a:r>
          </a:p>
        </p:txBody>
      </p:sp>
    </p:spTree>
    <p:extLst>
      <p:ext uri="{BB962C8B-B14F-4D97-AF65-F5344CB8AC3E}">
        <p14:creationId xmlns:p14="http://schemas.microsoft.com/office/powerpoint/2010/main" val="1395694843"/>
      </p:ext>
    </p:extLst>
  </p:cSld>
</p:sld>
</file>

<file path=ppt/slides/slide7.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FFB1B04D-C4A7-4A8C-82E2-F9F3F17FD56C}"/>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FFFFFF"/>
                </a:solidFill>
                <a:latin typeface="Helvetica Neue"/>
                <a:ea typeface="Helvetica Neue"/>
                <a:cs typeface="Helvetica Neue"/>
              </a:defRPr>
            </a:pPr>
            <a:r>
              <a:rPr sz="3300" b="1">
                <a:solidFill>
                  <a:srgbClr val="FFFFFF"/>
                </a:solidFill>
                <a:latin typeface="Helvetica Neue"/>
                <a:ea typeface="Helvetica Neue"/>
                <a:cs typeface="Helvetica Neue"/>
              </a:rPr>
              <a:t>The reusable technical core</a:t>
            </a:r>
          </a:p>
        </p:txBody>
      </p:sp>
      <p:sp>
        <p:nvSpPr>
          <p:cNvPr id="2" name="">
            <a:extLst xmlns:a="http://schemas.openxmlformats.org/drawingml/2006/main">
              <a:ext uri="{FF2B5EF4-FFF2-40B4-BE49-F238E27FC236}">
                <a16:creationId xmlns:a16="http://schemas.microsoft.com/office/drawing/2014/main" id="{654D992E-0827-4F72-8C18-8AA21B3E185B}"/>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B5C4CD"/>
                </a:solidFill>
                <a:latin typeface="Helvetica Neue"/>
                <a:ea typeface="Helvetica Neue"/>
                <a:cs typeface="Helvetica Neue"/>
              </a:defRPr>
            </a:pPr>
            <a:r>
              <a:rPr sz="1200" b="0">
                <a:solidFill>
                  <a:srgbClr val="B5C4CD"/>
                </a:solidFill>
                <a:latin typeface="Helvetica Neue"/>
                <a:ea typeface="Helvetica Neue"/>
                <a:cs typeface="Helvetica Neue"/>
              </a:rPr>
              <a:t>07</a:t>
            </a:r>
          </a:p>
        </p:txBody>
      </p:sp>
      <p:sp>
        <p:nvSpPr>
          <p:cNvPr id="3" name="">
            <a:extLst xmlns:a="http://schemas.openxmlformats.org/drawingml/2006/main">
              <a:ext uri="{FF2B5EF4-FFF2-40B4-BE49-F238E27FC236}">
                <a16:creationId xmlns:a16="http://schemas.microsoft.com/office/drawing/2014/main" id="{109D074C-1EBD-4B85-B3D0-D63F7B043DDD}"/>
              </a:ext>
            </a:extLst>
          </p:cNvPr>
          <p:cNvSpPr>
            <a:spLocks xmlns:a="http://schemas.openxmlformats.org/drawingml/2006/main" noGrp="1"/>
          </p:cNvSpPr>
          <p:nvPr/>
        </p:nvSpPr>
        <p:spPr>
          <a:xfrm xmlns:a="http://schemas.openxmlformats.org/drawingml/2006/main">
            <a:off x="1714500" y="1514475"/>
            <a:ext cx="8763000" cy="647700"/>
          </a:xfrm>
          <a:prstGeom xmlns:a="http://schemas.openxmlformats.org/drawingml/2006/main" prst="rect">
            <a:avLst/>
          </a:prstGeom>
          <a:solidFill xmlns:a="http://schemas.openxmlformats.org/drawingml/2006/main">
            <a:srgbClr val="102C3C"/>
          </a:solidFill>
          <a:ln xmlns:a="http://schemas.openxmlformats.org/drawingml/2006/main" w="11430">
            <a:solidFill>
              <a:srgbClr val="397785"/>
            </a:solidFill>
          </a:ln>
        </p:spPr>
        <p:txBody>
          <a:bodyPr xmlns:a="http://schemas.openxmlformats.org/drawingml/2006/main" lIns="114300" tIns="114300" rIns="114300" bIns="114300" anchor="ctr">
            <a:noAutofit/>
          </a:bodyPr>
          <a:lstStyle xmlns:a="http://schemas.openxmlformats.org/drawingml/2006/main"/>
          <a:p xmlns:a="http://schemas.openxmlformats.org/drawingml/2006/main">
            <a:pPr algn="ctr">
              <a:defRPr sz="1950" b="1">
                <a:solidFill>
                  <a:srgbClr val="FFFFFF"/>
                </a:solidFill>
                <a:latin typeface="Helvetica Neue"/>
                <a:ea typeface="Helvetica Neue"/>
                <a:cs typeface="Helvetica Neue"/>
              </a:defRPr>
            </a:pPr>
            <a:r>
              <a:rPr sz="1950" b="1">
                <a:solidFill>
                  <a:srgbClr val="FFFFFF"/>
                </a:solidFill>
                <a:latin typeface="Helvetica Neue"/>
                <a:ea typeface="Helvetica Neue"/>
                <a:cs typeface="Helvetica Neue"/>
              </a:rPr>
              <a:t>Workflows: studio • social channels • business services</a:t>
            </a:r>
          </a:p>
        </p:txBody>
      </p:sp>
      <p:sp>
        <p:nvSpPr>
          <p:cNvPr id="4" name="">
            <a:extLst xmlns:a="http://schemas.openxmlformats.org/drawingml/2006/main">
              <a:ext uri="{FF2B5EF4-FFF2-40B4-BE49-F238E27FC236}">
                <a16:creationId xmlns:a16="http://schemas.microsoft.com/office/drawing/2014/main" id="{FBFD2F2D-AD85-43C1-83BC-1D6F8E36D786}"/>
              </a:ext>
            </a:extLst>
          </p:cNvPr>
          <p:cNvSpPr>
            <a:spLocks xmlns:a="http://schemas.openxmlformats.org/drawingml/2006/main" noGrp="1"/>
          </p:cNvSpPr>
          <p:nvPr/>
        </p:nvSpPr>
        <p:spPr>
          <a:xfrm xmlns:a="http://schemas.openxmlformats.org/drawingml/2006/main">
            <a:off x="1714500" y="2686050"/>
            <a:ext cx="8763000" cy="742950"/>
          </a:xfrm>
          <a:prstGeom xmlns:a="http://schemas.openxmlformats.org/drawingml/2006/main" prst="rect">
            <a:avLst/>
          </a:prstGeom>
          <a:solidFill xmlns:a="http://schemas.openxmlformats.org/drawingml/2006/main">
            <a:srgbClr val="102C3C"/>
          </a:solidFill>
          <a:ln xmlns:a="http://schemas.openxmlformats.org/drawingml/2006/main" w="11430">
            <a:solidFill>
              <a:srgbClr val="397785"/>
            </a:solidFill>
          </a:ln>
        </p:spPr>
        <p:txBody>
          <a:bodyPr xmlns:a="http://schemas.openxmlformats.org/drawingml/2006/main" lIns="114300" tIns="114300" rIns="114300" bIns="114300" anchor="ctr">
            <a:noAutofit/>
          </a:bodyPr>
          <a:lstStyle xmlns:a="http://schemas.openxmlformats.org/drawingml/2006/main"/>
          <a:p xmlns:a="http://schemas.openxmlformats.org/drawingml/2006/main">
            <a:pPr algn="ctr">
              <a:defRPr sz="2025" b="1">
                <a:solidFill>
                  <a:srgbClr val="FFFFFF"/>
                </a:solidFill>
                <a:latin typeface="Helvetica Neue"/>
                <a:ea typeface="Helvetica Neue"/>
                <a:cs typeface="Helvetica Neue"/>
              </a:defRPr>
            </a:pPr>
            <a:r>
              <a:rPr sz="2025" b="1">
                <a:solidFill>
                  <a:srgbClr val="FFFFFF"/>
                </a:solidFill>
                <a:latin typeface="Helvetica Neue"/>
                <a:ea typeface="Helvetica Neue"/>
                <a:cs typeface="Helvetica Neue"/>
              </a:rPr>
              <a:t>Station orchestrator: admission • planning • queues • recovery</a:t>
            </a:r>
          </a:p>
        </p:txBody>
      </p:sp>
      <p:sp>
        <p:nvSpPr>
          <p:cNvPr id="5" name="">
            <a:extLst xmlns:a="http://schemas.openxmlformats.org/drawingml/2006/main">
              <a:ext uri="{FF2B5EF4-FFF2-40B4-BE49-F238E27FC236}">
                <a16:creationId xmlns:a16="http://schemas.microsoft.com/office/drawing/2014/main" id="{22DC1708-B23F-4A7B-97B9-C09F4FEFA903}"/>
              </a:ext>
            </a:extLst>
          </p:cNvPr>
          <p:cNvSpPr>
            <a:spLocks xmlns:a="http://schemas.openxmlformats.org/drawingml/2006/main" noGrp="1"/>
          </p:cNvSpPr>
          <p:nvPr/>
        </p:nvSpPr>
        <p:spPr>
          <a:xfrm xmlns:a="http://schemas.openxmlformats.org/drawingml/2006/main">
            <a:off x="609600" y="4048125"/>
            <a:ext cx="3314700" cy="952500"/>
          </a:xfrm>
          <a:prstGeom xmlns:a="http://schemas.openxmlformats.org/drawingml/2006/main" prst="rect">
            <a:avLst/>
          </a:prstGeom>
          <a:solidFill xmlns:a="http://schemas.openxmlformats.org/drawingml/2006/main">
            <a:srgbClr val="102C3C"/>
          </a:solidFill>
          <a:ln xmlns:a="http://schemas.openxmlformats.org/drawingml/2006/main" w="11430">
            <a:solidFill>
              <a:srgbClr val="397785"/>
            </a:solidFill>
          </a:ln>
        </p:spPr>
        <p:txBody>
          <a:bodyPr xmlns:a="http://schemas.openxmlformats.org/drawingml/2006/main" lIns="114300" tIns="114300" rIns="114300" bIns="114300" anchor="ctr">
            <a:noAutofit/>
          </a:bodyPr>
          <a:lstStyle xmlns:a="http://schemas.openxmlformats.org/drawingml/2006/main"/>
          <a:p xmlns:a="http://schemas.openxmlformats.org/drawingml/2006/main">
            <a:pPr algn="ctr">
              <a:defRPr sz="1875" b="1">
                <a:solidFill>
                  <a:srgbClr val="FFFFFF"/>
                </a:solidFill>
                <a:latin typeface="Helvetica Neue"/>
                <a:ea typeface="Helvetica Neue"/>
                <a:cs typeface="Helvetica Neue"/>
              </a:defRPr>
            </a:pPr>
            <a:r>
              <a:rPr sz="1875" b="1">
                <a:solidFill>
                  <a:srgbClr val="FFFFFF"/>
                </a:solidFill>
                <a:latin typeface="Helvetica Neue"/>
                <a:ea typeface="Helvetica Neue"/>
                <a:cs typeface="Helvetica Neue"/>
              </a:rPr>
              <a:t>Agents and structured</a:t>
            </a:r>
          </a:p>
          <a:p xmlns:a="http://schemas.openxmlformats.org/drawingml/2006/main">
            <a:pPr algn="ctr">
              <a:defRPr sz="1875" b="1">
                <a:solidFill>
                  <a:srgbClr val="FFFFFF"/>
                </a:solidFill>
                <a:latin typeface="Helvetica Neue"/>
                <a:ea typeface="Helvetica Neue"/>
                <a:cs typeface="Helvetica Neue"/>
              </a:defRPr>
            </a:pPr>
            <a:r>
              <a:rPr sz="1875" b="1">
                <a:solidFill>
                  <a:srgbClr val="FFFFFF"/>
                </a:solidFill>
                <a:latin typeface="Helvetica Neue"/>
                <a:ea typeface="Helvetica Neue"/>
                <a:cs typeface="Helvetica Neue"/>
              </a:rPr>
              <a:t>task outputs</a:t>
            </a:r>
          </a:p>
        </p:txBody>
      </p:sp>
      <p:sp>
        <p:nvSpPr>
          <p:cNvPr id="6" name="">
            <a:extLst xmlns:a="http://schemas.openxmlformats.org/drawingml/2006/main">
              <a:ext uri="{FF2B5EF4-FFF2-40B4-BE49-F238E27FC236}">
                <a16:creationId xmlns:a16="http://schemas.microsoft.com/office/drawing/2014/main" id="{5127B17D-AB83-453E-A738-48594634C8FF}"/>
              </a:ext>
            </a:extLst>
          </p:cNvPr>
          <p:cNvSpPr>
            <a:spLocks xmlns:a="http://schemas.openxmlformats.org/drawingml/2006/main" noGrp="1"/>
          </p:cNvSpPr>
          <p:nvPr/>
        </p:nvSpPr>
        <p:spPr>
          <a:xfrm xmlns:a="http://schemas.openxmlformats.org/drawingml/2006/main">
            <a:off x="4438650" y="4048125"/>
            <a:ext cx="3314700" cy="952500"/>
          </a:xfrm>
          <a:prstGeom xmlns:a="http://schemas.openxmlformats.org/drawingml/2006/main" prst="rect">
            <a:avLst/>
          </a:prstGeom>
          <a:solidFill xmlns:a="http://schemas.openxmlformats.org/drawingml/2006/main">
            <a:srgbClr val="102C3C"/>
          </a:solidFill>
          <a:ln xmlns:a="http://schemas.openxmlformats.org/drawingml/2006/main" w="11430">
            <a:solidFill>
              <a:srgbClr val="397785"/>
            </a:solidFill>
          </a:ln>
        </p:spPr>
        <p:txBody>
          <a:bodyPr xmlns:a="http://schemas.openxmlformats.org/drawingml/2006/main" lIns="114300" tIns="114300" rIns="114300" bIns="114300" anchor="ctr">
            <a:noAutofit/>
          </a:bodyPr>
          <a:lstStyle xmlns:a="http://schemas.openxmlformats.org/drawingml/2006/main"/>
          <a:p xmlns:a="http://schemas.openxmlformats.org/drawingml/2006/main">
            <a:pPr algn="ctr">
              <a:defRPr sz="1875" b="1">
                <a:solidFill>
                  <a:srgbClr val="FFFFFF"/>
                </a:solidFill>
                <a:latin typeface="Helvetica Neue"/>
                <a:ea typeface="Helvetica Neue"/>
                <a:cs typeface="Helvetica Neue"/>
              </a:defRPr>
            </a:pPr>
            <a:r>
              <a:rPr sz="1875" b="1">
                <a:solidFill>
                  <a:srgbClr val="FFFFFF"/>
                </a:solidFill>
                <a:latin typeface="Helvetica Neue"/>
                <a:ea typeface="Helvetica Neue"/>
                <a:cs typeface="Helvetica Neue"/>
              </a:rPr>
              <a:t>Code-enforced validation</a:t>
            </a:r>
          </a:p>
          <a:p xmlns:a="http://schemas.openxmlformats.org/drawingml/2006/main">
            <a:pPr algn="ctr">
              <a:defRPr sz="1875" b="1">
                <a:solidFill>
                  <a:srgbClr val="FFFFFF"/>
                </a:solidFill>
                <a:latin typeface="Helvetica Neue"/>
                <a:ea typeface="Helvetica Neue"/>
                <a:cs typeface="Helvetica Neue"/>
              </a:defRPr>
            </a:pPr>
            <a:r>
              <a:rPr sz="1875" b="1">
                <a:solidFill>
                  <a:srgbClr val="FFFFFF"/>
                </a:solidFill>
                <a:latin typeface="Helvetica Neue"/>
                <a:ea typeface="Helvetica Neue"/>
                <a:cs typeface="Helvetica Neue"/>
              </a:rPr>
              <a:t>and execution rules</a:t>
            </a:r>
          </a:p>
        </p:txBody>
      </p:sp>
      <p:sp>
        <p:nvSpPr>
          <p:cNvPr id="7" name="">
            <a:extLst xmlns:a="http://schemas.openxmlformats.org/drawingml/2006/main">
              <a:ext uri="{FF2B5EF4-FFF2-40B4-BE49-F238E27FC236}">
                <a16:creationId xmlns:a16="http://schemas.microsoft.com/office/drawing/2014/main" id="{0EC44935-FD6B-44B8-83EF-DFA2A4032A94}"/>
              </a:ext>
            </a:extLst>
          </p:cNvPr>
          <p:cNvSpPr>
            <a:spLocks xmlns:a="http://schemas.openxmlformats.org/drawingml/2006/main" noGrp="1"/>
          </p:cNvSpPr>
          <p:nvPr/>
        </p:nvSpPr>
        <p:spPr>
          <a:xfrm xmlns:a="http://schemas.openxmlformats.org/drawingml/2006/main">
            <a:off x="8267700" y="4048125"/>
            <a:ext cx="3314700" cy="952500"/>
          </a:xfrm>
          <a:prstGeom xmlns:a="http://schemas.openxmlformats.org/drawingml/2006/main" prst="rect">
            <a:avLst/>
          </a:prstGeom>
          <a:solidFill xmlns:a="http://schemas.openxmlformats.org/drawingml/2006/main">
            <a:srgbClr val="102C3C"/>
          </a:solidFill>
          <a:ln xmlns:a="http://schemas.openxmlformats.org/drawingml/2006/main" w="11430">
            <a:solidFill>
              <a:srgbClr val="397785"/>
            </a:solidFill>
          </a:ln>
        </p:spPr>
        <p:txBody>
          <a:bodyPr xmlns:a="http://schemas.openxmlformats.org/drawingml/2006/main" lIns="114300" tIns="114300" rIns="114300" bIns="114300" anchor="ctr">
            <a:noAutofit/>
          </a:bodyPr>
          <a:lstStyle xmlns:a="http://schemas.openxmlformats.org/drawingml/2006/main"/>
          <a:p xmlns:a="http://schemas.openxmlformats.org/drawingml/2006/main">
            <a:pPr algn="ctr">
              <a:defRPr sz="1875" b="1">
                <a:solidFill>
                  <a:srgbClr val="FFFFFF"/>
                </a:solidFill>
                <a:latin typeface="Helvetica Neue"/>
                <a:ea typeface="Helvetica Neue"/>
                <a:cs typeface="Helvetica Neue"/>
              </a:defRPr>
            </a:pPr>
            <a:r>
              <a:rPr sz="1875" b="1">
                <a:solidFill>
                  <a:srgbClr val="FFFFFF"/>
                </a:solidFill>
                <a:latin typeface="Helvetica Neue"/>
                <a:ea typeface="Helvetica Neue"/>
                <a:cs typeface="Helvetica Neue"/>
              </a:rPr>
              <a:t>Memory, graph and</a:t>
            </a:r>
          </a:p>
          <a:p xmlns:a="http://schemas.openxmlformats.org/drawingml/2006/main">
            <a:pPr algn="ctr">
              <a:defRPr sz="1875" b="1">
                <a:solidFill>
                  <a:srgbClr val="FFFFFF"/>
                </a:solidFill>
                <a:latin typeface="Helvetica Neue"/>
                <a:ea typeface="Helvetica Neue"/>
                <a:cs typeface="Helvetica Neue"/>
              </a:defRPr>
            </a:pPr>
            <a:r>
              <a:rPr sz="1875" b="1">
                <a:solidFill>
                  <a:srgbClr val="FFFFFF"/>
                </a:solidFill>
                <a:latin typeface="Helvetica Neue"/>
                <a:ea typeface="Helvetica Neue"/>
                <a:cs typeface="Helvetica Neue"/>
              </a:rPr>
              <a:t>execution registries</a:t>
            </a:r>
          </a:p>
        </p:txBody>
      </p:sp>
      <p:cxnSp>
        <p:nvCxnSpPr>
          <p:cNvPr id="21" name=""/>
          <p:cNvCxnSpPr>
            <a:stCxn xmlns:a="http://schemas.openxmlformats.org/drawingml/2006/main" id="3" idx="2"/>
            <a:endCxn xmlns:a="http://schemas.openxmlformats.org/drawingml/2006/main" id="4" idx="0"/>
          </p:cNvCxnSpPr>
          <p:nvPr/>
        </p:nvCxnSpPr>
        <p:spPr>
          <a:xfrm xmlns:a="http://schemas.openxmlformats.org/drawingml/2006/main">
            <a:off x="6096000" y="2162175"/>
            <a:ext cx="0" cy="523875"/>
          </a:xfrm>
          <a:prstGeom xmlns:a="http://schemas.openxmlformats.org/drawingml/2006/main" prst="straightConnector1">
            <a:avLst/>
          </a:prstGeom>
          <a:ln xmlns:a="http://schemas.openxmlformats.org/drawingml/2006/main" w="23813">
            <a:solidFill>
              <a:srgbClr val="56DBD0"/>
            </a:solidFill>
            <a:tailEnd type="arrow" w="med" len="med"/>
          </a:ln>
        </p:spPr>
      </p:cxnSp>
      <p:cxnSp>
        <p:nvCxnSpPr>
          <p:cNvPr id="22" name=""/>
          <p:cNvCxnSpPr>
            <a:stCxn xmlns:a="http://schemas.openxmlformats.org/drawingml/2006/main" id="4" idx="2"/>
            <a:endCxn xmlns:a="http://schemas.openxmlformats.org/drawingml/2006/main" id="5" idx="0"/>
          </p:cNvCxnSpPr>
          <p:nvPr/>
        </p:nvCxnSpPr>
        <p:spPr>
          <a:xfrm xmlns:a="http://schemas.openxmlformats.org/drawingml/2006/main" flipH="1">
            <a:off x="2266950" y="3429000"/>
            <a:ext cx="3829050" cy="619125"/>
          </a:xfrm>
          <a:prstGeom xmlns:a="http://schemas.openxmlformats.org/drawingml/2006/main" prst="bentConnector4">
            <a:avLst>
              <a:gd name="adj1" fmla="val 0"/>
              <a:gd name="adj2" fmla="val 50000"/>
            </a:avLst>
          </a:prstGeom>
          <a:ln xmlns:a="http://schemas.openxmlformats.org/drawingml/2006/main" w="23813">
            <a:solidFill>
              <a:srgbClr val="56DBD0"/>
            </a:solidFill>
            <a:tailEnd type="arrow" w="med" len="med"/>
          </a:ln>
        </p:spPr>
      </p:cxnSp>
      <p:cxnSp>
        <p:nvCxnSpPr>
          <p:cNvPr id="23" name=""/>
          <p:cNvCxnSpPr>
            <a:stCxn xmlns:a="http://schemas.openxmlformats.org/drawingml/2006/main" id="4" idx="2"/>
            <a:endCxn xmlns:a="http://schemas.openxmlformats.org/drawingml/2006/main" id="6" idx="0"/>
          </p:cNvCxnSpPr>
          <p:nvPr/>
        </p:nvCxnSpPr>
        <p:spPr>
          <a:xfrm xmlns:a="http://schemas.openxmlformats.org/drawingml/2006/main">
            <a:off x="6096000" y="3429000"/>
            <a:ext cx="0" cy="619125"/>
          </a:xfrm>
          <a:prstGeom xmlns:a="http://schemas.openxmlformats.org/drawingml/2006/main" prst="straightConnector1">
            <a:avLst/>
          </a:prstGeom>
          <a:ln xmlns:a="http://schemas.openxmlformats.org/drawingml/2006/main" w="23813">
            <a:solidFill>
              <a:srgbClr val="56DBD0"/>
            </a:solidFill>
            <a:tailEnd type="arrow" w="med" len="med"/>
          </a:ln>
        </p:spPr>
      </p:cxnSp>
      <p:cxnSp>
        <p:nvCxnSpPr>
          <p:cNvPr id="24" name=""/>
          <p:cNvCxnSpPr>
            <a:stCxn xmlns:a="http://schemas.openxmlformats.org/drawingml/2006/main" id="4" idx="2"/>
            <a:endCxn xmlns:a="http://schemas.openxmlformats.org/drawingml/2006/main" id="7" idx="0"/>
          </p:cNvCxnSpPr>
          <p:nvPr/>
        </p:nvCxnSpPr>
        <p:spPr>
          <a:xfrm xmlns:a="http://schemas.openxmlformats.org/drawingml/2006/main">
            <a:off x="6096000" y="3429000"/>
            <a:ext cx="3829050" cy="619125"/>
          </a:xfrm>
          <a:prstGeom xmlns:a="http://schemas.openxmlformats.org/drawingml/2006/main" prst="bentConnector4">
            <a:avLst>
              <a:gd name="adj1" fmla="val 0"/>
              <a:gd name="adj2" fmla="val 50000"/>
            </a:avLst>
          </a:prstGeom>
          <a:ln xmlns:a="http://schemas.openxmlformats.org/drawingml/2006/main" w="23813">
            <a:solidFill>
              <a:srgbClr val="56DBD0"/>
            </a:solidFill>
            <a:tailEnd type="arrow" w="med" len="med"/>
          </a:ln>
        </p:spPr>
      </p:cxnSp>
      <p:sp>
        <p:nvSpPr>
          <p:cNvPr id="12" name="">
            <a:extLst xmlns:a="http://schemas.openxmlformats.org/drawingml/2006/main">
              <a:ext uri="{FF2B5EF4-FFF2-40B4-BE49-F238E27FC236}">
                <a16:creationId xmlns:a16="http://schemas.microsoft.com/office/drawing/2014/main" id="{A2606056-3BE4-4317-8B05-CA07E77BAC84}"/>
              </a:ext>
            </a:extLst>
          </p:cNvPr>
          <p:cNvSpPr>
            <a:spLocks xmlns:a="http://schemas.openxmlformats.org/drawingml/2006/main" noGrp="1"/>
          </p:cNvSpPr>
          <p:nvPr/>
        </p:nvSpPr>
        <p:spPr>
          <a:xfrm xmlns:a="http://schemas.openxmlformats.org/drawingml/2006/main">
            <a:off x="609600" y="552450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B5C4CD"/>
                </a:solidFill>
                <a:latin typeface="Helvetica Neue"/>
                <a:ea typeface="Helvetica Neue"/>
                <a:cs typeface="Helvetica Neue"/>
              </a:defRPr>
            </a:pPr>
            <a:r>
              <a:rPr sz="2025" b="0">
                <a:solidFill>
                  <a:srgbClr val="B5C4CD"/>
                </a:solidFill>
                <a:latin typeface="Helvetica Neue"/>
                <a:ea typeface="Helvetica Neue"/>
                <a:cs typeface="Helvetica Neue"/>
              </a:rPr>
              <a:t>Bounded executors and service adapters perform the admitted work and return results.</a:t>
            </a:r>
          </a:p>
        </p:txBody>
      </p:sp>
      <p:sp>
        <p:nvSpPr>
          <p:cNvPr id="13" name="">
            <a:extLst xmlns:a="http://schemas.openxmlformats.org/drawingml/2006/main">
              <a:ext uri="{FF2B5EF4-FFF2-40B4-BE49-F238E27FC236}">
                <a16:creationId xmlns:a16="http://schemas.microsoft.com/office/drawing/2014/main" id="{36A57B19-3518-4AE8-8DA8-1B2647FED826}"/>
              </a:ext>
            </a:extLst>
          </p:cNvPr>
          <p:cNvSpPr>
            <a:spLocks xmlns:a="http://schemas.openxmlformats.org/drawingml/2006/main" noGrp="1"/>
          </p:cNvSpPr>
          <p:nvPr/>
        </p:nvSpPr>
        <p:spPr>
          <a:xfrm xmlns:a="http://schemas.openxmlformats.org/drawingml/2006/main">
            <a:off x="609600" y="6219825"/>
            <a:ext cx="1095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B5C4CD"/>
                </a:solidFill>
                <a:latin typeface="Helvetica Neue"/>
                <a:ea typeface="Helvetica Neue"/>
                <a:cs typeface="Helvetica Neue"/>
              </a:defRPr>
            </a:pPr>
            <a:r>
              <a:rPr sz="1650" b="0">
                <a:solidFill>
                  <a:srgbClr val="B5C4CD"/>
                </a:solidFill>
                <a:latin typeface="Helvetica Neue"/>
                <a:ea typeface="Helvetica Neue"/>
                <a:cs typeface="Helvetica Neue"/>
              </a:rPr>
              <a:t>Python orchestration · JavaScript graphics · Node.js and Solidity commerce</a:t>
            </a:r>
          </a:p>
        </p:txBody>
      </p:sp>
    </p:spTree>
    <p:extLst>
      <p:ext uri="{BB962C8B-B14F-4D97-AF65-F5344CB8AC3E}">
        <p14:creationId xmlns:p14="http://schemas.microsoft.com/office/powerpoint/2010/main" val="1914919115"/>
      </p:ext>
    </p:extLst>
  </p:cSld>
</p:sld>
</file>

<file path=ppt/slides/slide8.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89AF7ED4-634D-4AB7-9C97-FDC111169B79}"/>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EAF1F5"/>
                </a:solidFill>
                <a:latin typeface="Helvetica Neue"/>
                <a:ea typeface="Helvetica Neue"/>
                <a:cs typeface="Helvetica Neue"/>
              </a:defRPr>
            </a:pPr>
            <a:r>
              <a:rPr sz="3300" b="1">
                <a:solidFill>
                  <a:srgbClr val="EAF1F5"/>
                </a:solidFill>
                <a:latin typeface="Helvetica Neue"/>
                <a:ea typeface="Helvetica Neue"/>
                <a:cs typeface="Helvetica Neue"/>
              </a:rPr>
              <a:t>Implemented production components</a:t>
            </a:r>
          </a:p>
        </p:txBody>
      </p:sp>
      <p:sp>
        <p:nvSpPr>
          <p:cNvPr id="2" name="">
            <a:extLst xmlns:a="http://schemas.openxmlformats.org/drawingml/2006/main">
              <a:ext uri="{FF2B5EF4-FFF2-40B4-BE49-F238E27FC236}">
                <a16:creationId xmlns:a16="http://schemas.microsoft.com/office/drawing/2014/main" id="{2AD10CBE-5C9D-4AE2-987C-8E0A14820198}"/>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A9BDC9"/>
                </a:solidFill>
                <a:latin typeface="Helvetica Neue"/>
                <a:ea typeface="Helvetica Neue"/>
                <a:cs typeface="Helvetica Neue"/>
              </a:defRPr>
            </a:pPr>
            <a:r>
              <a:rPr sz="1200" b="0">
                <a:solidFill>
                  <a:srgbClr val="A9BDC9"/>
                </a:solidFill>
                <a:latin typeface="Helvetica Neue"/>
                <a:ea typeface="Helvetica Neue"/>
                <a:cs typeface="Helvetica Neue"/>
              </a:rPr>
              <a:t>08</a:t>
            </a:r>
          </a:p>
        </p:txBody>
      </p:sp>
      <p:sp>
        <p:nvSpPr>
          <p:cNvPr id="3" name="">
            <a:extLst xmlns:a="http://schemas.openxmlformats.org/drawingml/2006/main">
              <a:ext uri="{FF2B5EF4-FFF2-40B4-BE49-F238E27FC236}">
                <a16:creationId xmlns:a16="http://schemas.microsoft.com/office/drawing/2014/main" id="{C890B513-9864-417C-9FD5-62A5D9DC3D81}"/>
              </a:ext>
            </a:extLst>
          </p:cNvPr>
          <p:cNvSpPr>
            <a:spLocks xmlns:a="http://schemas.openxmlformats.org/drawingml/2006/main" noGrp="1"/>
          </p:cNvSpPr>
          <p:nvPr/>
        </p:nvSpPr>
        <p:spPr>
          <a:xfrm xmlns:a="http://schemas.openxmlformats.org/drawingml/2006/main">
            <a:off x="609600" y="161925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Video and sound matrices</a:t>
            </a:r>
          </a:p>
        </p:txBody>
      </p:sp>
      <p:sp>
        <p:nvSpPr>
          <p:cNvPr id="4" name="">
            <a:extLst xmlns:a="http://schemas.openxmlformats.org/drawingml/2006/main">
              <a:ext uri="{FF2B5EF4-FFF2-40B4-BE49-F238E27FC236}">
                <a16:creationId xmlns:a16="http://schemas.microsoft.com/office/drawing/2014/main" id="{16CBA70F-AE08-4732-8F0C-90490DCF620D}"/>
              </a:ext>
            </a:extLst>
          </p:cNvPr>
          <p:cNvSpPr>
            <a:spLocks xmlns:a="http://schemas.openxmlformats.org/drawingml/2006/main" noGrp="1"/>
          </p:cNvSpPr>
          <p:nvPr/>
        </p:nvSpPr>
        <p:spPr>
          <a:xfrm xmlns:a="http://schemas.openxmlformats.org/drawingml/2006/main">
            <a:off x="609600" y="2114550"/>
            <a:ext cx="5191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EAF1F5"/>
                </a:solidFill>
                <a:latin typeface="Helvetica Neue"/>
                <a:ea typeface="Helvetica Neue"/>
                <a:cs typeface="Helvetica Neue"/>
              </a:defRPr>
            </a:pPr>
            <a:r>
              <a:rPr sz="1875" b="0">
                <a:solidFill>
                  <a:srgbClr val="EAF1F5"/>
                </a:solidFill>
                <a:latin typeface="Helvetica Neue"/>
                <a:ea typeface="Helvetica Neue"/>
                <a:cs typeface="Helvetica Neue"/>
              </a:rPr>
              <a:t>Scene timing, visual assets, narration, music and effects become structured production tasks.</a:t>
            </a:r>
          </a:p>
        </p:txBody>
      </p:sp>
      <p:sp>
        <p:nvSpPr>
          <p:cNvPr id="5" name="">
            <a:extLst xmlns:a="http://schemas.openxmlformats.org/drawingml/2006/main">
              <a:ext uri="{FF2B5EF4-FFF2-40B4-BE49-F238E27FC236}">
                <a16:creationId xmlns:a16="http://schemas.microsoft.com/office/drawing/2014/main" id="{A43A2E7B-866C-46A0-9A7D-ADF3CCFCA22C}"/>
              </a:ext>
            </a:extLst>
          </p:cNvPr>
          <p:cNvSpPr>
            <a:spLocks xmlns:a="http://schemas.openxmlformats.org/drawingml/2006/main" noGrp="1"/>
          </p:cNvSpPr>
          <p:nvPr/>
        </p:nvSpPr>
        <p:spPr>
          <a:xfrm xmlns:a="http://schemas.openxmlformats.org/drawingml/2006/main">
            <a:off x="6429375" y="161925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Editing and graphics</a:t>
            </a:r>
          </a:p>
        </p:txBody>
      </p:sp>
      <p:sp>
        <p:nvSpPr>
          <p:cNvPr id="6" name="">
            <a:extLst xmlns:a="http://schemas.openxmlformats.org/drawingml/2006/main">
              <a:ext uri="{FF2B5EF4-FFF2-40B4-BE49-F238E27FC236}">
                <a16:creationId xmlns:a16="http://schemas.microsoft.com/office/drawing/2014/main" id="{660FED8A-A799-4420-818E-055C9C27BE1D}"/>
              </a:ext>
            </a:extLst>
          </p:cNvPr>
          <p:cNvSpPr>
            <a:spLocks xmlns:a="http://schemas.openxmlformats.org/drawingml/2006/main" noGrp="1"/>
          </p:cNvSpPr>
          <p:nvPr/>
        </p:nvSpPr>
        <p:spPr>
          <a:xfrm xmlns:a="http://schemas.openxmlformats.org/drawingml/2006/main">
            <a:off x="6429375" y="2114550"/>
            <a:ext cx="5191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EAF1F5"/>
                </a:solidFill>
                <a:latin typeface="Helvetica Neue"/>
                <a:ea typeface="Helvetica Neue"/>
                <a:cs typeface="Helvetica Neue"/>
              </a:defRPr>
            </a:pPr>
            <a:r>
              <a:rPr sz="1875" b="0">
                <a:solidFill>
                  <a:srgbClr val="EAF1F5"/>
                </a:solidFill>
                <a:latin typeface="Helvetica Neue"/>
                <a:ea typeface="Helvetica Neue"/>
                <a:cs typeface="Helvetica Neue"/>
              </a:rPr>
              <a:t>Scene assembly, pacing, transitions, visual continuity and rendering logic exist in code.</a:t>
            </a:r>
          </a:p>
        </p:txBody>
      </p:sp>
      <p:sp>
        <p:nvSpPr>
          <p:cNvPr id="7" name="">
            <a:extLst xmlns:a="http://schemas.openxmlformats.org/drawingml/2006/main">
              <a:ext uri="{FF2B5EF4-FFF2-40B4-BE49-F238E27FC236}">
                <a16:creationId xmlns:a16="http://schemas.microsoft.com/office/drawing/2014/main" id="{C11CDFE6-5B0F-4374-BE6C-A53EC7E87C3D}"/>
              </a:ext>
            </a:extLst>
          </p:cNvPr>
          <p:cNvSpPr>
            <a:spLocks xmlns:a="http://schemas.openxmlformats.org/drawingml/2006/main" noGrp="1"/>
          </p:cNvSpPr>
          <p:nvPr/>
        </p:nvSpPr>
        <p:spPr>
          <a:xfrm xmlns:a="http://schemas.openxmlformats.org/drawingml/2006/main">
            <a:off x="609600" y="3362325"/>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Audio workflows</a:t>
            </a:r>
          </a:p>
        </p:txBody>
      </p:sp>
      <p:sp>
        <p:nvSpPr>
          <p:cNvPr id="8" name="">
            <a:extLst xmlns:a="http://schemas.openxmlformats.org/drawingml/2006/main">
              <a:ext uri="{FF2B5EF4-FFF2-40B4-BE49-F238E27FC236}">
                <a16:creationId xmlns:a16="http://schemas.microsoft.com/office/drawing/2014/main" id="{674C8EE2-E3F3-4FBD-BD14-953F64EC7F88}"/>
              </a:ext>
            </a:extLst>
          </p:cNvPr>
          <p:cNvSpPr>
            <a:spLocks xmlns:a="http://schemas.openxmlformats.org/drawingml/2006/main" noGrp="1"/>
          </p:cNvSpPr>
          <p:nvPr/>
        </p:nvSpPr>
        <p:spPr>
          <a:xfrm xmlns:a="http://schemas.openxmlformats.org/drawingml/2006/main">
            <a:off x="609600" y="3857625"/>
            <a:ext cx="5191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EAF1F5"/>
                </a:solidFill>
                <a:latin typeface="Helvetica Neue"/>
                <a:ea typeface="Helvetica Neue"/>
                <a:cs typeface="Helvetica Neue"/>
              </a:defRPr>
            </a:pPr>
            <a:r>
              <a:rPr sz="1875" b="0">
                <a:solidFill>
                  <a:srgbClr val="EAF1F5"/>
                </a:solidFill>
                <a:latin typeface="Helvetica Neue"/>
                <a:ea typeface="Helvetica Neue"/>
                <a:cs typeface="Helvetica Neue"/>
              </a:rPr>
              <a:t>Separate sound layers, synchronization and mixing. FFmpeg executes structured processing plans.</a:t>
            </a:r>
          </a:p>
        </p:txBody>
      </p:sp>
      <p:sp>
        <p:nvSpPr>
          <p:cNvPr id="9" name="">
            <a:extLst xmlns:a="http://schemas.openxmlformats.org/drawingml/2006/main">
              <a:ext uri="{FF2B5EF4-FFF2-40B4-BE49-F238E27FC236}">
                <a16:creationId xmlns:a16="http://schemas.microsoft.com/office/drawing/2014/main" id="{E0F545D5-7692-47FD-B868-EC75E202B078}"/>
              </a:ext>
            </a:extLst>
          </p:cNvPr>
          <p:cNvSpPr>
            <a:spLocks xmlns:a="http://schemas.openxmlformats.org/drawingml/2006/main" noGrp="1"/>
          </p:cNvSpPr>
          <p:nvPr/>
        </p:nvSpPr>
        <p:spPr>
          <a:xfrm xmlns:a="http://schemas.openxmlformats.org/drawingml/2006/main">
            <a:off x="6429375" y="3362325"/>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Memory and repair</a:t>
            </a:r>
          </a:p>
        </p:txBody>
      </p:sp>
      <p:sp>
        <p:nvSpPr>
          <p:cNvPr id="10" name="">
            <a:extLst xmlns:a="http://schemas.openxmlformats.org/drawingml/2006/main">
              <a:ext uri="{FF2B5EF4-FFF2-40B4-BE49-F238E27FC236}">
                <a16:creationId xmlns:a16="http://schemas.microsoft.com/office/drawing/2014/main" id="{B3A8AC71-9215-4813-A299-53D239489BAA}"/>
              </a:ext>
            </a:extLst>
          </p:cNvPr>
          <p:cNvSpPr>
            <a:spLocks xmlns:a="http://schemas.openxmlformats.org/drawingml/2006/main" noGrp="1"/>
          </p:cNvSpPr>
          <p:nvPr/>
        </p:nvSpPr>
        <p:spPr>
          <a:xfrm xmlns:a="http://schemas.openxmlformats.org/drawingml/2006/main">
            <a:off x="6429375" y="3857625"/>
            <a:ext cx="5191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EAF1F5"/>
                </a:solidFill>
                <a:latin typeface="Helvetica Neue"/>
                <a:ea typeface="Helvetica Neue"/>
                <a:cs typeface="Helvetica Neue"/>
              </a:defRPr>
            </a:pPr>
            <a:r>
              <a:rPr sz="1875" b="0">
                <a:solidFill>
                  <a:srgbClr val="EAF1F5"/>
                </a:solidFill>
                <a:latin typeface="Helvetica Neue"/>
                <a:ea typeface="Helvetica Neue"/>
                <a:cs typeface="Helvetica Neue"/>
              </a:rPr>
              <a:t>Graph relationships, registries and execution history preserve context. Failed checks create repair tasks.</a:t>
            </a:r>
          </a:p>
        </p:txBody>
      </p:sp>
      <p:sp>
        <p:nvSpPr>
          <p:cNvPr id="11" name="">
            <a:extLst xmlns:a="http://schemas.openxmlformats.org/drawingml/2006/main">
              <a:ext uri="{FF2B5EF4-FFF2-40B4-BE49-F238E27FC236}">
                <a16:creationId xmlns:a16="http://schemas.microsoft.com/office/drawing/2014/main" id="{E5EC420E-DC42-45D1-A076-32D1D8F4ACC7}"/>
              </a:ext>
            </a:extLst>
          </p:cNvPr>
          <p:cNvSpPr>
            <a:spLocks xmlns:a="http://schemas.openxmlformats.org/drawingml/2006/main" noGrp="1"/>
          </p:cNvSpPr>
          <p:nvPr/>
        </p:nvSpPr>
        <p:spPr>
          <a:xfrm xmlns:a="http://schemas.openxmlformats.org/drawingml/2006/main">
            <a:off x="609600" y="558165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1">
                <a:solidFill>
                  <a:srgbClr val="56DBD0"/>
                </a:solidFill>
                <a:latin typeface="Helvetica Neue"/>
                <a:ea typeface="Helvetica Neue"/>
                <a:cs typeface="Helvetica Neue"/>
              </a:defRPr>
            </a:pPr>
            <a:r>
              <a:rPr sz="1950" b="1">
                <a:solidFill>
                  <a:srgbClr val="56DBD0"/>
                </a:solidFill>
                <a:latin typeface="Helvetica Neue"/>
                <a:ea typeface="Helvetica Neue"/>
                <a:cs typeface="Helvetica Neue"/>
              </a:rPr>
              <a:t>Current focus: repeatable execution and accepted output quality across the integrated pipeline.</a:t>
            </a:r>
          </a:p>
        </p:txBody>
      </p:sp>
    </p:spTree>
    <p:extLst>
      <p:ext uri="{BB962C8B-B14F-4D97-AF65-F5344CB8AC3E}">
        <p14:creationId xmlns:p14="http://schemas.microsoft.com/office/powerpoint/2010/main" val="1530230515"/>
      </p:ext>
    </p:extLst>
  </p:cSld>
</p:sld>
</file>

<file path=ppt/slides/slide9.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9D2BE04-4F9A-4EE9-B3D4-C9C7E37D25E5}"/>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EAF1F5"/>
                </a:solidFill>
                <a:latin typeface="Helvetica Neue"/>
                <a:ea typeface="Helvetica Neue"/>
                <a:cs typeface="Helvetica Neue"/>
              </a:defRPr>
            </a:pPr>
            <a:r>
              <a:rPr sz="3300" b="1">
                <a:solidFill>
                  <a:srgbClr val="EAF1F5"/>
                </a:solidFill>
                <a:latin typeface="Helvetica Neue"/>
                <a:ea typeface="Helvetica Neue"/>
                <a:cs typeface="Helvetica Neue"/>
              </a:rPr>
              <a:t>Video and audio are structured production</a:t>
            </a:r>
          </a:p>
        </p:txBody>
      </p:sp>
      <p:sp>
        <p:nvSpPr>
          <p:cNvPr id="2" name="">
            <a:extLst xmlns:a="http://schemas.openxmlformats.org/drawingml/2006/main">
              <a:ext uri="{FF2B5EF4-FFF2-40B4-BE49-F238E27FC236}">
                <a16:creationId xmlns:a16="http://schemas.microsoft.com/office/drawing/2014/main" id="{73B464DF-0971-4A7C-B7FB-DDED15A37606}"/>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A9BDC9"/>
                </a:solidFill>
                <a:latin typeface="Helvetica Neue"/>
                <a:ea typeface="Helvetica Neue"/>
                <a:cs typeface="Helvetica Neue"/>
              </a:defRPr>
            </a:pPr>
            <a:r>
              <a:rPr sz="1200" b="0">
                <a:solidFill>
                  <a:srgbClr val="A9BDC9"/>
                </a:solidFill>
                <a:latin typeface="Helvetica Neue"/>
                <a:ea typeface="Helvetica Neue"/>
                <a:cs typeface="Helvetica Neue"/>
              </a:rPr>
              <a:t>09</a:t>
            </a:r>
          </a:p>
        </p:txBody>
      </p:sp>
      <p:sp>
        <p:nvSpPr>
          <p:cNvPr id="3" name="">
            <a:extLst xmlns:a="http://schemas.openxmlformats.org/drawingml/2006/main">
              <a:ext uri="{FF2B5EF4-FFF2-40B4-BE49-F238E27FC236}">
                <a16:creationId xmlns:a16="http://schemas.microsoft.com/office/drawing/2014/main" id="{FDCBF9E1-6FBD-4AEF-8D8C-D94B1FFE7645}"/>
              </a:ext>
            </a:extLst>
          </p:cNvPr>
          <p:cNvSpPr>
            <a:spLocks xmlns:a="http://schemas.openxmlformats.org/drawingml/2006/main" noGrp="1"/>
          </p:cNvSpPr>
          <p:nvPr/>
        </p:nvSpPr>
        <p:spPr>
          <a:xfrm xmlns:a="http://schemas.openxmlformats.org/drawingml/2006/main">
            <a:off x="609600" y="171450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Video matrix</a:t>
            </a:r>
          </a:p>
        </p:txBody>
      </p:sp>
      <p:sp>
        <p:nvSpPr>
          <p:cNvPr id="4" name="">
            <a:extLst xmlns:a="http://schemas.openxmlformats.org/drawingml/2006/main">
              <a:ext uri="{FF2B5EF4-FFF2-40B4-BE49-F238E27FC236}">
                <a16:creationId xmlns:a16="http://schemas.microsoft.com/office/drawing/2014/main" id="{CE50FCA8-3AD2-4208-8F1D-63E9974B268C}"/>
              </a:ext>
            </a:extLst>
          </p:cNvPr>
          <p:cNvSpPr>
            <a:spLocks xmlns:a="http://schemas.openxmlformats.org/drawingml/2006/main" noGrp="1"/>
          </p:cNvSpPr>
          <p:nvPr/>
        </p:nvSpPr>
        <p:spPr>
          <a:xfrm xmlns:a="http://schemas.openxmlformats.org/drawingml/2006/main">
            <a:off x="609600" y="2209800"/>
            <a:ext cx="5191125"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EAF1F5"/>
                </a:solidFill>
                <a:latin typeface="Helvetica Neue"/>
                <a:ea typeface="Helvetica Neue"/>
                <a:cs typeface="Helvetica Neue"/>
              </a:defRPr>
            </a:pPr>
            <a:r>
              <a:rPr sz="2100" b="0">
                <a:solidFill>
                  <a:srgbClr val="EAF1F5"/>
                </a:solidFill>
                <a:latin typeface="Helvetica Neue"/>
                <a:ea typeface="Helvetica Neue"/>
                <a:cs typeface="Helvetica Neue"/>
              </a:rPr>
              <a:t>Scenes, shot intent, assets, timing, transitions and composition become explicit instructions for assembly and review.</a:t>
            </a:r>
          </a:p>
        </p:txBody>
      </p:sp>
      <p:sp>
        <p:nvSpPr>
          <p:cNvPr id="5" name="">
            <a:extLst xmlns:a="http://schemas.openxmlformats.org/drawingml/2006/main">
              <a:ext uri="{FF2B5EF4-FFF2-40B4-BE49-F238E27FC236}">
                <a16:creationId xmlns:a16="http://schemas.microsoft.com/office/drawing/2014/main" id="{5B6A809D-B796-4F27-959D-C02A316111F8}"/>
              </a:ext>
            </a:extLst>
          </p:cNvPr>
          <p:cNvSpPr>
            <a:spLocks xmlns:a="http://schemas.openxmlformats.org/drawingml/2006/main" noGrp="1"/>
          </p:cNvSpPr>
          <p:nvPr/>
        </p:nvSpPr>
        <p:spPr>
          <a:xfrm xmlns:a="http://schemas.openxmlformats.org/drawingml/2006/main">
            <a:off x="6429375" y="171450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Sound matrix</a:t>
            </a:r>
          </a:p>
        </p:txBody>
      </p:sp>
      <p:sp>
        <p:nvSpPr>
          <p:cNvPr id="6" name="">
            <a:extLst xmlns:a="http://schemas.openxmlformats.org/drawingml/2006/main">
              <a:ext uri="{FF2B5EF4-FFF2-40B4-BE49-F238E27FC236}">
                <a16:creationId xmlns:a16="http://schemas.microsoft.com/office/drawing/2014/main" id="{26A535FB-8401-4483-AA8E-B36578E82875}"/>
              </a:ext>
            </a:extLst>
          </p:cNvPr>
          <p:cNvSpPr>
            <a:spLocks xmlns:a="http://schemas.openxmlformats.org/drawingml/2006/main" noGrp="1"/>
          </p:cNvSpPr>
          <p:nvPr/>
        </p:nvSpPr>
        <p:spPr>
          <a:xfrm xmlns:a="http://schemas.openxmlformats.org/drawingml/2006/main">
            <a:off x="6429375" y="2209800"/>
            <a:ext cx="5191125"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EAF1F5"/>
                </a:solidFill>
                <a:latin typeface="Helvetica Neue"/>
                <a:ea typeface="Helvetica Neue"/>
                <a:cs typeface="Helvetica Neue"/>
              </a:defRPr>
            </a:pPr>
            <a:r>
              <a:rPr sz="2100" b="0">
                <a:solidFill>
                  <a:srgbClr val="EAF1F5"/>
                </a:solidFill>
                <a:latin typeface="Helvetica Neue"/>
                <a:ea typeface="Helvetica Neue"/>
                <a:cs typeface="Helvetica Neue"/>
              </a:rPr>
              <a:t>Narration, music and effects are separate layers with timing, synchronization, processing and mixing instructions.</a:t>
            </a:r>
          </a:p>
        </p:txBody>
      </p:sp>
      <p:sp>
        <p:nvSpPr>
          <p:cNvPr id="7" name="">
            <a:extLst xmlns:a="http://schemas.openxmlformats.org/drawingml/2006/main">
              <a:ext uri="{FF2B5EF4-FFF2-40B4-BE49-F238E27FC236}">
                <a16:creationId xmlns:a16="http://schemas.microsoft.com/office/drawing/2014/main" id="{6C2DF669-7C2A-430E-A505-8E9BBA054714}"/>
              </a:ext>
            </a:extLst>
          </p:cNvPr>
          <p:cNvSpPr>
            <a:spLocks xmlns:a="http://schemas.openxmlformats.org/drawingml/2006/main" noGrp="1"/>
          </p:cNvSpPr>
          <p:nvPr/>
        </p:nvSpPr>
        <p:spPr>
          <a:xfrm xmlns:a="http://schemas.openxmlformats.org/drawingml/2006/main">
            <a:off x="609600" y="3952875"/>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Creative direction in code</a:t>
            </a:r>
          </a:p>
        </p:txBody>
      </p:sp>
      <p:sp>
        <p:nvSpPr>
          <p:cNvPr id="8" name="">
            <a:extLst xmlns:a="http://schemas.openxmlformats.org/drawingml/2006/main">
              <a:ext uri="{FF2B5EF4-FFF2-40B4-BE49-F238E27FC236}">
                <a16:creationId xmlns:a16="http://schemas.microsoft.com/office/drawing/2014/main" id="{348A7FFC-0352-452B-A5D6-14FA69C6A60A}"/>
              </a:ext>
            </a:extLst>
          </p:cNvPr>
          <p:cNvSpPr>
            <a:spLocks xmlns:a="http://schemas.openxmlformats.org/drawingml/2006/main" noGrp="1"/>
          </p:cNvSpPr>
          <p:nvPr/>
        </p:nvSpPr>
        <p:spPr>
          <a:xfrm xmlns:a="http://schemas.openxmlformats.org/drawingml/2006/main">
            <a:off x="609600" y="4448175"/>
            <a:ext cx="5191125"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EAF1F5"/>
                </a:solidFill>
                <a:latin typeface="Helvetica Neue"/>
                <a:ea typeface="Helvetica Neue"/>
                <a:cs typeface="Helvetica Neue"/>
              </a:defRPr>
            </a:pPr>
            <a:r>
              <a:rPr sz="2025" b="0">
                <a:solidFill>
                  <a:srgbClr val="EAF1F5"/>
                </a:solidFill>
                <a:latin typeface="Helvetica Neue"/>
                <a:ea typeface="Helvetica Neue"/>
                <a:cs typeface="Helvetica Neue"/>
              </a:rPr>
              <a:t>Rules connect script intent with pacing, scene continuity, visual presentation and the audio plan.</a:t>
            </a:r>
          </a:p>
        </p:txBody>
      </p:sp>
      <p:sp>
        <p:nvSpPr>
          <p:cNvPr id="9" name="">
            <a:extLst xmlns:a="http://schemas.openxmlformats.org/drawingml/2006/main">
              <a:ext uri="{FF2B5EF4-FFF2-40B4-BE49-F238E27FC236}">
                <a16:creationId xmlns:a16="http://schemas.microsoft.com/office/drawing/2014/main" id="{27373F4C-5339-4809-BBF8-A40BF25E832E}"/>
              </a:ext>
            </a:extLst>
          </p:cNvPr>
          <p:cNvSpPr>
            <a:spLocks xmlns:a="http://schemas.openxmlformats.org/drawingml/2006/main" noGrp="1"/>
          </p:cNvSpPr>
          <p:nvPr/>
        </p:nvSpPr>
        <p:spPr>
          <a:xfrm xmlns:a="http://schemas.openxmlformats.org/drawingml/2006/main">
            <a:off x="6429375" y="3952875"/>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Current engineering work</a:t>
            </a:r>
          </a:p>
        </p:txBody>
      </p:sp>
      <p:sp>
        <p:nvSpPr>
          <p:cNvPr id="10" name="">
            <a:extLst xmlns:a="http://schemas.openxmlformats.org/drawingml/2006/main">
              <a:ext uri="{FF2B5EF4-FFF2-40B4-BE49-F238E27FC236}">
                <a16:creationId xmlns:a16="http://schemas.microsoft.com/office/drawing/2014/main" id="{C3C333FE-2648-4C38-9FBF-7D020588286F}"/>
              </a:ext>
            </a:extLst>
          </p:cNvPr>
          <p:cNvSpPr>
            <a:spLocks xmlns:a="http://schemas.openxmlformats.org/drawingml/2006/main" noGrp="1"/>
          </p:cNvSpPr>
          <p:nvPr/>
        </p:nvSpPr>
        <p:spPr>
          <a:xfrm xmlns:a="http://schemas.openxmlformats.org/drawingml/2006/main">
            <a:off x="6429375" y="4448175"/>
            <a:ext cx="5191125"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EAF1F5"/>
                </a:solidFill>
                <a:latin typeface="Helvetica Neue"/>
                <a:ea typeface="Helvetica Neue"/>
                <a:cs typeface="Helvetica Neue"/>
              </a:defRPr>
            </a:pPr>
            <a:r>
              <a:rPr sz="2025" b="0">
                <a:solidFill>
                  <a:srgbClr val="EAF1F5"/>
                </a:solidFill>
                <a:latin typeface="Helvetica Neue"/>
                <a:ea typeface="Helvetica Neue"/>
                <a:cs typeface="Helvetica Neue"/>
              </a:rPr>
              <a:t>Improve output quality, remove integration failures and make complete productions repeatable.</a:t>
            </a:r>
          </a:p>
        </p:txBody>
      </p:sp>
    </p:spTree>
    <p:extLst>
      <p:ext uri="{BB962C8B-B14F-4D97-AF65-F5344CB8AC3E}">
        <p14:creationId xmlns:p14="http://schemas.microsoft.com/office/powerpoint/2010/main" val="514997615"/>
      </p:ext>
    </p:extLst>
  </p:cSld>
</p:sld>
</file>

<file path=ppt/slides/slide10.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9BB52A34-B8AD-4BE8-B5A3-06DB0C89BEDE}"/>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EAF1F5"/>
                </a:solidFill>
                <a:latin typeface="Helvetica Neue"/>
                <a:ea typeface="Helvetica Neue"/>
                <a:cs typeface="Helvetica Neue"/>
              </a:defRPr>
            </a:pPr>
            <a:r>
              <a:rPr sz="3300" b="1">
                <a:solidFill>
                  <a:srgbClr val="EAF1F5"/>
                </a:solidFill>
                <a:latin typeface="Helvetica Neue"/>
                <a:ea typeface="Helvetica Neue"/>
                <a:cs typeface="Helvetica Neue"/>
              </a:rPr>
              <a:t>Memory turns outcomes into reusable guidance</a:t>
            </a:r>
          </a:p>
        </p:txBody>
      </p:sp>
      <p:sp>
        <p:nvSpPr>
          <p:cNvPr id="2" name="">
            <a:extLst xmlns:a="http://schemas.openxmlformats.org/drawingml/2006/main">
              <a:ext uri="{FF2B5EF4-FFF2-40B4-BE49-F238E27FC236}">
                <a16:creationId xmlns:a16="http://schemas.microsoft.com/office/drawing/2014/main" id="{49E5AB47-8E1E-4CEC-BE57-67978427D137}"/>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A9BDC9"/>
                </a:solidFill>
                <a:latin typeface="Helvetica Neue"/>
                <a:ea typeface="Helvetica Neue"/>
                <a:cs typeface="Helvetica Neue"/>
              </a:defRPr>
            </a:pPr>
            <a:r>
              <a:rPr sz="1200" b="0">
                <a:solidFill>
                  <a:srgbClr val="A9BDC9"/>
                </a:solidFill>
                <a:latin typeface="Helvetica Neue"/>
                <a:ea typeface="Helvetica Neue"/>
                <a:cs typeface="Helvetica Neue"/>
              </a:rPr>
              <a:t>10</a:t>
            </a:r>
          </a:p>
        </p:txBody>
      </p:sp>
      <p:sp>
        <p:nvSpPr>
          <p:cNvPr id="3" name="">
            <a:extLst xmlns:a="http://schemas.openxmlformats.org/drawingml/2006/main">
              <a:ext uri="{FF2B5EF4-FFF2-40B4-BE49-F238E27FC236}">
                <a16:creationId xmlns:a16="http://schemas.microsoft.com/office/drawing/2014/main" id="{3929B6E5-BC81-443C-853D-32FFBB162355}"/>
              </a:ext>
            </a:extLst>
          </p:cNvPr>
          <p:cNvSpPr>
            <a:spLocks xmlns:a="http://schemas.openxmlformats.org/drawingml/2006/main" noGrp="1"/>
          </p:cNvSpPr>
          <p:nvPr/>
        </p:nvSpPr>
        <p:spPr>
          <a:xfrm xmlns:a="http://schemas.openxmlformats.org/drawingml/2006/main">
            <a:off x="609600" y="1809750"/>
            <a:ext cx="2571750" cy="857250"/>
          </a:xfrm>
          <a:prstGeom xmlns:a="http://schemas.openxmlformats.org/drawingml/2006/main" prst="rect">
            <a:avLst/>
          </a:prstGeom>
          <a:solidFill xmlns:a="http://schemas.openxmlformats.org/drawingml/2006/main">
            <a:srgbClr val="102C3C"/>
          </a:solidFill>
          <a:ln xmlns:a="http://schemas.openxmlformats.org/drawingml/2006/main" w="11430">
            <a:solidFill>
              <a:srgbClr val="397785"/>
            </a:solidFill>
          </a:ln>
        </p:spPr>
        <p:txBody>
          <a:bodyPr xmlns:a="http://schemas.openxmlformats.org/drawingml/2006/main" lIns="114300" tIns="114300" rIns="114300" bIns="114300" anchor="ctr">
            <a:noAutofit/>
          </a:bodyPr>
          <a:lstStyle xmlns:a="http://schemas.openxmlformats.org/drawingml/2006/main"/>
          <a:p xmlns:a="http://schemas.openxmlformats.org/drawingml/2006/main">
            <a:pPr algn="ctr">
              <a:defRPr sz="1725" b="1">
                <a:solidFill>
                  <a:srgbClr val="EAF1F5"/>
                </a:solidFill>
                <a:latin typeface="Helvetica Neue"/>
                <a:ea typeface="Helvetica Neue"/>
                <a:cs typeface="Helvetica Neue"/>
              </a:defRPr>
            </a:pPr>
            <a:r>
              <a:rPr sz="1725" b="1">
                <a:solidFill>
                  <a:srgbClr val="EAF1F5"/>
                </a:solidFill>
                <a:latin typeface="Helvetica Neue"/>
                <a:ea typeface="Helvetica Neue"/>
                <a:cs typeface="Helvetica Neue"/>
              </a:rPr>
              <a:t>Record the run</a:t>
            </a:r>
          </a:p>
        </p:txBody>
      </p:sp>
      <p:sp>
        <p:nvSpPr>
          <p:cNvPr id="4" name="">
            <a:extLst xmlns:a="http://schemas.openxmlformats.org/drawingml/2006/main">
              <a:ext uri="{FF2B5EF4-FFF2-40B4-BE49-F238E27FC236}">
                <a16:creationId xmlns:a16="http://schemas.microsoft.com/office/drawing/2014/main" id="{6F1D6F9A-E06D-41D0-AFBD-89BD955131B6}"/>
              </a:ext>
            </a:extLst>
          </p:cNvPr>
          <p:cNvSpPr>
            <a:spLocks xmlns:a="http://schemas.openxmlformats.org/drawingml/2006/main" noGrp="1"/>
          </p:cNvSpPr>
          <p:nvPr/>
        </p:nvSpPr>
        <p:spPr>
          <a:xfrm xmlns:a="http://schemas.openxmlformats.org/drawingml/2006/main">
            <a:off x="3409950" y="1809750"/>
            <a:ext cx="2571750" cy="857250"/>
          </a:xfrm>
          <a:prstGeom xmlns:a="http://schemas.openxmlformats.org/drawingml/2006/main" prst="rect">
            <a:avLst/>
          </a:prstGeom>
          <a:solidFill xmlns:a="http://schemas.openxmlformats.org/drawingml/2006/main">
            <a:srgbClr val="102C3C"/>
          </a:solidFill>
          <a:ln xmlns:a="http://schemas.openxmlformats.org/drawingml/2006/main" w="11430">
            <a:solidFill>
              <a:srgbClr val="397785"/>
            </a:solidFill>
          </a:ln>
        </p:spPr>
        <p:txBody>
          <a:bodyPr xmlns:a="http://schemas.openxmlformats.org/drawingml/2006/main" lIns="114300" tIns="114300" rIns="114300" bIns="114300" anchor="ctr">
            <a:noAutofit/>
          </a:bodyPr>
          <a:lstStyle xmlns:a="http://schemas.openxmlformats.org/drawingml/2006/main"/>
          <a:p xmlns:a="http://schemas.openxmlformats.org/drawingml/2006/main">
            <a:pPr algn="ctr">
              <a:defRPr sz="1725" b="1">
                <a:solidFill>
                  <a:srgbClr val="EAF1F5"/>
                </a:solidFill>
                <a:latin typeface="Helvetica Neue"/>
                <a:ea typeface="Helvetica Neue"/>
                <a:cs typeface="Helvetica Neue"/>
              </a:defRPr>
            </a:pPr>
            <a:r>
              <a:rPr sz="1725" b="1">
                <a:solidFill>
                  <a:srgbClr val="EAF1F5"/>
                </a:solidFill>
                <a:latin typeface="Helvetica Neue"/>
                <a:ea typeface="Helvetica Neue"/>
                <a:cs typeface="Helvetica Neue"/>
              </a:rPr>
              <a:t>Evaluate results</a:t>
            </a:r>
          </a:p>
        </p:txBody>
      </p:sp>
      <p:sp>
        <p:nvSpPr>
          <p:cNvPr id="5" name="">
            <a:extLst xmlns:a="http://schemas.openxmlformats.org/drawingml/2006/main">
              <a:ext uri="{FF2B5EF4-FFF2-40B4-BE49-F238E27FC236}">
                <a16:creationId xmlns:a16="http://schemas.microsoft.com/office/drawing/2014/main" id="{B2802DF4-2FEB-4F2F-9BDA-61DDFE995924}"/>
              </a:ext>
            </a:extLst>
          </p:cNvPr>
          <p:cNvSpPr>
            <a:spLocks xmlns:a="http://schemas.openxmlformats.org/drawingml/2006/main" noGrp="1"/>
          </p:cNvSpPr>
          <p:nvPr/>
        </p:nvSpPr>
        <p:spPr>
          <a:xfrm xmlns:a="http://schemas.openxmlformats.org/drawingml/2006/main">
            <a:off x="6210300" y="1809750"/>
            <a:ext cx="2571750" cy="857250"/>
          </a:xfrm>
          <a:prstGeom xmlns:a="http://schemas.openxmlformats.org/drawingml/2006/main" prst="rect">
            <a:avLst/>
          </a:prstGeom>
          <a:solidFill xmlns:a="http://schemas.openxmlformats.org/drawingml/2006/main">
            <a:srgbClr val="102C3C"/>
          </a:solidFill>
          <a:ln xmlns:a="http://schemas.openxmlformats.org/drawingml/2006/main" w="11430">
            <a:solidFill>
              <a:srgbClr val="397785"/>
            </a:solidFill>
          </a:ln>
        </p:spPr>
        <p:txBody>
          <a:bodyPr xmlns:a="http://schemas.openxmlformats.org/drawingml/2006/main" lIns="114300" tIns="114300" rIns="114300" bIns="114300" anchor="ctr">
            <a:noAutofit/>
          </a:bodyPr>
          <a:lstStyle xmlns:a="http://schemas.openxmlformats.org/drawingml/2006/main"/>
          <a:p xmlns:a="http://schemas.openxmlformats.org/drawingml/2006/main">
            <a:pPr algn="ctr">
              <a:defRPr sz="1725" b="1">
                <a:solidFill>
                  <a:srgbClr val="EAF1F5"/>
                </a:solidFill>
                <a:latin typeface="Helvetica Neue"/>
                <a:ea typeface="Helvetica Neue"/>
                <a:cs typeface="Helvetica Neue"/>
              </a:defRPr>
            </a:pPr>
            <a:r>
              <a:rPr sz="1725" b="1">
                <a:solidFill>
                  <a:srgbClr val="EAF1F5"/>
                </a:solidFill>
                <a:latin typeface="Helvetica Neue"/>
                <a:ea typeface="Helvetica Neue"/>
                <a:cs typeface="Helvetica Neue"/>
              </a:rPr>
              <a:t>Create repair tasks</a:t>
            </a:r>
          </a:p>
        </p:txBody>
      </p:sp>
      <p:sp>
        <p:nvSpPr>
          <p:cNvPr id="6" name="">
            <a:extLst xmlns:a="http://schemas.openxmlformats.org/drawingml/2006/main">
              <a:ext uri="{FF2B5EF4-FFF2-40B4-BE49-F238E27FC236}">
                <a16:creationId xmlns:a16="http://schemas.microsoft.com/office/drawing/2014/main" id="{297BF643-4212-4D6C-9DE3-58E128A55403}"/>
              </a:ext>
            </a:extLst>
          </p:cNvPr>
          <p:cNvSpPr>
            <a:spLocks xmlns:a="http://schemas.openxmlformats.org/drawingml/2006/main" noGrp="1"/>
          </p:cNvSpPr>
          <p:nvPr/>
        </p:nvSpPr>
        <p:spPr>
          <a:xfrm xmlns:a="http://schemas.openxmlformats.org/drawingml/2006/main">
            <a:off x="9010650" y="1809750"/>
            <a:ext cx="2571750" cy="857250"/>
          </a:xfrm>
          <a:prstGeom xmlns:a="http://schemas.openxmlformats.org/drawingml/2006/main" prst="rect">
            <a:avLst/>
          </a:prstGeom>
          <a:solidFill xmlns:a="http://schemas.openxmlformats.org/drawingml/2006/main">
            <a:srgbClr val="102C3C"/>
          </a:solidFill>
          <a:ln xmlns:a="http://schemas.openxmlformats.org/drawingml/2006/main" w="11430">
            <a:solidFill>
              <a:srgbClr val="397785"/>
            </a:solidFill>
          </a:ln>
        </p:spPr>
        <p:txBody>
          <a:bodyPr xmlns:a="http://schemas.openxmlformats.org/drawingml/2006/main" lIns="114300" tIns="114300" rIns="114300" bIns="114300" anchor="ctr">
            <a:noAutofit/>
          </a:bodyPr>
          <a:lstStyle xmlns:a="http://schemas.openxmlformats.org/drawingml/2006/main"/>
          <a:p xmlns:a="http://schemas.openxmlformats.org/drawingml/2006/main">
            <a:pPr algn="ctr">
              <a:defRPr sz="1725" b="1">
                <a:solidFill>
                  <a:srgbClr val="EAF1F5"/>
                </a:solidFill>
                <a:latin typeface="Helvetica Neue"/>
                <a:ea typeface="Helvetica Neue"/>
                <a:cs typeface="Helvetica Neue"/>
              </a:defRPr>
            </a:pPr>
            <a:r>
              <a:rPr sz="1725" b="1">
                <a:solidFill>
                  <a:srgbClr val="EAF1F5"/>
                </a:solidFill>
                <a:latin typeface="Helvetica Neue"/>
                <a:ea typeface="Helvetica Neue"/>
                <a:cs typeface="Helvetica Neue"/>
              </a:rPr>
              <a:t>Reuse verified lessons</a:t>
            </a:r>
          </a:p>
        </p:txBody>
      </p:sp>
      <p:cxnSp>
        <p:nvCxnSpPr>
          <p:cNvPr id="21" name=""/>
          <p:cNvCxnSpPr>
            <a:stCxn xmlns:a="http://schemas.openxmlformats.org/drawingml/2006/main" id="3" idx="3"/>
            <a:endCxn xmlns:a="http://schemas.openxmlformats.org/drawingml/2006/main" id="4" idx="1"/>
          </p:cNvCxnSpPr>
          <p:nvPr/>
        </p:nvCxnSpPr>
        <p:spPr>
          <a:xfrm xmlns:a="http://schemas.openxmlformats.org/drawingml/2006/main">
            <a:off x="3181350" y="2238375"/>
            <a:ext cx="228600" cy="0"/>
          </a:xfrm>
          <a:prstGeom xmlns:a="http://schemas.openxmlformats.org/drawingml/2006/main" prst="straightConnector1">
            <a:avLst/>
          </a:prstGeom>
          <a:ln xmlns:a="http://schemas.openxmlformats.org/drawingml/2006/main" w="23813">
            <a:solidFill>
              <a:srgbClr val="56DBD0"/>
            </a:solidFill>
            <a:tailEnd type="arrow" w="med" len="med"/>
          </a:ln>
        </p:spPr>
      </p:cxnSp>
      <p:cxnSp>
        <p:nvCxnSpPr>
          <p:cNvPr id="22" name=""/>
          <p:cNvCxnSpPr>
            <a:stCxn xmlns:a="http://schemas.openxmlformats.org/drawingml/2006/main" id="4" idx="3"/>
            <a:endCxn xmlns:a="http://schemas.openxmlformats.org/drawingml/2006/main" id="5" idx="1"/>
          </p:cNvCxnSpPr>
          <p:nvPr/>
        </p:nvCxnSpPr>
        <p:spPr>
          <a:xfrm xmlns:a="http://schemas.openxmlformats.org/drawingml/2006/main">
            <a:off x="5981700" y="2238375"/>
            <a:ext cx="228600" cy="0"/>
          </a:xfrm>
          <a:prstGeom xmlns:a="http://schemas.openxmlformats.org/drawingml/2006/main" prst="straightConnector1">
            <a:avLst/>
          </a:prstGeom>
          <a:ln xmlns:a="http://schemas.openxmlformats.org/drawingml/2006/main" w="23813">
            <a:solidFill>
              <a:srgbClr val="56DBD0"/>
            </a:solidFill>
            <a:tailEnd type="arrow" w="med" len="med"/>
          </a:ln>
        </p:spPr>
      </p:cxnSp>
      <p:cxnSp>
        <p:nvCxnSpPr>
          <p:cNvPr id="23" name=""/>
          <p:cNvCxnSpPr>
            <a:stCxn xmlns:a="http://schemas.openxmlformats.org/drawingml/2006/main" id="5" idx="3"/>
            <a:endCxn xmlns:a="http://schemas.openxmlformats.org/drawingml/2006/main" id="6" idx="1"/>
          </p:cNvCxnSpPr>
          <p:nvPr/>
        </p:nvCxnSpPr>
        <p:spPr>
          <a:xfrm xmlns:a="http://schemas.openxmlformats.org/drawingml/2006/main">
            <a:off x="8782050" y="2238375"/>
            <a:ext cx="228600" cy="0"/>
          </a:xfrm>
          <a:prstGeom xmlns:a="http://schemas.openxmlformats.org/drawingml/2006/main" prst="straightConnector1">
            <a:avLst/>
          </a:prstGeom>
          <a:ln xmlns:a="http://schemas.openxmlformats.org/drawingml/2006/main" w="23813">
            <a:solidFill>
              <a:srgbClr val="56DBD0"/>
            </a:solidFill>
            <a:tailEnd type="arrow" w="med" len="med"/>
          </a:ln>
        </p:spPr>
      </p:cxnSp>
      <p:sp>
        <p:nvSpPr>
          <p:cNvPr id="10" name="">
            <a:extLst xmlns:a="http://schemas.openxmlformats.org/drawingml/2006/main">
              <a:ext uri="{FF2B5EF4-FFF2-40B4-BE49-F238E27FC236}">
                <a16:creationId xmlns:a16="http://schemas.microsoft.com/office/drawing/2014/main" id="{68D0A0B6-1C1A-429A-8E71-D9C3250C6311}"/>
              </a:ext>
            </a:extLst>
          </p:cNvPr>
          <p:cNvSpPr>
            <a:spLocks xmlns:a="http://schemas.openxmlformats.org/drawingml/2006/main" noGrp="1"/>
          </p:cNvSpPr>
          <p:nvPr/>
        </p:nvSpPr>
        <p:spPr>
          <a:xfrm xmlns:a="http://schemas.openxmlformats.org/drawingml/2006/main">
            <a:off x="609600" y="3400425"/>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Persistent context</a:t>
            </a:r>
          </a:p>
        </p:txBody>
      </p:sp>
      <p:sp>
        <p:nvSpPr>
          <p:cNvPr id="11" name="">
            <a:extLst xmlns:a="http://schemas.openxmlformats.org/drawingml/2006/main">
              <a:ext uri="{FF2B5EF4-FFF2-40B4-BE49-F238E27FC236}">
                <a16:creationId xmlns:a16="http://schemas.microsoft.com/office/drawing/2014/main" id="{72F8DF5E-0847-4776-9C24-E18249050FEB}"/>
              </a:ext>
            </a:extLst>
          </p:cNvPr>
          <p:cNvSpPr>
            <a:spLocks xmlns:a="http://schemas.openxmlformats.org/drawingml/2006/main" noGrp="1"/>
          </p:cNvSpPr>
          <p:nvPr/>
        </p:nvSpPr>
        <p:spPr>
          <a:xfrm xmlns:a="http://schemas.openxmlformats.org/drawingml/2006/main">
            <a:off x="609600" y="3895725"/>
            <a:ext cx="5191125"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EAF1F5"/>
                </a:solidFill>
                <a:latin typeface="Helvetica Neue"/>
                <a:ea typeface="Helvetica Neue"/>
                <a:cs typeface="Helvetica Neue"/>
              </a:defRPr>
            </a:pPr>
            <a:r>
              <a:rPr sz="2025" b="0">
                <a:solidFill>
                  <a:srgbClr val="EAF1F5"/>
                </a:solidFill>
                <a:latin typeface="Helvetica Neue"/>
                <a:ea typeface="Helvetica Neue"/>
                <a:cs typeface="Helvetica Neue"/>
              </a:rPr>
              <a:t>Graph relationships, task records, accepted versions, errors and decisions remain available across runs.</a:t>
            </a:r>
          </a:p>
        </p:txBody>
      </p:sp>
      <p:sp>
        <p:nvSpPr>
          <p:cNvPr id="12" name="">
            <a:extLst xmlns:a="http://schemas.openxmlformats.org/drawingml/2006/main">
              <a:ext uri="{FF2B5EF4-FFF2-40B4-BE49-F238E27FC236}">
                <a16:creationId xmlns:a16="http://schemas.microsoft.com/office/drawing/2014/main" id="{07E81B7A-FF6D-413D-9AE0-23BBC4AAB8A5}"/>
              </a:ext>
            </a:extLst>
          </p:cNvPr>
          <p:cNvSpPr>
            <a:spLocks xmlns:a="http://schemas.openxmlformats.org/drawingml/2006/main" noGrp="1"/>
          </p:cNvSpPr>
          <p:nvPr/>
        </p:nvSpPr>
        <p:spPr>
          <a:xfrm xmlns:a="http://schemas.openxmlformats.org/drawingml/2006/main">
            <a:off x="6429375" y="3400425"/>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Controlled improvement</a:t>
            </a:r>
          </a:p>
        </p:txBody>
      </p:sp>
      <p:sp>
        <p:nvSpPr>
          <p:cNvPr id="13" name="">
            <a:extLst xmlns:a="http://schemas.openxmlformats.org/drawingml/2006/main">
              <a:ext uri="{FF2B5EF4-FFF2-40B4-BE49-F238E27FC236}">
                <a16:creationId xmlns:a16="http://schemas.microsoft.com/office/drawing/2014/main" id="{C1083580-3B7E-430A-AC84-C2F6B8B406F7}"/>
              </a:ext>
            </a:extLst>
          </p:cNvPr>
          <p:cNvSpPr>
            <a:spLocks xmlns:a="http://schemas.openxmlformats.org/drawingml/2006/main" noGrp="1"/>
          </p:cNvSpPr>
          <p:nvPr/>
        </p:nvSpPr>
        <p:spPr>
          <a:xfrm xmlns:a="http://schemas.openxmlformats.org/drawingml/2006/main">
            <a:off x="6429375" y="3895725"/>
            <a:ext cx="5191125"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EAF1F5"/>
                </a:solidFill>
                <a:latin typeface="Helvetica Neue"/>
                <a:ea typeface="Helvetica Neue"/>
                <a:cs typeface="Helvetica Neue"/>
              </a:defRPr>
            </a:pPr>
            <a:r>
              <a:rPr sz="2025" b="0">
                <a:solidFill>
                  <a:srgbClr val="EAF1F5"/>
                </a:solidFill>
                <a:latin typeface="Helvetica Neue"/>
                <a:ea typeface="Helvetica Neue"/>
                <a:cs typeface="Helvetica Neue"/>
              </a:rPr>
              <a:t>Production feedback and competitor analysis inform later planning, rules and execution guidance.</a:t>
            </a:r>
          </a:p>
        </p:txBody>
      </p:sp>
      <p:sp>
        <p:nvSpPr>
          <p:cNvPr id="14" name="">
            <a:extLst xmlns:a="http://schemas.openxmlformats.org/drawingml/2006/main">
              <a:ext uri="{FF2B5EF4-FFF2-40B4-BE49-F238E27FC236}">
                <a16:creationId xmlns:a16="http://schemas.microsoft.com/office/drawing/2014/main" id="{B7A52397-35EC-4D0E-8948-B8F38FB749C3}"/>
              </a:ext>
            </a:extLst>
          </p:cNvPr>
          <p:cNvSpPr>
            <a:spLocks xmlns:a="http://schemas.openxmlformats.org/drawingml/2006/main" noGrp="1"/>
          </p:cNvSpPr>
          <p:nvPr/>
        </p:nvSpPr>
        <p:spPr>
          <a:xfrm xmlns:a="http://schemas.openxmlformats.org/drawingml/2006/main">
            <a:off x="609600" y="5724525"/>
            <a:ext cx="10953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1">
                <a:solidFill>
                  <a:srgbClr val="56DBD0"/>
                </a:solidFill>
                <a:latin typeface="Helvetica Neue"/>
                <a:ea typeface="Helvetica Neue"/>
                <a:cs typeface="Helvetica Neue"/>
              </a:defRPr>
            </a:pPr>
            <a:r>
              <a:rPr sz="1950" b="1">
                <a:solidFill>
                  <a:srgbClr val="56DBD0"/>
                </a:solidFill>
                <a:latin typeface="Helvetica Neue"/>
                <a:ea typeface="Helvetica Neue"/>
                <a:cs typeface="Helvetica Neue"/>
              </a:rPr>
              <a:t>Self-improvement means better operational decisions and reusable experience; gains must be measured.</a:t>
            </a:r>
          </a:p>
        </p:txBody>
      </p:sp>
    </p:spTree>
    <p:extLst>
      <p:ext uri="{BB962C8B-B14F-4D97-AF65-F5344CB8AC3E}">
        <p14:creationId xmlns:p14="http://schemas.microsoft.com/office/powerpoint/2010/main" val="289537193"/>
      </p:ext>
    </p:extLst>
  </p:cSld>
</p:sld>
</file>

<file path=ppt/slides/slide11.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C3BDC252-F487-4071-9388-C5EEDD7396C4}"/>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FFFFFF"/>
                </a:solidFill>
                <a:latin typeface="Helvetica Neue"/>
                <a:ea typeface="Helvetica Neue"/>
                <a:cs typeface="Helvetica Neue"/>
              </a:defRPr>
            </a:pPr>
            <a:r>
              <a:rPr sz="3300" b="1">
                <a:solidFill>
                  <a:srgbClr val="FFFFFF"/>
                </a:solidFill>
                <a:latin typeface="Helvetica Neue"/>
                <a:ea typeface="Helvetica Neue"/>
                <a:cs typeface="Helvetica Neue"/>
              </a:rPr>
              <a:t>Station controls distributed execution</a:t>
            </a:r>
          </a:p>
        </p:txBody>
      </p:sp>
      <p:sp>
        <p:nvSpPr>
          <p:cNvPr id="2" name="">
            <a:extLst xmlns:a="http://schemas.openxmlformats.org/drawingml/2006/main">
              <a:ext uri="{FF2B5EF4-FFF2-40B4-BE49-F238E27FC236}">
                <a16:creationId xmlns:a16="http://schemas.microsoft.com/office/drawing/2014/main" id="{BA788BC3-C0EF-4B5B-9ED8-238389854085}"/>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B5C4CD"/>
                </a:solidFill>
                <a:latin typeface="Helvetica Neue"/>
                <a:ea typeface="Helvetica Neue"/>
                <a:cs typeface="Helvetica Neue"/>
              </a:defRPr>
            </a:pPr>
            <a:r>
              <a:rPr sz="1200" b="0">
                <a:solidFill>
                  <a:srgbClr val="B5C4CD"/>
                </a:solidFill>
                <a:latin typeface="Helvetica Neue"/>
                <a:ea typeface="Helvetica Neue"/>
                <a:cs typeface="Helvetica Neue"/>
              </a:rPr>
              <a:t>11</a:t>
            </a:r>
          </a:p>
        </p:txBody>
      </p:sp>
      <p:sp>
        <p:nvSpPr>
          <p:cNvPr id="3" name="">
            <a:extLst xmlns:a="http://schemas.openxmlformats.org/drawingml/2006/main">
              <a:ext uri="{FF2B5EF4-FFF2-40B4-BE49-F238E27FC236}">
                <a16:creationId xmlns:a16="http://schemas.microsoft.com/office/drawing/2014/main" id="{A979FEDA-2393-4C31-A88D-6B2C4901F268}"/>
              </a:ext>
            </a:extLst>
          </p:cNvPr>
          <p:cNvSpPr>
            <a:spLocks xmlns:a="http://schemas.openxmlformats.org/drawingml/2006/main" noGrp="1"/>
          </p:cNvSpPr>
          <p:nvPr/>
        </p:nvSpPr>
        <p:spPr>
          <a:xfrm xmlns:a="http://schemas.openxmlformats.org/drawingml/2006/main">
            <a:off x="609600" y="1600200"/>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FFFFFF"/>
                </a:solidFill>
                <a:latin typeface="Helvetica Neue"/>
                <a:ea typeface="Helvetica Neue"/>
                <a:cs typeface="Helvetica Neue"/>
              </a:defRPr>
            </a:pPr>
            <a:r>
              <a:rPr sz="2775" b="1">
                <a:solidFill>
                  <a:srgbClr val="FFFFFF"/>
                </a:solidFill>
                <a:latin typeface="Helvetica Neue"/>
                <a:ea typeface="Helvetica Neue"/>
                <a:cs typeface="Helvetica Neue"/>
              </a:rPr>
              <a:t>Python orchestration core</a:t>
            </a:r>
          </a:p>
        </p:txBody>
      </p:sp>
      <p:sp>
        <p:nvSpPr>
          <p:cNvPr id="4" name="">
            <a:extLst xmlns:a="http://schemas.openxmlformats.org/drawingml/2006/main">
              <a:ext uri="{FF2B5EF4-FFF2-40B4-BE49-F238E27FC236}">
                <a16:creationId xmlns:a16="http://schemas.microsoft.com/office/drawing/2014/main" id="{B59D96C2-9247-4F42-80A2-5B430AC9C812}"/>
              </a:ext>
            </a:extLst>
          </p:cNvPr>
          <p:cNvSpPr>
            <a:spLocks xmlns:a="http://schemas.openxmlformats.org/drawingml/2006/main" noGrp="1"/>
          </p:cNvSpPr>
          <p:nvPr/>
        </p:nvSpPr>
        <p:spPr>
          <a:xfrm xmlns:a="http://schemas.openxmlformats.org/drawingml/2006/main">
            <a:off x="609600" y="2295525"/>
            <a:ext cx="104775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B5C4CD"/>
                </a:solidFill>
                <a:latin typeface="Helvetica Neue"/>
                <a:ea typeface="Helvetica Neue"/>
                <a:cs typeface="Helvetica Neue"/>
              </a:defRPr>
            </a:pPr>
            <a:r>
              <a:rPr sz="2175" b="0">
                <a:solidFill>
                  <a:srgbClr val="B5C4CD"/>
                </a:solidFill>
                <a:latin typeface="Helvetica Neue"/>
                <a:ea typeface="Helvetica Neue"/>
                <a:cs typeface="Helvetica Neue"/>
              </a:rPr>
              <a:t>Task admission, persistent memory, registries and production state remain under the central workstation.</a:t>
            </a:r>
          </a:p>
        </p:txBody>
      </p:sp>
      <p:sp>
        <p:nvSpPr>
          <p:cNvPr id="5" name="">
            <a:extLst xmlns:a="http://schemas.openxmlformats.org/drawingml/2006/main">
              <a:ext uri="{FF2B5EF4-FFF2-40B4-BE49-F238E27FC236}">
                <a16:creationId xmlns:a16="http://schemas.microsoft.com/office/drawing/2014/main" id="{B3F75CF7-0E44-41AB-8A10-995DC1256FA7}"/>
              </a:ext>
            </a:extLst>
          </p:cNvPr>
          <p:cNvSpPr>
            <a:spLocks xmlns:a="http://schemas.openxmlformats.org/drawingml/2006/main" noGrp="1"/>
          </p:cNvSpPr>
          <p:nvPr/>
        </p:nvSpPr>
        <p:spPr>
          <a:xfrm xmlns:a="http://schemas.openxmlformats.org/drawingml/2006/main">
            <a:off x="609600" y="3476625"/>
            <a:ext cx="3429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Station</a:t>
            </a:r>
          </a:p>
        </p:txBody>
      </p:sp>
      <p:sp>
        <p:nvSpPr>
          <p:cNvPr id="6" name="">
            <a:extLst xmlns:a="http://schemas.openxmlformats.org/drawingml/2006/main">
              <a:ext uri="{FF2B5EF4-FFF2-40B4-BE49-F238E27FC236}">
                <a16:creationId xmlns:a16="http://schemas.microsoft.com/office/drawing/2014/main" id="{A976D4CC-AA05-43D8-A084-021CCFD8DACB}"/>
              </a:ext>
            </a:extLst>
          </p:cNvPr>
          <p:cNvSpPr>
            <a:spLocks xmlns:a="http://schemas.openxmlformats.org/drawingml/2006/main" noGrp="1"/>
          </p:cNvSpPr>
          <p:nvPr/>
        </p:nvSpPr>
        <p:spPr>
          <a:xfrm xmlns:a="http://schemas.openxmlformats.org/drawingml/2006/main">
            <a:off x="609600" y="3971925"/>
            <a:ext cx="3429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FFFFFF"/>
                </a:solidFill>
                <a:latin typeface="Helvetica Neue"/>
                <a:ea typeface="Helvetica Neue"/>
                <a:cs typeface="Helvetica Neue"/>
              </a:defRPr>
            </a:pPr>
            <a:r>
              <a:rPr sz="1875" b="0">
                <a:solidFill>
                  <a:srgbClr val="FFFFFF"/>
                </a:solidFill>
                <a:latin typeface="Helvetica Neue"/>
                <a:ea typeface="Helvetica Neue"/>
                <a:cs typeface="Helvetica Neue"/>
              </a:rPr>
              <a:t>RTX 5070 Ti workstation</a:t>
            </a:r>
          </a:p>
          <a:p xmlns:a="http://schemas.openxmlformats.org/drawingml/2006/main">
            <a:pPr algn="l">
              <a:defRPr sz="1875" b="0">
                <a:solidFill>
                  <a:srgbClr val="FFFFFF"/>
                </a:solidFill>
                <a:latin typeface="Helvetica Neue"/>
                <a:ea typeface="Helvetica Neue"/>
                <a:cs typeface="Helvetica Neue"/>
              </a:defRPr>
            </a:pPr>
            <a:r>
              <a:rPr sz="1875" b="0">
                <a:solidFill>
                  <a:srgbClr val="FFFFFF"/>
                </a:solidFill>
                <a:latin typeface="Helvetica Neue"/>
                <a:ea typeface="Helvetica Neue"/>
                <a:cs typeface="Helvetica Neue"/>
              </a:rPr>
              <a:t>Owns queues and orchestration</a:t>
            </a:r>
          </a:p>
          <a:p xmlns:a="http://schemas.openxmlformats.org/drawingml/2006/main">
            <a:pPr algn="l">
              <a:defRPr sz="1875" b="0">
                <a:solidFill>
                  <a:srgbClr val="FFFFFF"/>
                </a:solidFill>
                <a:latin typeface="Helvetica Neue"/>
                <a:ea typeface="Helvetica Neue"/>
                <a:cs typeface="Helvetica Neue"/>
              </a:defRPr>
            </a:pPr>
            <a:r>
              <a:rPr sz="1875" b="0">
                <a:solidFill>
                  <a:srgbClr val="FFFFFF"/>
                </a:solidFill>
                <a:latin typeface="Helvetica Neue"/>
                <a:ea typeface="Helvetica Neue"/>
                <a:cs typeface="Helvetica Neue"/>
              </a:rPr>
              <a:t>Runs local computation</a:t>
            </a:r>
          </a:p>
        </p:txBody>
      </p:sp>
      <p:sp>
        <p:nvSpPr>
          <p:cNvPr id="7" name="">
            <a:extLst xmlns:a="http://schemas.openxmlformats.org/drawingml/2006/main">
              <a:ext uri="{FF2B5EF4-FFF2-40B4-BE49-F238E27FC236}">
                <a16:creationId xmlns:a16="http://schemas.microsoft.com/office/drawing/2014/main" id="{90C83506-F967-4DB5-BBAD-AC90E10EFA94}"/>
              </a:ext>
            </a:extLst>
          </p:cNvPr>
          <p:cNvSpPr>
            <a:spLocks xmlns:a="http://schemas.openxmlformats.org/drawingml/2006/main" noGrp="1"/>
          </p:cNvSpPr>
          <p:nvPr/>
        </p:nvSpPr>
        <p:spPr>
          <a:xfrm xmlns:a="http://schemas.openxmlformats.org/drawingml/2006/main">
            <a:off x="4429125" y="34766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Windows laptop</a:t>
            </a:r>
          </a:p>
        </p:txBody>
      </p:sp>
      <p:sp>
        <p:nvSpPr>
          <p:cNvPr id="8" name="">
            <a:extLst xmlns:a="http://schemas.openxmlformats.org/drawingml/2006/main">
              <a:ext uri="{FF2B5EF4-FFF2-40B4-BE49-F238E27FC236}">
                <a16:creationId xmlns:a16="http://schemas.microsoft.com/office/drawing/2014/main" id="{B6345085-77E0-460F-BE4D-A8ACE6CC3E9A}"/>
              </a:ext>
            </a:extLst>
          </p:cNvPr>
          <p:cNvSpPr>
            <a:spLocks xmlns:a="http://schemas.openxmlformats.org/drawingml/2006/main" noGrp="1"/>
          </p:cNvSpPr>
          <p:nvPr/>
        </p:nvSpPr>
        <p:spPr>
          <a:xfrm xmlns:a="http://schemas.openxmlformats.org/drawingml/2006/main">
            <a:off x="4429125" y="3971925"/>
            <a:ext cx="33337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FFFFFF"/>
                </a:solidFill>
                <a:latin typeface="Helvetica Neue"/>
                <a:ea typeface="Helvetica Neue"/>
                <a:cs typeface="Helvetica Neue"/>
              </a:defRPr>
            </a:pPr>
            <a:r>
              <a:rPr sz="1875" b="0">
                <a:solidFill>
                  <a:srgbClr val="FFFFFF"/>
                </a:solidFill>
                <a:latin typeface="Helvetica Neue"/>
                <a:ea typeface="Helvetica Neue"/>
                <a:cs typeface="Helvetica Neue"/>
              </a:rPr>
              <a:t>Receives admitted tasks</a:t>
            </a:r>
          </a:p>
          <a:p xmlns:a="http://schemas.openxmlformats.org/drawingml/2006/main">
            <a:pPr algn="l">
              <a:defRPr sz="1875" b="0">
                <a:solidFill>
                  <a:srgbClr val="FFFFFF"/>
                </a:solidFill>
                <a:latin typeface="Helvetica Neue"/>
                <a:ea typeface="Helvetica Neue"/>
                <a:cs typeface="Helvetica Neue"/>
              </a:defRPr>
            </a:pPr>
            <a:r>
              <a:rPr sz="1875" b="0">
                <a:solidFill>
                  <a:srgbClr val="FFFFFF"/>
                </a:solidFill>
                <a:latin typeface="Helvetica Neue"/>
                <a:ea typeface="Helvetica Neue"/>
                <a:cs typeface="Helvetica Neue"/>
              </a:rPr>
              <a:t>Returns verified results</a:t>
            </a:r>
          </a:p>
          <a:p xmlns:a="http://schemas.openxmlformats.org/drawingml/2006/main">
            <a:pPr algn="l">
              <a:defRPr sz="1875" b="0">
                <a:solidFill>
                  <a:srgbClr val="FFFFFF"/>
                </a:solidFill>
                <a:latin typeface="Helvetica Neue"/>
                <a:ea typeface="Helvetica Neue"/>
                <a:cs typeface="Helvetica Neue"/>
              </a:defRPr>
            </a:pPr>
            <a:r>
              <a:rPr sz="1875" b="0">
                <a:solidFill>
                  <a:srgbClr val="FFFFFF"/>
                </a:solidFill>
                <a:latin typeface="Helvetica Neue"/>
                <a:ea typeface="Helvetica Neue"/>
                <a:cs typeface="Helvetica Neue"/>
              </a:rPr>
              <a:t>Bounded inference helper</a:t>
            </a:r>
          </a:p>
        </p:txBody>
      </p:sp>
      <p:sp>
        <p:nvSpPr>
          <p:cNvPr id="9" name="">
            <a:extLst xmlns:a="http://schemas.openxmlformats.org/drawingml/2006/main">
              <a:ext uri="{FF2B5EF4-FFF2-40B4-BE49-F238E27FC236}">
                <a16:creationId xmlns:a16="http://schemas.microsoft.com/office/drawing/2014/main" id="{F3C9052B-54D1-447E-96C7-2376E5FC3068}"/>
              </a:ext>
            </a:extLst>
          </p:cNvPr>
          <p:cNvSpPr>
            <a:spLocks xmlns:a="http://schemas.openxmlformats.org/drawingml/2006/main" noGrp="1"/>
          </p:cNvSpPr>
          <p:nvPr/>
        </p:nvSpPr>
        <p:spPr>
          <a:xfrm xmlns:a="http://schemas.openxmlformats.org/drawingml/2006/main">
            <a:off x="8248650" y="34766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MacBook</a:t>
            </a:r>
          </a:p>
        </p:txBody>
      </p:sp>
      <p:sp>
        <p:nvSpPr>
          <p:cNvPr id="10" name="">
            <a:extLst xmlns:a="http://schemas.openxmlformats.org/drawingml/2006/main">
              <a:ext uri="{FF2B5EF4-FFF2-40B4-BE49-F238E27FC236}">
                <a16:creationId xmlns:a16="http://schemas.microsoft.com/office/drawing/2014/main" id="{56D9D7BB-7C31-4DA3-BD11-64B48366CCDA}"/>
              </a:ext>
            </a:extLst>
          </p:cNvPr>
          <p:cNvSpPr>
            <a:spLocks xmlns:a="http://schemas.openxmlformats.org/drawingml/2006/main" noGrp="1"/>
          </p:cNvSpPr>
          <p:nvPr/>
        </p:nvSpPr>
        <p:spPr>
          <a:xfrm xmlns:a="http://schemas.openxmlformats.org/drawingml/2006/main">
            <a:off x="8248650" y="3971925"/>
            <a:ext cx="33337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FFFFFF"/>
                </a:solidFill>
                <a:latin typeface="Helvetica Neue"/>
                <a:ea typeface="Helvetica Neue"/>
                <a:cs typeface="Helvetica Neue"/>
              </a:defRPr>
            </a:pPr>
            <a:r>
              <a:rPr sz="1875" b="0">
                <a:solidFill>
                  <a:srgbClr val="FFFFFF"/>
                </a:solidFill>
                <a:latin typeface="Helvetica Neue"/>
                <a:ea typeface="Helvetica Neue"/>
                <a:cs typeface="Helvetica Neue"/>
              </a:rPr>
              <a:t>Development and client work</a:t>
            </a:r>
          </a:p>
          <a:p xmlns:a="http://schemas.openxmlformats.org/drawingml/2006/main">
            <a:pPr algn="l">
              <a:defRPr sz="1875" b="0">
                <a:solidFill>
                  <a:srgbClr val="FFFFFF"/>
                </a:solidFill>
                <a:latin typeface="Helvetica Neue"/>
                <a:ea typeface="Helvetica Neue"/>
                <a:cs typeface="Helvetica Neue"/>
              </a:defRPr>
            </a:pPr>
            <a:r>
              <a:rPr sz="1875" b="0">
                <a:solidFill>
                  <a:srgbClr val="FFFFFF"/>
                </a:solidFill>
                <a:latin typeface="Helvetica Neue"/>
                <a:ea typeface="Helvetica Neue"/>
                <a:cs typeface="Helvetica Neue"/>
              </a:rPr>
              <a:t>Receives bounded jobs</a:t>
            </a:r>
          </a:p>
          <a:p xmlns:a="http://schemas.openxmlformats.org/drawingml/2006/main">
            <a:pPr algn="l">
              <a:defRPr sz="1875" b="0">
                <a:solidFill>
                  <a:srgbClr val="FFFFFF"/>
                </a:solidFill>
                <a:latin typeface="Helvetica Neue"/>
                <a:ea typeface="Helvetica Neue"/>
                <a:cs typeface="Helvetica Neue"/>
              </a:defRPr>
            </a:pPr>
            <a:r>
              <a:rPr sz="1875" b="0">
                <a:solidFill>
                  <a:srgbClr val="FFFFFF"/>
                </a:solidFill>
                <a:latin typeface="Helvetica Neue"/>
                <a:ea typeface="Helvetica Neue"/>
                <a:cs typeface="Helvetica Neue"/>
              </a:rPr>
              <a:t>Returns outputs and receipts</a:t>
            </a:r>
          </a:p>
        </p:txBody>
      </p:sp>
      <p:sp>
        <p:nvSpPr>
          <p:cNvPr id="11" name="">
            <a:extLst xmlns:a="http://schemas.openxmlformats.org/drawingml/2006/main">
              <a:ext uri="{FF2B5EF4-FFF2-40B4-BE49-F238E27FC236}">
                <a16:creationId xmlns:a16="http://schemas.microsoft.com/office/drawing/2014/main" id="{9FF3FF90-BF61-4AE8-BA81-F9284130670E}"/>
              </a:ext>
            </a:extLst>
          </p:cNvPr>
          <p:cNvSpPr>
            <a:spLocks xmlns:a="http://schemas.openxmlformats.org/drawingml/2006/main" noGrp="1"/>
          </p:cNvSpPr>
          <p:nvPr/>
        </p:nvSpPr>
        <p:spPr>
          <a:xfrm xmlns:a="http://schemas.openxmlformats.org/drawingml/2006/main">
            <a:off x="609600" y="5581650"/>
            <a:ext cx="109728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B5C4CD"/>
                </a:solidFill>
                <a:latin typeface="Helvetica Neue"/>
                <a:ea typeface="Helvetica Neue"/>
                <a:cs typeface="Helvetica Neue"/>
              </a:defRPr>
            </a:pPr>
            <a:r>
              <a:rPr sz="1800" b="0">
                <a:solidFill>
                  <a:srgbClr val="B5C4CD"/>
                </a:solidFill>
                <a:latin typeface="Helvetica Neue"/>
                <a:ea typeface="Helvetica Neue"/>
                <a:cs typeface="Helvetica Neue"/>
              </a:rPr>
              <a:t>Implemented: identity checks, task accounting and recovery. Legacy queue migration remains in progress.</a:t>
            </a:r>
          </a:p>
        </p:txBody>
      </p:sp>
    </p:spTree>
    <p:extLst>
      <p:ext uri="{BB962C8B-B14F-4D97-AF65-F5344CB8AC3E}">
        <p14:creationId xmlns:p14="http://schemas.microsoft.com/office/powerpoint/2010/main" val="678438222"/>
      </p:ext>
    </p:extLst>
  </p:cSld>
</p:sld>
</file>

<file path=ppt/slides/slide12.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429EC67-D760-4E5E-B20A-B58DD9639939}"/>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EAF1F5"/>
                </a:solidFill>
                <a:latin typeface="Helvetica Neue"/>
                <a:ea typeface="Helvetica Neue"/>
                <a:cs typeface="Helvetica Neue"/>
              </a:defRPr>
            </a:pPr>
            <a:r>
              <a:rPr sz="3300" b="1">
                <a:solidFill>
                  <a:srgbClr val="EAF1F5"/>
                </a:solidFill>
                <a:latin typeface="Helvetica Neue"/>
                <a:ea typeface="Helvetica Neue"/>
                <a:cs typeface="Helvetica Neue"/>
              </a:rPr>
              <a:t>Configured once. Repeated workflows run.</a:t>
            </a:r>
          </a:p>
        </p:txBody>
      </p:sp>
      <p:sp>
        <p:nvSpPr>
          <p:cNvPr id="2" name="">
            <a:extLst xmlns:a="http://schemas.openxmlformats.org/drawingml/2006/main">
              <a:ext uri="{FF2B5EF4-FFF2-40B4-BE49-F238E27FC236}">
                <a16:creationId xmlns:a16="http://schemas.microsoft.com/office/drawing/2014/main" id="{E753D0C9-573B-4A5A-A57C-BD2AA3BB5EB6}"/>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A9BDC9"/>
                </a:solidFill>
                <a:latin typeface="Helvetica Neue"/>
                <a:ea typeface="Helvetica Neue"/>
                <a:cs typeface="Helvetica Neue"/>
              </a:defRPr>
            </a:pPr>
            <a:r>
              <a:rPr sz="1200" b="0">
                <a:solidFill>
                  <a:srgbClr val="A9BDC9"/>
                </a:solidFill>
                <a:latin typeface="Helvetica Neue"/>
                <a:ea typeface="Helvetica Neue"/>
                <a:cs typeface="Helvetica Neue"/>
              </a:rPr>
              <a:t>12</a:t>
            </a:r>
          </a:p>
        </p:txBody>
      </p:sp>
      <p:sp>
        <p:nvSpPr>
          <p:cNvPr id="3" name="">
            <a:extLst xmlns:a="http://schemas.openxmlformats.org/drawingml/2006/main">
              <a:ext uri="{FF2B5EF4-FFF2-40B4-BE49-F238E27FC236}">
                <a16:creationId xmlns:a16="http://schemas.microsoft.com/office/drawing/2014/main" id="{8C3E2815-B6F5-4C46-B611-29E84DDBEDF1}"/>
              </a:ext>
            </a:extLst>
          </p:cNvPr>
          <p:cNvSpPr>
            <a:spLocks xmlns:a="http://schemas.openxmlformats.org/drawingml/2006/main" noGrp="1"/>
          </p:cNvSpPr>
          <p:nvPr/>
        </p:nvSpPr>
        <p:spPr>
          <a:xfrm xmlns:a="http://schemas.openxmlformats.org/drawingml/2006/main">
            <a:off x="609600" y="171450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Initial configuration</a:t>
            </a:r>
          </a:p>
        </p:txBody>
      </p:sp>
      <p:sp>
        <p:nvSpPr>
          <p:cNvPr id="4" name="">
            <a:extLst xmlns:a="http://schemas.openxmlformats.org/drawingml/2006/main">
              <a:ext uri="{FF2B5EF4-FFF2-40B4-BE49-F238E27FC236}">
                <a16:creationId xmlns:a16="http://schemas.microsoft.com/office/drawing/2014/main" id="{253E7396-89E8-4CD5-8A9C-816776411FE3}"/>
              </a:ext>
            </a:extLst>
          </p:cNvPr>
          <p:cNvSpPr>
            <a:spLocks xmlns:a="http://schemas.openxmlformats.org/drawingml/2006/main" noGrp="1"/>
          </p:cNvSpPr>
          <p:nvPr/>
        </p:nvSpPr>
        <p:spPr>
          <a:xfrm xmlns:a="http://schemas.openxmlformats.org/drawingml/2006/main">
            <a:off x="609600" y="2209800"/>
            <a:ext cx="5191125"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EAF1F5"/>
                </a:solidFill>
                <a:latin typeface="Helvetica Neue"/>
                <a:ea typeface="Helvetica Neue"/>
                <a:cs typeface="Helvetica Neue"/>
              </a:defRPr>
            </a:pPr>
            <a:r>
              <a:rPr sz="2175" b="0">
                <a:solidFill>
                  <a:srgbClr val="EAF1F5"/>
                </a:solidFill>
                <a:latin typeface="Helvetica Neue"/>
                <a:ea typeface="Helvetica Neue"/>
                <a:cs typeface="Helvetica Neue"/>
              </a:rPr>
              <a:t>Connect accounts; define the brand, audience, content goals, schedule, budget and approval rules.</a:t>
            </a:r>
          </a:p>
        </p:txBody>
      </p:sp>
      <p:sp>
        <p:nvSpPr>
          <p:cNvPr id="5" name="">
            <a:extLst xmlns:a="http://schemas.openxmlformats.org/drawingml/2006/main">
              <a:ext uri="{FF2B5EF4-FFF2-40B4-BE49-F238E27FC236}">
                <a16:creationId xmlns:a16="http://schemas.microsoft.com/office/drawing/2014/main" id="{D494C78C-11A5-48AB-8ECB-B610E0F00FFF}"/>
              </a:ext>
            </a:extLst>
          </p:cNvPr>
          <p:cNvSpPr>
            <a:spLocks xmlns:a="http://schemas.openxmlformats.org/drawingml/2006/main" noGrp="1"/>
          </p:cNvSpPr>
          <p:nvPr/>
        </p:nvSpPr>
        <p:spPr>
          <a:xfrm xmlns:a="http://schemas.openxmlformats.org/drawingml/2006/main">
            <a:off x="6429375" y="171450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Autonomous operating target</a:t>
            </a:r>
          </a:p>
        </p:txBody>
      </p:sp>
      <p:sp>
        <p:nvSpPr>
          <p:cNvPr id="6" name="">
            <a:extLst xmlns:a="http://schemas.openxmlformats.org/drawingml/2006/main">
              <a:ext uri="{FF2B5EF4-FFF2-40B4-BE49-F238E27FC236}">
                <a16:creationId xmlns:a16="http://schemas.microsoft.com/office/drawing/2014/main" id="{4658118E-A4D2-4725-B4DB-4A33AB993874}"/>
              </a:ext>
            </a:extLst>
          </p:cNvPr>
          <p:cNvSpPr>
            <a:spLocks xmlns:a="http://schemas.openxmlformats.org/drawingml/2006/main" noGrp="1"/>
          </p:cNvSpPr>
          <p:nvPr/>
        </p:nvSpPr>
        <p:spPr>
          <a:xfrm xmlns:a="http://schemas.openxmlformats.org/drawingml/2006/main">
            <a:off x="6429375" y="2209800"/>
            <a:ext cx="5191125"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EAF1F5"/>
                </a:solidFill>
                <a:latin typeface="Helvetica Neue"/>
                <a:ea typeface="Helvetica Neue"/>
                <a:cs typeface="Helvetica Neue"/>
              </a:defRPr>
            </a:pPr>
            <a:r>
              <a:rPr sz="2175" b="0">
                <a:solidFill>
                  <a:srgbClr val="EAF1F5"/>
                </a:solidFill>
                <a:latin typeface="Helvetica Neue"/>
                <a:ea typeface="Helvetica Neue"/>
                <a:cs typeface="Helvetica Neue"/>
              </a:rPr>
              <a:t>Research, plan, create, validate, publish and analyze results without manually directing every routine step.</a:t>
            </a:r>
          </a:p>
        </p:txBody>
      </p:sp>
      <p:sp>
        <p:nvSpPr>
          <p:cNvPr id="7" name="">
            <a:extLst xmlns:a="http://schemas.openxmlformats.org/drawingml/2006/main">
              <a:ext uri="{FF2B5EF4-FFF2-40B4-BE49-F238E27FC236}">
                <a16:creationId xmlns:a16="http://schemas.microsoft.com/office/drawing/2014/main" id="{D0A3DD70-E1F1-4C89-87A8-0DF79F1DD9D5}"/>
              </a:ext>
            </a:extLst>
          </p:cNvPr>
          <p:cNvSpPr>
            <a:spLocks xmlns:a="http://schemas.openxmlformats.org/drawingml/2006/main" noGrp="1"/>
          </p:cNvSpPr>
          <p:nvPr/>
        </p:nvSpPr>
        <p:spPr>
          <a:xfrm xmlns:a="http://schemas.openxmlformats.org/drawingml/2006/main">
            <a:off x="609600" y="4257675"/>
            <a:ext cx="1095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56DBD0"/>
                </a:solidFill>
                <a:latin typeface="Helvetica Neue"/>
                <a:ea typeface="Helvetica Neue"/>
                <a:cs typeface="Helvetica Neue"/>
              </a:defRPr>
            </a:pPr>
            <a:r>
              <a:rPr sz="2625" b="1">
                <a:solidFill>
                  <a:srgbClr val="56DBD0"/>
                </a:solidFill>
                <a:latin typeface="Helvetica Neue"/>
                <a:ea typeface="Helvetica Neue"/>
                <a:cs typeface="Helvetica Neue"/>
              </a:rPr>
              <a:t>Operating boundaries remain explicit</a:t>
            </a:r>
          </a:p>
        </p:txBody>
      </p:sp>
      <p:sp>
        <p:nvSpPr>
          <p:cNvPr id="8" name="">
            <a:extLst xmlns:a="http://schemas.openxmlformats.org/drawingml/2006/main">
              <a:ext uri="{FF2B5EF4-FFF2-40B4-BE49-F238E27FC236}">
                <a16:creationId xmlns:a16="http://schemas.microsoft.com/office/drawing/2014/main" id="{FEACC000-D5C1-4257-ADC0-6A70721FB3CD}"/>
              </a:ext>
            </a:extLst>
          </p:cNvPr>
          <p:cNvSpPr>
            <a:spLocks xmlns:a="http://schemas.openxmlformats.org/drawingml/2006/main" noGrp="1"/>
          </p:cNvSpPr>
          <p:nvPr/>
        </p:nvSpPr>
        <p:spPr>
          <a:xfrm xmlns:a="http://schemas.openxmlformats.org/drawingml/2006/main">
            <a:off x="609600" y="4972050"/>
            <a:ext cx="10953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EAF1F5"/>
                </a:solidFill>
                <a:latin typeface="Helvetica Neue"/>
                <a:ea typeface="Helvetica Neue"/>
                <a:cs typeface="Helvetica Neue"/>
              </a:defRPr>
            </a:pPr>
            <a:r>
              <a:rPr sz="2175" b="0">
                <a:solidFill>
                  <a:srgbClr val="EAF1F5"/>
                </a:solidFill>
                <a:latin typeface="Helvetica Neue"/>
                <a:ea typeface="Helvetica Neue"/>
                <a:cs typeface="Helvetica Neue"/>
              </a:rPr>
              <a:t>Quality gates, permissions and usage limits govern execution. Failed checks trigger repair or a request for human input.</a:t>
            </a:r>
          </a:p>
        </p:txBody>
      </p:sp>
    </p:spTree>
    <p:extLst>
      <p:ext uri="{BB962C8B-B14F-4D97-AF65-F5344CB8AC3E}">
        <p14:creationId xmlns:p14="http://schemas.microsoft.com/office/powerpoint/2010/main" val="402696770"/>
      </p:ext>
    </p:extLst>
  </p:cSld>
</p:sld>
</file>

<file path=ppt/slides/slide13.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2458D250-D00C-491C-ADFA-40F2FCBF0213}"/>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EAF1F5"/>
                </a:solidFill>
                <a:latin typeface="Helvetica Neue"/>
                <a:ea typeface="Helvetica Neue"/>
                <a:cs typeface="Helvetica Neue"/>
              </a:defRPr>
            </a:pPr>
            <a:r>
              <a:rPr sz="3300" b="1">
                <a:solidFill>
                  <a:srgbClr val="EAF1F5"/>
                </a:solidFill>
                <a:latin typeface="Helvetica Neue"/>
                <a:ea typeface="Helvetica Neue"/>
                <a:cs typeface="Helvetica Neue"/>
              </a:rPr>
              <a:t>The next experiment: a live YouTube channel</a:t>
            </a:r>
          </a:p>
        </p:txBody>
      </p:sp>
      <p:sp>
        <p:nvSpPr>
          <p:cNvPr id="2" name="">
            <a:extLst xmlns:a="http://schemas.openxmlformats.org/drawingml/2006/main">
              <a:ext uri="{FF2B5EF4-FFF2-40B4-BE49-F238E27FC236}">
                <a16:creationId xmlns:a16="http://schemas.microsoft.com/office/drawing/2014/main" id="{899AE0A0-21CC-4419-A8C3-06B7FFD24510}"/>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A9BDC9"/>
                </a:solidFill>
                <a:latin typeface="Helvetica Neue"/>
                <a:ea typeface="Helvetica Neue"/>
                <a:cs typeface="Helvetica Neue"/>
              </a:defRPr>
            </a:pPr>
            <a:r>
              <a:rPr sz="1200" b="0">
                <a:solidFill>
                  <a:srgbClr val="A9BDC9"/>
                </a:solidFill>
                <a:latin typeface="Helvetica Neue"/>
                <a:ea typeface="Helvetica Neue"/>
                <a:cs typeface="Helvetica Neue"/>
              </a:rPr>
              <a:t>13</a:t>
            </a:r>
          </a:p>
        </p:txBody>
      </p:sp>
      <p:sp>
        <p:nvSpPr>
          <p:cNvPr id="3" name="">
            <a:extLst xmlns:a="http://schemas.openxmlformats.org/drawingml/2006/main">
              <a:ext uri="{FF2B5EF4-FFF2-40B4-BE49-F238E27FC236}">
                <a16:creationId xmlns:a16="http://schemas.microsoft.com/office/drawing/2014/main" id="{26352D64-5B46-4598-9D4E-6F797170541E}"/>
              </a:ext>
            </a:extLst>
          </p:cNvPr>
          <p:cNvSpPr>
            <a:spLocks xmlns:a="http://schemas.openxmlformats.org/drawingml/2006/main" noGrp="1"/>
          </p:cNvSpPr>
          <p:nvPr/>
        </p:nvSpPr>
        <p:spPr>
          <a:xfrm xmlns:a="http://schemas.openxmlformats.org/drawingml/2006/main">
            <a:off x="609600" y="1600200"/>
            <a:ext cx="10668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200" b="1">
                <a:solidFill>
                  <a:srgbClr val="61A3FF"/>
                </a:solidFill>
                <a:latin typeface="Helvetica Neue"/>
                <a:ea typeface="Helvetica Neue"/>
                <a:cs typeface="Helvetica Neue"/>
              </a:defRPr>
            </a:pPr>
            <a:r>
              <a:rPr sz="4200" b="1">
                <a:solidFill>
                  <a:srgbClr val="61A3FF"/>
                </a:solidFill>
                <a:latin typeface="Helvetica Neue"/>
                <a:ea typeface="Helvetica Neue"/>
                <a:cs typeface="Helvetica Neue"/>
              </a:rPr>
              <a:t>Days to two weeks</a:t>
            </a:r>
          </a:p>
        </p:txBody>
      </p:sp>
      <p:sp>
        <p:nvSpPr>
          <p:cNvPr id="4" name="">
            <a:extLst xmlns:a="http://schemas.openxmlformats.org/drawingml/2006/main">
              <a:ext uri="{FF2B5EF4-FFF2-40B4-BE49-F238E27FC236}">
                <a16:creationId xmlns:a16="http://schemas.microsoft.com/office/drawing/2014/main" id="{3B785F26-8108-42F7-BE52-D687C7D5F30A}"/>
              </a:ext>
            </a:extLst>
          </p:cNvPr>
          <p:cNvSpPr>
            <a:spLocks xmlns:a="http://schemas.openxmlformats.org/drawingml/2006/main" noGrp="1"/>
          </p:cNvSpPr>
          <p:nvPr/>
        </p:nvSpPr>
        <p:spPr>
          <a:xfrm xmlns:a="http://schemas.openxmlformats.org/drawingml/2006/main">
            <a:off x="609600" y="2543175"/>
            <a:ext cx="1076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EAF1F5"/>
                </a:solidFill>
                <a:latin typeface="Helvetica Neue"/>
                <a:ea typeface="Helvetica Neue"/>
                <a:cs typeface="Helvetica Neue"/>
              </a:defRPr>
            </a:pPr>
            <a:r>
              <a:rPr sz="2100" b="0">
                <a:solidFill>
                  <a:srgbClr val="EAF1F5"/>
                </a:solidFill>
                <a:latin typeface="Helvetica Neue"/>
                <a:ea typeface="Helvetica Neue"/>
                <a:cs typeface="Helvetica Neue"/>
              </a:rPr>
              <a:t>Founder target for initial channel connection and experimental operation.</a:t>
            </a:r>
          </a:p>
        </p:txBody>
      </p:sp>
      <p:sp>
        <p:nvSpPr>
          <p:cNvPr id="5" name="">
            <a:extLst xmlns:a="http://schemas.openxmlformats.org/drawingml/2006/main">
              <a:ext uri="{FF2B5EF4-FFF2-40B4-BE49-F238E27FC236}">
                <a16:creationId xmlns:a16="http://schemas.microsoft.com/office/drawing/2014/main" id="{B30AC25B-0C42-40BA-BB43-D7863B6ADAE0}"/>
              </a:ext>
            </a:extLst>
          </p:cNvPr>
          <p:cNvSpPr>
            <a:spLocks xmlns:a="http://schemas.openxmlformats.org/drawingml/2006/main" noGrp="1"/>
          </p:cNvSpPr>
          <p:nvPr/>
        </p:nvSpPr>
        <p:spPr>
          <a:xfrm xmlns:a="http://schemas.openxmlformats.org/drawingml/2006/main">
            <a:off x="609600" y="3629025"/>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Full management loop</a:t>
            </a:r>
          </a:p>
        </p:txBody>
      </p:sp>
      <p:sp>
        <p:nvSpPr>
          <p:cNvPr id="6" name="">
            <a:extLst xmlns:a="http://schemas.openxmlformats.org/drawingml/2006/main">
              <a:ext uri="{FF2B5EF4-FFF2-40B4-BE49-F238E27FC236}">
                <a16:creationId xmlns:a16="http://schemas.microsoft.com/office/drawing/2014/main" id="{24A41115-21EE-41E5-8025-4956ED61D8AF}"/>
              </a:ext>
            </a:extLst>
          </p:cNvPr>
          <p:cNvSpPr>
            <a:spLocks xmlns:a="http://schemas.openxmlformats.org/drawingml/2006/main" noGrp="1"/>
          </p:cNvSpPr>
          <p:nvPr/>
        </p:nvSpPr>
        <p:spPr>
          <a:xfrm xmlns:a="http://schemas.openxmlformats.org/drawingml/2006/main">
            <a:off x="609600" y="4124325"/>
            <a:ext cx="5191125"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EAF1F5"/>
                </a:solidFill>
                <a:latin typeface="Helvetica Neue"/>
                <a:ea typeface="Helvetica Neue"/>
                <a:cs typeface="Helvetica Neue"/>
              </a:defRPr>
            </a:pPr>
            <a:r>
              <a:rPr sz="2025" b="0">
                <a:solidFill>
                  <a:srgbClr val="EAF1F5"/>
                </a:solidFill>
                <a:latin typeface="Helvetica Neue"/>
                <a:ea typeface="Helvetica Neue"/>
                <a:cs typeface="Helvetica Neue"/>
              </a:rPr>
              <a:t>Test topic research, planning, production, publication and analysis of audience reactions on a founder-owned YouTube channel.</a:t>
            </a:r>
          </a:p>
        </p:txBody>
      </p:sp>
      <p:sp>
        <p:nvSpPr>
          <p:cNvPr id="7" name="">
            <a:extLst xmlns:a="http://schemas.openxmlformats.org/drawingml/2006/main">
              <a:ext uri="{FF2B5EF4-FFF2-40B4-BE49-F238E27FC236}">
                <a16:creationId xmlns:a16="http://schemas.microsoft.com/office/drawing/2014/main" id="{1E7573E6-506B-4EA8-B5F5-00C442BF16F0}"/>
              </a:ext>
            </a:extLst>
          </p:cNvPr>
          <p:cNvSpPr>
            <a:spLocks xmlns:a="http://schemas.openxmlformats.org/drawingml/2006/main" noGrp="1"/>
          </p:cNvSpPr>
          <p:nvPr/>
        </p:nvSpPr>
        <p:spPr>
          <a:xfrm xmlns:a="http://schemas.openxmlformats.org/drawingml/2006/main">
            <a:off x="6429375" y="3629025"/>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Then expand</a:t>
            </a:r>
          </a:p>
        </p:txBody>
      </p:sp>
      <p:sp>
        <p:nvSpPr>
          <p:cNvPr id="8" name="">
            <a:extLst xmlns:a="http://schemas.openxmlformats.org/drawingml/2006/main">
              <a:ext uri="{FF2B5EF4-FFF2-40B4-BE49-F238E27FC236}">
                <a16:creationId xmlns:a16="http://schemas.microsoft.com/office/drawing/2014/main" id="{86920111-B3EB-4027-9CE6-529D8FAA4CFE}"/>
              </a:ext>
            </a:extLst>
          </p:cNvPr>
          <p:cNvSpPr>
            <a:spLocks xmlns:a="http://schemas.openxmlformats.org/drawingml/2006/main" noGrp="1"/>
          </p:cNvSpPr>
          <p:nvPr/>
        </p:nvSpPr>
        <p:spPr>
          <a:xfrm xmlns:a="http://schemas.openxmlformats.org/drawingml/2006/main">
            <a:off x="6429375" y="4124325"/>
            <a:ext cx="5191125"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EAF1F5"/>
                </a:solidFill>
                <a:latin typeface="Helvetica Neue"/>
                <a:ea typeface="Helvetica Neue"/>
                <a:cs typeface="Helvetica Neue"/>
              </a:defRPr>
            </a:pPr>
            <a:r>
              <a:rPr sz="2025" b="0">
                <a:solidFill>
                  <a:srgbClr val="EAF1F5"/>
                </a:solidFill>
                <a:latin typeface="Helvetica Neue"/>
                <a:ea typeface="Helvetica Neue"/>
                <a:cs typeface="Helvetica Neue"/>
              </a:rPr>
              <a:t>Refine quality and reliability, introduce X workflows and scale to additional channels as the mechanism is validated.</a:t>
            </a:r>
          </a:p>
        </p:txBody>
      </p:sp>
      <p:sp>
        <p:nvSpPr>
          <p:cNvPr id="9" name="">
            <a:extLst xmlns:a="http://schemas.openxmlformats.org/drawingml/2006/main">
              <a:ext uri="{FF2B5EF4-FFF2-40B4-BE49-F238E27FC236}">
                <a16:creationId xmlns:a16="http://schemas.microsoft.com/office/drawing/2014/main" id="{A4F0026C-0ED7-4263-8D18-FA45EB64A667}"/>
              </a:ext>
            </a:extLst>
          </p:cNvPr>
          <p:cNvSpPr>
            <a:spLocks xmlns:a="http://schemas.openxmlformats.org/drawingml/2006/main" noGrp="1"/>
          </p:cNvSpPr>
          <p:nvPr/>
        </p:nvSpPr>
        <p:spPr>
          <a:xfrm xmlns:a="http://schemas.openxmlformats.org/drawingml/2006/main">
            <a:off x="609600" y="58769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A9BDC9"/>
                </a:solidFill>
                <a:latin typeface="Helvetica Neue"/>
                <a:ea typeface="Helvetica Neue"/>
                <a:cs typeface="Helvetica Neue"/>
              </a:defRPr>
            </a:pPr>
            <a:r>
              <a:rPr sz="1725" b="0">
                <a:solidFill>
                  <a:srgbClr val="A9BDC9"/>
                </a:solidFill>
                <a:latin typeface="Helvetica Neue"/>
                <a:ea typeface="Helvetica Neue"/>
                <a:cs typeface="Helvetica Neue"/>
              </a:rPr>
              <a:t>Experimental milestone: early output may require corrections. This is separate from public product readiness.</a:t>
            </a:r>
          </a:p>
        </p:txBody>
      </p:sp>
    </p:spTree>
    <p:extLst>
      <p:ext uri="{BB962C8B-B14F-4D97-AF65-F5344CB8AC3E}">
        <p14:creationId xmlns:p14="http://schemas.microsoft.com/office/powerpoint/2010/main" val="1227293426"/>
      </p:ext>
    </p:extLst>
  </p:cSld>
</p:sld>
</file>

<file path=ppt/slides/slide14.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97417D9-E197-434A-8EEE-3C954D0D268C}"/>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EAF1F5"/>
                </a:solidFill>
                <a:latin typeface="Helvetica Neue"/>
                <a:ea typeface="Helvetica Neue"/>
                <a:cs typeface="Helvetica Neue"/>
              </a:defRPr>
            </a:pPr>
            <a:r>
              <a:rPr sz="3300" b="1">
                <a:solidFill>
                  <a:srgbClr val="EAF1F5"/>
                </a:solidFill>
                <a:latin typeface="Helvetica Neue"/>
                <a:ea typeface="Helvetica Neue"/>
                <a:cs typeface="Helvetica Neue"/>
              </a:rPr>
              <a:t>Social-media operations across channels</a:t>
            </a:r>
          </a:p>
        </p:txBody>
      </p:sp>
      <p:sp>
        <p:nvSpPr>
          <p:cNvPr id="2" name="">
            <a:extLst xmlns:a="http://schemas.openxmlformats.org/drawingml/2006/main">
              <a:ext uri="{FF2B5EF4-FFF2-40B4-BE49-F238E27FC236}">
                <a16:creationId xmlns:a16="http://schemas.microsoft.com/office/drawing/2014/main" id="{5E9F9C65-CC10-4C11-87C4-1B3FF197D43E}"/>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A9BDC9"/>
                </a:solidFill>
                <a:latin typeface="Helvetica Neue"/>
                <a:ea typeface="Helvetica Neue"/>
                <a:cs typeface="Helvetica Neue"/>
              </a:defRPr>
            </a:pPr>
            <a:r>
              <a:rPr sz="1200" b="0">
                <a:solidFill>
                  <a:srgbClr val="A9BDC9"/>
                </a:solidFill>
                <a:latin typeface="Helvetica Neue"/>
                <a:ea typeface="Helvetica Neue"/>
                <a:cs typeface="Helvetica Neue"/>
              </a:rPr>
              <a:t>14</a:t>
            </a:r>
          </a:p>
        </p:txBody>
      </p:sp>
      <p:sp>
        <p:nvSpPr>
          <p:cNvPr id="3" name="">
            <a:extLst xmlns:a="http://schemas.openxmlformats.org/drawingml/2006/main">
              <a:ext uri="{FF2B5EF4-FFF2-40B4-BE49-F238E27FC236}">
                <a16:creationId xmlns:a16="http://schemas.microsoft.com/office/drawing/2014/main" id="{846EE6A3-4547-4A67-BF27-AEA4D8701E7C}"/>
              </a:ext>
            </a:extLst>
          </p:cNvPr>
          <p:cNvSpPr>
            <a:spLocks xmlns:a="http://schemas.openxmlformats.org/drawingml/2006/main" noGrp="1"/>
          </p:cNvSpPr>
          <p:nvPr/>
        </p:nvSpPr>
        <p:spPr>
          <a:xfrm xmlns:a="http://schemas.openxmlformats.org/drawingml/2006/main">
            <a:off x="609600" y="1638300"/>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56DBD0"/>
                </a:solidFill>
                <a:latin typeface="Helvetica Neue"/>
                <a:ea typeface="Helvetica Neue"/>
                <a:cs typeface="Helvetica Neue"/>
              </a:defRPr>
            </a:pPr>
            <a:r>
              <a:rPr sz="2550" b="1">
                <a:solidFill>
                  <a:srgbClr val="56DBD0"/>
                </a:solidFill>
                <a:latin typeface="Helvetica Neue"/>
                <a:ea typeface="Helvetica Neue"/>
                <a:cs typeface="Helvetica Neue"/>
              </a:rPr>
              <a:t>YouTube · X · Facebook · Instagram · Pinterest · LinkedIn</a:t>
            </a:r>
          </a:p>
        </p:txBody>
      </p:sp>
      <p:sp>
        <p:nvSpPr>
          <p:cNvPr id="4" name="">
            <a:extLst xmlns:a="http://schemas.openxmlformats.org/drawingml/2006/main">
              <a:ext uri="{FF2B5EF4-FFF2-40B4-BE49-F238E27FC236}">
                <a16:creationId xmlns:a16="http://schemas.microsoft.com/office/drawing/2014/main" id="{EDDCA492-BAE0-4A9E-8412-42CB0F19B8A0}"/>
              </a:ext>
            </a:extLst>
          </p:cNvPr>
          <p:cNvSpPr>
            <a:spLocks xmlns:a="http://schemas.openxmlformats.org/drawingml/2006/main" noGrp="1"/>
          </p:cNvSpPr>
          <p:nvPr/>
        </p:nvSpPr>
        <p:spPr>
          <a:xfrm xmlns:a="http://schemas.openxmlformats.org/drawingml/2006/main">
            <a:off x="609600" y="300990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One content strategy</a:t>
            </a:r>
          </a:p>
        </p:txBody>
      </p:sp>
      <p:sp>
        <p:nvSpPr>
          <p:cNvPr id="5" name="">
            <a:extLst xmlns:a="http://schemas.openxmlformats.org/drawingml/2006/main">
              <a:ext uri="{FF2B5EF4-FFF2-40B4-BE49-F238E27FC236}">
                <a16:creationId xmlns:a16="http://schemas.microsoft.com/office/drawing/2014/main" id="{AFDB90C8-098D-45B2-A70C-566A799A7AAF}"/>
              </a:ext>
            </a:extLst>
          </p:cNvPr>
          <p:cNvSpPr>
            <a:spLocks xmlns:a="http://schemas.openxmlformats.org/drawingml/2006/main" noGrp="1"/>
          </p:cNvSpPr>
          <p:nvPr/>
        </p:nvSpPr>
        <p:spPr>
          <a:xfrm xmlns:a="http://schemas.openxmlformats.org/drawingml/2006/main">
            <a:off x="609600" y="3505200"/>
            <a:ext cx="5191125"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EAF1F5"/>
                </a:solidFill>
                <a:latin typeface="Helvetica Neue"/>
                <a:ea typeface="Helvetica Neue"/>
                <a:cs typeface="Helvetica Neue"/>
              </a:defRPr>
            </a:pPr>
            <a:r>
              <a:rPr sz="2100" b="0">
                <a:solidFill>
                  <a:srgbClr val="EAF1F5"/>
                </a:solidFill>
                <a:latin typeface="Helvetica Neue"/>
                <a:ea typeface="Helvetica Neue"/>
                <a:cs typeface="Helvetica Neue"/>
              </a:rPr>
              <a:t>Competitor research, audience hypotheses and a shared content plan guide platform-specific videos, posts and visual assets.</a:t>
            </a:r>
          </a:p>
        </p:txBody>
      </p:sp>
      <p:sp>
        <p:nvSpPr>
          <p:cNvPr id="6" name="">
            <a:extLst xmlns:a="http://schemas.openxmlformats.org/drawingml/2006/main">
              <a:ext uri="{FF2B5EF4-FFF2-40B4-BE49-F238E27FC236}">
                <a16:creationId xmlns:a16="http://schemas.microsoft.com/office/drawing/2014/main" id="{0F6EDD09-D032-4043-8438-64F54076BD78}"/>
              </a:ext>
            </a:extLst>
          </p:cNvPr>
          <p:cNvSpPr>
            <a:spLocks xmlns:a="http://schemas.openxmlformats.org/drawingml/2006/main" noGrp="1"/>
          </p:cNvSpPr>
          <p:nvPr/>
        </p:nvSpPr>
        <p:spPr>
          <a:xfrm xmlns:a="http://schemas.openxmlformats.org/drawingml/2006/main">
            <a:off x="6429375" y="300990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A measured feedback cycle</a:t>
            </a:r>
          </a:p>
        </p:txBody>
      </p:sp>
      <p:sp>
        <p:nvSpPr>
          <p:cNvPr id="7" name="">
            <a:extLst xmlns:a="http://schemas.openxmlformats.org/drawingml/2006/main">
              <a:ext uri="{FF2B5EF4-FFF2-40B4-BE49-F238E27FC236}">
                <a16:creationId xmlns:a16="http://schemas.microsoft.com/office/drawing/2014/main" id="{6E8AEF15-7174-410A-9A19-064F28EEF539}"/>
              </a:ext>
            </a:extLst>
          </p:cNvPr>
          <p:cNvSpPr>
            <a:spLocks xmlns:a="http://schemas.openxmlformats.org/drawingml/2006/main" noGrp="1"/>
          </p:cNvSpPr>
          <p:nvPr/>
        </p:nvSpPr>
        <p:spPr>
          <a:xfrm xmlns:a="http://schemas.openxmlformats.org/drawingml/2006/main">
            <a:off x="6429375" y="3505200"/>
            <a:ext cx="5191125"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EAF1F5"/>
                </a:solidFill>
                <a:latin typeface="Helvetica Neue"/>
                <a:ea typeface="Helvetica Neue"/>
                <a:cs typeface="Helvetica Neue"/>
              </a:defRPr>
            </a:pPr>
            <a:r>
              <a:rPr sz="2100" b="0">
                <a:solidFill>
                  <a:srgbClr val="EAF1F5"/>
                </a:solidFill>
                <a:latin typeface="Helvetica Neue"/>
                <a:ea typeface="Helvetica Neue"/>
                <a:cs typeface="Helvetica Neue"/>
              </a:rPr>
              <a:t>Analyze response to published content, identify effective topics and formats, and adjust subsequent production and scheduling.</a:t>
            </a:r>
          </a:p>
        </p:txBody>
      </p:sp>
      <p:sp>
        <p:nvSpPr>
          <p:cNvPr id="8" name="">
            <a:extLst xmlns:a="http://schemas.openxmlformats.org/drawingml/2006/main">
              <a:ext uri="{FF2B5EF4-FFF2-40B4-BE49-F238E27FC236}">
                <a16:creationId xmlns:a16="http://schemas.microsoft.com/office/drawing/2014/main" id="{6F3127AB-D942-4F8C-8332-46408660E0B1}"/>
              </a:ext>
            </a:extLst>
          </p:cNvPr>
          <p:cNvSpPr>
            <a:spLocks xmlns:a="http://schemas.openxmlformats.org/drawingml/2006/main" noGrp="1"/>
          </p:cNvSpPr>
          <p:nvPr/>
        </p:nvSpPr>
        <p:spPr>
          <a:xfrm xmlns:a="http://schemas.openxmlformats.org/drawingml/2006/main">
            <a:off x="609600" y="561975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1">
                <a:solidFill>
                  <a:srgbClr val="EAF1F5"/>
                </a:solidFill>
                <a:latin typeface="Helvetica Neue"/>
                <a:ea typeface="Helvetica Neue"/>
                <a:cs typeface="Helvetica Neue"/>
              </a:defRPr>
            </a:pPr>
            <a:r>
              <a:rPr sz="1950" b="1">
                <a:solidFill>
                  <a:srgbClr val="EAF1F5"/>
                </a:solidFill>
                <a:latin typeface="Helvetica Neue"/>
                <a:ea typeface="Helvetica Neue"/>
                <a:cs typeface="Helvetica Neue"/>
              </a:rPr>
              <a:t>Implemented starting point: YouTube competitor and audience analysis. Cross-platform management is planned.</a:t>
            </a:r>
          </a:p>
        </p:txBody>
      </p:sp>
    </p:spTree>
    <p:extLst>
      <p:ext uri="{BB962C8B-B14F-4D97-AF65-F5344CB8AC3E}">
        <p14:creationId xmlns:p14="http://schemas.microsoft.com/office/powerpoint/2010/main" val="903960265"/>
      </p:ext>
    </p:extLst>
  </p:cSld>
</p:sld>
</file>

<file path=ppt/slides/slide15.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2ACAA50B-B66F-467E-BD30-B284F43FF4FD}"/>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EAF1F5"/>
                </a:solidFill>
                <a:latin typeface="Helvetica Neue"/>
                <a:ea typeface="Helvetica Neue"/>
                <a:cs typeface="Helvetica Neue"/>
              </a:defRPr>
            </a:pPr>
            <a:r>
              <a:rPr sz="3300" b="1">
                <a:solidFill>
                  <a:srgbClr val="EAF1F5"/>
                </a:solidFill>
                <a:latin typeface="Helvetica Neue"/>
                <a:ea typeface="Helvetica Neue"/>
                <a:cs typeface="Helvetica Neue"/>
              </a:rPr>
              <a:t>Customers bring their generation providers</a:t>
            </a:r>
          </a:p>
        </p:txBody>
      </p:sp>
      <p:sp>
        <p:nvSpPr>
          <p:cNvPr id="2" name="">
            <a:extLst xmlns:a="http://schemas.openxmlformats.org/drawingml/2006/main">
              <a:ext uri="{FF2B5EF4-FFF2-40B4-BE49-F238E27FC236}">
                <a16:creationId xmlns:a16="http://schemas.microsoft.com/office/drawing/2014/main" id="{C9EC386D-0C83-4ECF-9B0B-E4269E6441C3}"/>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A9BDC9"/>
                </a:solidFill>
                <a:latin typeface="Helvetica Neue"/>
                <a:ea typeface="Helvetica Neue"/>
                <a:cs typeface="Helvetica Neue"/>
              </a:defRPr>
            </a:pPr>
            <a:r>
              <a:rPr sz="1200" b="0">
                <a:solidFill>
                  <a:srgbClr val="A9BDC9"/>
                </a:solidFill>
                <a:latin typeface="Helvetica Neue"/>
                <a:ea typeface="Helvetica Neue"/>
                <a:cs typeface="Helvetica Neue"/>
              </a:rPr>
              <a:t>15</a:t>
            </a:r>
          </a:p>
        </p:txBody>
      </p:sp>
      <p:sp>
        <p:nvSpPr>
          <p:cNvPr id="3" name="">
            <a:extLst xmlns:a="http://schemas.openxmlformats.org/drawingml/2006/main">
              <a:ext uri="{FF2B5EF4-FFF2-40B4-BE49-F238E27FC236}">
                <a16:creationId xmlns:a16="http://schemas.microsoft.com/office/drawing/2014/main" id="{BCEBF9F7-CB0C-492F-BB40-D3C8A930B2AE}"/>
              </a:ext>
            </a:extLst>
          </p:cNvPr>
          <p:cNvSpPr>
            <a:spLocks xmlns:a="http://schemas.openxmlformats.org/drawingml/2006/main" noGrp="1"/>
          </p:cNvSpPr>
          <p:nvPr/>
        </p:nvSpPr>
        <p:spPr>
          <a:xfrm xmlns:a="http://schemas.openxmlformats.org/drawingml/2006/main">
            <a:off x="609600" y="1981200"/>
            <a:ext cx="3314700" cy="1123950"/>
          </a:xfrm>
          <a:prstGeom xmlns:a="http://schemas.openxmlformats.org/drawingml/2006/main" prst="rect">
            <a:avLst/>
          </a:prstGeom>
          <a:solidFill xmlns:a="http://schemas.openxmlformats.org/drawingml/2006/main">
            <a:srgbClr val="102C3C"/>
          </a:solidFill>
          <a:ln xmlns:a="http://schemas.openxmlformats.org/drawingml/2006/main" w="11430">
            <a:solidFill>
              <a:srgbClr val="397785"/>
            </a:solidFill>
          </a:ln>
        </p:spPr>
        <p:txBody>
          <a:bodyPr xmlns:a="http://schemas.openxmlformats.org/drawingml/2006/main" lIns="114300" tIns="114300" rIns="114300" bIns="114300" anchor="ctr">
            <a:noAutofit/>
          </a:bodyPr>
          <a:lstStyle xmlns:a="http://schemas.openxmlformats.org/drawingml/2006/main"/>
          <a:p xmlns:a="http://schemas.openxmlformats.org/drawingml/2006/main">
            <a:pPr algn="ctr">
              <a:defRPr sz="1875" b="1">
                <a:solidFill>
                  <a:srgbClr val="EAF1F5"/>
                </a:solidFill>
                <a:latin typeface="Helvetica Neue"/>
                <a:ea typeface="Helvetica Neue"/>
                <a:cs typeface="Helvetica Neue"/>
              </a:defRPr>
            </a:pPr>
            <a:r>
              <a:rPr sz="1875" b="1">
                <a:solidFill>
                  <a:srgbClr val="EAF1F5"/>
                </a:solidFill>
                <a:latin typeface="Helvetica Neue"/>
                <a:ea typeface="Helvetica Neue"/>
                <a:cs typeface="Helvetica Neue"/>
              </a:rPr>
              <a:t>Customer-owned</a:t>
            </a:r>
          </a:p>
          <a:p xmlns:a="http://schemas.openxmlformats.org/drawingml/2006/main">
            <a:pPr algn="ctr">
              <a:defRPr sz="1875" b="1">
                <a:solidFill>
                  <a:srgbClr val="EAF1F5"/>
                </a:solidFill>
                <a:latin typeface="Helvetica Neue"/>
                <a:ea typeface="Helvetica Neue"/>
                <a:cs typeface="Helvetica Neue"/>
              </a:defRPr>
            </a:pPr>
            <a:r>
              <a:rPr sz="1875" b="1">
                <a:solidFill>
                  <a:srgbClr val="EAF1F5"/>
                </a:solidFill>
                <a:latin typeface="Helvetica Neue"/>
                <a:ea typeface="Helvetica Neue"/>
                <a:cs typeface="Helvetica Neue"/>
              </a:rPr>
              <a:t>provider accounts</a:t>
            </a:r>
          </a:p>
        </p:txBody>
      </p:sp>
      <p:sp>
        <p:nvSpPr>
          <p:cNvPr id="4" name="">
            <a:extLst xmlns:a="http://schemas.openxmlformats.org/drawingml/2006/main">
              <a:ext uri="{FF2B5EF4-FFF2-40B4-BE49-F238E27FC236}">
                <a16:creationId xmlns:a16="http://schemas.microsoft.com/office/drawing/2014/main" id="{7D92D9E3-939A-4EAC-A3F8-7094F524586B}"/>
              </a:ext>
            </a:extLst>
          </p:cNvPr>
          <p:cNvSpPr>
            <a:spLocks xmlns:a="http://schemas.openxmlformats.org/drawingml/2006/main" noGrp="1"/>
          </p:cNvSpPr>
          <p:nvPr/>
        </p:nvSpPr>
        <p:spPr>
          <a:xfrm xmlns:a="http://schemas.openxmlformats.org/drawingml/2006/main">
            <a:off x="4438650" y="1981200"/>
            <a:ext cx="3314700" cy="1123950"/>
          </a:xfrm>
          <a:prstGeom xmlns:a="http://schemas.openxmlformats.org/drawingml/2006/main" prst="rect">
            <a:avLst/>
          </a:prstGeom>
          <a:solidFill xmlns:a="http://schemas.openxmlformats.org/drawingml/2006/main">
            <a:srgbClr val="102C3C"/>
          </a:solidFill>
          <a:ln xmlns:a="http://schemas.openxmlformats.org/drawingml/2006/main" w="11430">
            <a:solidFill>
              <a:srgbClr val="397785"/>
            </a:solidFill>
          </a:ln>
        </p:spPr>
        <p:txBody>
          <a:bodyPr xmlns:a="http://schemas.openxmlformats.org/drawingml/2006/main" lIns="114300" tIns="114300" rIns="114300" bIns="114300" anchor="ctr">
            <a:noAutofit/>
          </a:bodyPr>
          <a:lstStyle xmlns:a="http://schemas.openxmlformats.org/drawingml/2006/main"/>
          <a:p xmlns:a="http://schemas.openxmlformats.org/drawingml/2006/main">
            <a:pPr algn="ctr">
              <a:defRPr sz="1875" b="1">
                <a:solidFill>
                  <a:srgbClr val="EAF1F5"/>
                </a:solidFill>
                <a:latin typeface="Helvetica Neue"/>
                <a:ea typeface="Helvetica Neue"/>
                <a:cs typeface="Helvetica Neue"/>
              </a:defRPr>
            </a:pPr>
            <a:r>
              <a:rPr sz="1875" b="1">
                <a:solidFill>
                  <a:srgbClr val="EAF1F5"/>
                </a:solidFill>
                <a:latin typeface="Helvetica Neue"/>
                <a:ea typeface="Helvetica Neue"/>
                <a:cs typeface="Helvetica Neue"/>
              </a:rPr>
              <a:t>Supported MCP / API</a:t>
            </a:r>
          </a:p>
          <a:p xmlns:a="http://schemas.openxmlformats.org/drawingml/2006/main">
            <a:pPr algn="ctr">
              <a:defRPr sz="1875" b="1">
                <a:solidFill>
                  <a:srgbClr val="EAF1F5"/>
                </a:solidFill>
                <a:latin typeface="Helvetica Neue"/>
                <a:ea typeface="Helvetica Neue"/>
                <a:cs typeface="Helvetica Neue"/>
              </a:defRPr>
            </a:pPr>
            <a:r>
              <a:rPr sz="1875" b="1">
                <a:solidFill>
                  <a:srgbClr val="EAF1F5"/>
                </a:solidFill>
                <a:latin typeface="Helvetica Neue"/>
                <a:ea typeface="Helvetica Neue"/>
                <a:cs typeface="Helvetica Neue"/>
              </a:rPr>
              <a:t>connections</a:t>
            </a:r>
          </a:p>
        </p:txBody>
      </p:sp>
      <p:sp>
        <p:nvSpPr>
          <p:cNvPr id="5" name="">
            <a:extLst xmlns:a="http://schemas.openxmlformats.org/drawingml/2006/main">
              <a:ext uri="{FF2B5EF4-FFF2-40B4-BE49-F238E27FC236}">
                <a16:creationId xmlns:a16="http://schemas.microsoft.com/office/drawing/2014/main" id="{6A5497AE-DB96-4A9C-8630-7A0A74D12A17}"/>
              </a:ext>
            </a:extLst>
          </p:cNvPr>
          <p:cNvSpPr>
            <a:spLocks xmlns:a="http://schemas.openxmlformats.org/drawingml/2006/main" noGrp="1"/>
          </p:cNvSpPr>
          <p:nvPr/>
        </p:nvSpPr>
        <p:spPr>
          <a:xfrm xmlns:a="http://schemas.openxmlformats.org/drawingml/2006/main">
            <a:off x="8267700" y="1981200"/>
            <a:ext cx="3314700" cy="1123950"/>
          </a:xfrm>
          <a:prstGeom xmlns:a="http://schemas.openxmlformats.org/drawingml/2006/main" prst="rect">
            <a:avLst/>
          </a:prstGeom>
          <a:solidFill xmlns:a="http://schemas.openxmlformats.org/drawingml/2006/main">
            <a:srgbClr val="102C3C"/>
          </a:solidFill>
          <a:ln xmlns:a="http://schemas.openxmlformats.org/drawingml/2006/main" w="11430">
            <a:solidFill>
              <a:srgbClr val="397785"/>
            </a:solidFill>
          </a:ln>
        </p:spPr>
        <p:txBody>
          <a:bodyPr xmlns:a="http://schemas.openxmlformats.org/drawingml/2006/main" lIns="114300" tIns="114300" rIns="114300" bIns="114300" anchor="ctr">
            <a:noAutofit/>
          </a:bodyPr>
          <a:lstStyle xmlns:a="http://schemas.openxmlformats.org/drawingml/2006/main"/>
          <a:p xmlns:a="http://schemas.openxmlformats.org/drawingml/2006/main">
            <a:pPr algn="ctr">
              <a:defRPr sz="1875" b="1">
                <a:solidFill>
                  <a:srgbClr val="EAF1F5"/>
                </a:solidFill>
                <a:latin typeface="Helvetica Neue"/>
                <a:ea typeface="Helvetica Neue"/>
                <a:cs typeface="Helvetica Neue"/>
              </a:defRPr>
            </a:pPr>
            <a:r>
              <a:rPr sz="1875" b="1">
                <a:solidFill>
                  <a:srgbClr val="EAF1F5"/>
                </a:solidFill>
                <a:latin typeface="Helvetica Neue"/>
                <a:ea typeface="Helvetica Neue"/>
                <a:cs typeface="Helvetica Neue"/>
              </a:rPr>
              <a:t>Vantemio planning,</a:t>
            </a:r>
          </a:p>
          <a:p xmlns:a="http://schemas.openxmlformats.org/drawingml/2006/main">
            <a:pPr algn="ctr">
              <a:defRPr sz="1875" b="1">
                <a:solidFill>
                  <a:srgbClr val="EAF1F5"/>
                </a:solidFill>
                <a:latin typeface="Helvetica Neue"/>
                <a:ea typeface="Helvetica Neue"/>
                <a:cs typeface="Helvetica Neue"/>
              </a:defRPr>
            </a:pPr>
            <a:r>
              <a:rPr sz="1875" b="1">
                <a:solidFill>
                  <a:srgbClr val="EAF1F5"/>
                </a:solidFill>
                <a:latin typeface="Helvetica Neue"/>
                <a:ea typeface="Helvetica Neue"/>
                <a:cs typeface="Helvetica Neue"/>
              </a:rPr>
              <a:t>editing and delivery</a:t>
            </a:r>
          </a:p>
        </p:txBody>
      </p:sp>
      <p:cxnSp>
        <p:nvCxnSpPr>
          <p:cNvPr id="17" name=""/>
          <p:cNvCxnSpPr>
            <a:stCxn xmlns:a="http://schemas.openxmlformats.org/drawingml/2006/main" id="3" idx="3"/>
            <a:endCxn xmlns:a="http://schemas.openxmlformats.org/drawingml/2006/main" id="4" idx="1"/>
          </p:cNvCxnSpPr>
          <p:nvPr/>
        </p:nvCxnSpPr>
        <p:spPr>
          <a:xfrm xmlns:a="http://schemas.openxmlformats.org/drawingml/2006/main">
            <a:off x="3924300" y="2543175"/>
            <a:ext cx="514350" cy="0"/>
          </a:xfrm>
          <a:prstGeom xmlns:a="http://schemas.openxmlformats.org/drawingml/2006/main" prst="straightConnector1">
            <a:avLst/>
          </a:prstGeom>
          <a:ln xmlns:a="http://schemas.openxmlformats.org/drawingml/2006/main" w="23813">
            <a:solidFill>
              <a:srgbClr val="56DBD0"/>
            </a:solidFill>
            <a:tailEnd type="arrow" w="med" len="med"/>
          </a:ln>
        </p:spPr>
      </p:cxnSp>
      <p:cxnSp>
        <p:nvCxnSpPr>
          <p:cNvPr id="18" name=""/>
          <p:cNvCxnSpPr>
            <a:stCxn xmlns:a="http://schemas.openxmlformats.org/drawingml/2006/main" id="4" idx="3"/>
            <a:endCxn xmlns:a="http://schemas.openxmlformats.org/drawingml/2006/main" id="5" idx="1"/>
          </p:cNvCxnSpPr>
          <p:nvPr/>
        </p:nvCxnSpPr>
        <p:spPr>
          <a:xfrm xmlns:a="http://schemas.openxmlformats.org/drawingml/2006/main">
            <a:off x="7753350" y="2543175"/>
            <a:ext cx="514350" cy="0"/>
          </a:xfrm>
          <a:prstGeom xmlns:a="http://schemas.openxmlformats.org/drawingml/2006/main" prst="straightConnector1">
            <a:avLst/>
          </a:prstGeom>
          <a:ln xmlns:a="http://schemas.openxmlformats.org/drawingml/2006/main" w="23813">
            <a:solidFill>
              <a:srgbClr val="56DBD0"/>
            </a:solidFill>
            <a:tailEnd type="arrow" w="med" len="med"/>
          </a:ln>
        </p:spPr>
      </p:cxnSp>
      <p:sp>
        <p:nvSpPr>
          <p:cNvPr id="8" name="">
            <a:extLst xmlns:a="http://schemas.openxmlformats.org/drawingml/2006/main">
              <a:ext uri="{FF2B5EF4-FFF2-40B4-BE49-F238E27FC236}">
                <a16:creationId xmlns:a16="http://schemas.microsoft.com/office/drawing/2014/main" id="{470A6B7A-0342-4A96-8281-B640BC45A098}"/>
              </a:ext>
            </a:extLst>
          </p:cNvPr>
          <p:cNvSpPr>
            <a:spLocks xmlns:a="http://schemas.openxmlformats.org/drawingml/2006/main" noGrp="1"/>
          </p:cNvSpPr>
          <p:nvPr/>
        </p:nvSpPr>
        <p:spPr>
          <a:xfrm xmlns:a="http://schemas.openxmlformats.org/drawingml/2006/main">
            <a:off x="609600" y="384810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Customer expense</a:t>
            </a:r>
          </a:p>
        </p:txBody>
      </p:sp>
      <p:sp>
        <p:nvSpPr>
          <p:cNvPr id="9" name="">
            <a:extLst xmlns:a="http://schemas.openxmlformats.org/drawingml/2006/main">
              <a:ext uri="{FF2B5EF4-FFF2-40B4-BE49-F238E27FC236}">
                <a16:creationId xmlns:a16="http://schemas.microsoft.com/office/drawing/2014/main" id="{235370E8-078D-4453-8FF8-9F998D5F073A}"/>
              </a:ext>
            </a:extLst>
          </p:cNvPr>
          <p:cNvSpPr>
            <a:spLocks xmlns:a="http://schemas.openxmlformats.org/drawingml/2006/main" noGrp="1"/>
          </p:cNvSpPr>
          <p:nvPr/>
        </p:nvSpPr>
        <p:spPr>
          <a:xfrm xmlns:a="http://schemas.openxmlformats.org/drawingml/2006/main">
            <a:off x="609600" y="4343400"/>
            <a:ext cx="5191125"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EAF1F5"/>
                </a:solidFill>
                <a:latin typeface="Helvetica Neue"/>
                <a:ea typeface="Helvetica Neue"/>
                <a:cs typeface="Helvetica Neue"/>
              </a:defRPr>
            </a:pPr>
            <a:r>
              <a:rPr sz="2025" b="0">
                <a:solidFill>
                  <a:srgbClr val="EAF1F5"/>
                </a:solidFill>
                <a:latin typeface="Helvetica Neue"/>
                <a:ea typeface="Helvetica Neue"/>
                <a:cs typeface="Helvetica Neue"/>
              </a:rPr>
              <a:t>Customers pay their providers directly for video generation. Connections need isolation, authorization and usage controls.</a:t>
            </a:r>
          </a:p>
        </p:txBody>
      </p:sp>
      <p:sp>
        <p:nvSpPr>
          <p:cNvPr id="10" name="">
            <a:extLst xmlns:a="http://schemas.openxmlformats.org/drawingml/2006/main">
              <a:ext uri="{FF2B5EF4-FFF2-40B4-BE49-F238E27FC236}">
                <a16:creationId xmlns:a16="http://schemas.microsoft.com/office/drawing/2014/main" id="{340F1BDE-E2FF-4363-A8EE-B0A273AD603E}"/>
              </a:ext>
            </a:extLst>
          </p:cNvPr>
          <p:cNvSpPr>
            <a:spLocks xmlns:a="http://schemas.openxmlformats.org/drawingml/2006/main" noGrp="1"/>
          </p:cNvSpPr>
          <p:nvPr/>
        </p:nvSpPr>
        <p:spPr>
          <a:xfrm xmlns:a="http://schemas.openxmlformats.org/drawingml/2006/main">
            <a:off x="6429375" y="384810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Vantemio expense</a:t>
            </a:r>
          </a:p>
        </p:txBody>
      </p:sp>
      <p:sp>
        <p:nvSpPr>
          <p:cNvPr id="11" name="">
            <a:extLst xmlns:a="http://schemas.openxmlformats.org/drawingml/2006/main">
              <a:ext uri="{FF2B5EF4-FFF2-40B4-BE49-F238E27FC236}">
                <a16:creationId xmlns:a16="http://schemas.microsoft.com/office/drawing/2014/main" id="{04CE65E9-5D46-4D1A-BCBA-A9C6F64734C8}"/>
              </a:ext>
            </a:extLst>
          </p:cNvPr>
          <p:cNvSpPr>
            <a:spLocks xmlns:a="http://schemas.openxmlformats.org/drawingml/2006/main" noGrp="1"/>
          </p:cNvSpPr>
          <p:nvPr/>
        </p:nvSpPr>
        <p:spPr>
          <a:xfrm xmlns:a="http://schemas.openxmlformats.org/drawingml/2006/main">
            <a:off x="6429375" y="4343400"/>
            <a:ext cx="5191125"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EAF1F5"/>
                </a:solidFill>
                <a:latin typeface="Helvetica Neue"/>
                <a:ea typeface="Helvetica Neue"/>
                <a:cs typeface="Helvetica Neue"/>
              </a:defRPr>
            </a:pPr>
            <a:r>
              <a:rPr sz="2025" b="0">
                <a:solidFill>
                  <a:srgbClr val="EAF1F5"/>
                </a:solidFill>
                <a:latin typeface="Helvetica Neue"/>
                <a:ea typeface="Helvetica Neue"/>
                <a:cs typeface="Helvetica Neue"/>
              </a:rPr>
              <a:t>Orchestration, editing, rendering and storage remain operating costs. Internal generation is for tests, demos and owned channels.</a:t>
            </a:r>
          </a:p>
        </p:txBody>
      </p:sp>
    </p:spTree>
    <p:extLst>
      <p:ext uri="{BB962C8B-B14F-4D97-AF65-F5344CB8AC3E}">
        <p14:creationId xmlns:p14="http://schemas.microsoft.com/office/powerpoint/2010/main" val="196245230"/>
      </p:ext>
    </p:extLst>
  </p:cSld>
</p:sld>
</file>

<file path=ppt/slides/slide16.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33FEBD4F-83F2-429D-87FE-01FD581AEC12}"/>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EAF1F5"/>
                </a:solidFill>
                <a:latin typeface="Helvetica Neue"/>
                <a:ea typeface="Helvetica Neue"/>
                <a:cs typeface="Helvetica Neue"/>
              </a:defRPr>
            </a:pPr>
            <a:r>
              <a:rPr sz="3300" b="1">
                <a:solidFill>
                  <a:srgbClr val="EAF1F5"/>
                </a:solidFill>
                <a:latin typeface="Helvetica Neue"/>
                <a:ea typeface="Helvetica Neue"/>
                <a:cs typeface="Helvetica Neue"/>
              </a:rPr>
              <a:t>Four ways to commercialize the engine</a:t>
            </a:r>
          </a:p>
        </p:txBody>
      </p:sp>
      <p:sp>
        <p:nvSpPr>
          <p:cNvPr id="2" name="">
            <a:extLst xmlns:a="http://schemas.openxmlformats.org/drawingml/2006/main">
              <a:ext uri="{FF2B5EF4-FFF2-40B4-BE49-F238E27FC236}">
                <a16:creationId xmlns:a16="http://schemas.microsoft.com/office/drawing/2014/main" id="{4524F031-5406-460B-AC1A-8F5FCEE1F286}"/>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A9BDC9"/>
                </a:solidFill>
                <a:latin typeface="Helvetica Neue"/>
                <a:ea typeface="Helvetica Neue"/>
                <a:cs typeface="Helvetica Neue"/>
              </a:defRPr>
            </a:pPr>
            <a:r>
              <a:rPr sz="1200" b="0">
                <a:solidFill>
                  <a:srgbClr val="A9BDC9"/>
                </a:solidFill>
                <a:latin typeface="Helvetica Neue"/>
                <a:ea typeface="Helvetica Neue"/>
                <a:cs typeface="Helvetica Neue"/>
              </a:rPr>
              <a:t>16</a:t>
            </a:r>
          </a:p>
        </p:txBody>
      </p:sp>
      <p:graphicFrame>
        <p:nvGraphicFramePr>
          <p:cNvPr id="7" name=""/>
          <p:cNvGraphicFramePr/>
          <p:nvPr/>
        </p:nvGraphicFramePr>
        <p:xfrm>
          <a:off xmlns:a="http://schemas.openxmlformats.org/drawingml/2006/main" x="609600" y="1762125"/>
          <a:ext xmlns:a="http://schemas.openxmlformats.org/drawingml/2006/main" cx="10972800" cy="3429000"/>
        </p:xfrm>
        <a:graphic xmlns:a="http://schemas.openxmlformats.org/drawingml/2006/main">
          <a:graphicData uri="http://schemas.openxmlformats.org/drawingml/2006/table">
            <a:tbl>
              <a:tblPr/>
              <a:tblGrid>
                <a:gridCol w="2476500"/>
                <a:gridCol w="4095750"/>
                <a:gridCol w="4400550"/>
              </a:tblGrid>
              <a:tr h="685800">
                <a:tc>
                  <a:txBody>
                    <a:bodyPr lIns="114300" tIns="95250" rIns="114300" bIns="76200">
                      <a:noAutofit/>
                    </a:bodyPr>
                    <a:lstStyle/>
                    <a:p>
                      <a:r>
                        <a:rPr sz="1800" b="1">
                          <a:solidFill>
                            <a:srgbClr val="FFFFFF"/>
                          </a:solidFill>
                          <a:latin typeface="Helvetica Neue"/>
                          <a:ea typeface="Helvetica Neue"/>
                          <a:cs typeface="Helvetica Neue"/>
                        </a:rPr>
                        <a:t>Format</a:t>
                      </a:r>
                    </a:p>
                  </a:txBody>
                  <a:tcPr marL="91440" marR="91440" marT="45720" marB="45720" anchor="ctr">
                    <a:solidFill>
                      <a:srgbClr val="12384C"/>
                    </a:solidFill>
                  </a:tcPr>
                </a:tc>
                <a:tc>
                  <a:txBody>
                    <a:bodyPr lIns="114300" tIns="95250" rIns="114300" bIns="76200">
                      <a:noAutofit/>
                    </a:bodyPr>
                    <a:lstStyle/>
                    <a:p>
                      <a:r>
                        <a:rPr sz="1800" b="1">
                          <a:solidFill>
                            <a:srgbClr val="FFFFFF"/>
                          </a:solidFill>
                          <a:latin typeface="Helvetica Neue"/>
                          <a:ea typeface="Helvetica Neue"/>
                          <a:cs typeface="Helvetica Neue"/>
                        </a:rPr>
                        <a:t>Customer value</a:t>
                      </a:r>
                    </a:p>
                  </a:txBody>
                  <a:tcPr marL="91440" marR="91440" marT="45720" marB="45720" anchor="ctr">
                    <a:solidFill>
                      <a:srgbClr val="12384C"/>
                    </a:solidFill>
                  </a:tcPr>
                </a:tc>
                <a:tc>
                  <a:txBody>
                    <a:bodyPr lIns="114300" tIns="95250" rIns="114300" bIns="76200">
                      <a:noAutofit/>
                    </a:bodyPr>
                    <a:lstStyle/>
                    <a:p>
                      <a:r>
                        <a:rPr sz="1800" b="1">
                          <a:solidFill>
                            <a:srgbClr val="FFFFFF"/>
                          </a:solidFill>
                          <a:latin typeface="Helvetica Neue"/>
                          <a:ea typeface="Helvetica Neue"/>
                          <a:cs typeface="Helvetica Neue"/>
                        </a:rPr>
                        <a:t>Development direction</a:t>
                      </a:r>
                    </a:p>
                  </a:txBody>
                  <a:tcPr marL="91440" marR="91440" marT="45720" marB="45720" anchor="ctr">
                    <a:solidFill>
                      <a:srgbClr val="12384C"/>
                    </a:solidFill>
                  </a:tcPr>
                </a:tc>
              </a:tr>
              <a:tr h="685800">
                <a:tc>
                  <a:txBody>
                    <a:bodyPr lIns="114300" tIns="95250" rIns="114300" bIns="76200">
                      <a:noAutofit/>
                    </a:bodyPr>
                    <a:lstStyle/>
                    <a:p>
                      <a:r>
                        <a:rPr sz="1800" b="0">
                          <a:solidFill>
                            <a:srgbClr val="EAF1F5"/>
                          </a:solidFill>
                          <a:latin typeface="Helvetica Neue"/>
                          <a:ea typeface="Helvetica Neue"/>
                          <a:cs typeface="Helvetica Neue"/>
                        </a:rPr>
                        <a:t>Software licensing</a:t>
                      </a:r>
                    </a:p>
                  </a:txBody>
                  <a:tcPr marL="91440" marR="91440" marT="45720" marB="45720" anchor="ctr">
                    <a:solidFill>
                      <a:srgbClr val="0E2230"/>
                    </a:solidFill>
                  </a:tcPr>
                </a:tc>
                <a:tc>
                  <a:txBody>
                    <a:bodyPr lIns="114300" tIns="95250" rIns="114300" bIns="76200">
                      <a:noAutofit/>
                    </a:bodyPr>
                    <a:lstStyle/>
                    <a:p>
                      <a:r>
                        <a:rPr sz="1800" b="0">
                          <a:solidFill>
                            <a:srgbClr val="EAF1F5"/>
                          </a:solidFill>
                          <a:latin typeface="Helvetica Neue"/>
                          <a:ea typeface="Helvetica Neue"/>
                          <a:cs typeface="Helvetica Neue"/>
                        </a:rPr>
                        <a:t>Run on customer-owned hardware</a:t>
                      </a:r>
                    </a:p>
                  </a:txBody>
                  <a:tcPr marL="91440" marR="91440" marT="45720" marB="45720" anchor="ctr">
                    <a:solidFill>
                      <a:srgbClr val="0E2230"/>
                    </a:solidFill>
                  </a:tcPr>
                </a:tc>
                <a:tc>
                  <a:txBody>
                    <a:bodyPr lIns="114300" tIns="95250" rIns="114300" bIns="76200">
                      <a:noAutofit/>
                    </a:bodyPr>
                    <a:lstStyle/>
                    <a:p>
                      <a:r>
                        <a:rPr sz="1800" b="0">
                          <a:solidFill>
                            <a:srgbClr val="EAF1F5"/>
                          </a:solidFill>
                          <a:latin typeface="Helvetica Neue"/>
                          <a:ea typeface="Helvetica Neue"/>
                          <a:cs typeface="Helvetica Neue"/>
                        </a:rPr>
                        <a:t>Installable, supported product</a:t>
                      </a:r>
                    </a:p>
                  </a:txBody>
                  <a:tcPr marL="91440" marR="91440" marT="45720" marB="45720" anchor="ctr">
                    <a:solidFill>
                      <a:srgbClr val="0E2230"/>
                    </a:solidFill>
                  </a:tcPr>
                </a:tc>
              </a:tr>
              <a:tr h="685800">
                <a:tc>
                  <a:txBody>
                    <a:bodyPr lIns="114300" tIns="95250" rIns="114300" bIns="76200">
                      <a:noAutofit/>
                    </a:bodyPr>
                    <a:lstStyle/>
                    <a:p>
                      <a:r>
                        <a:rPr sz="1800" b="0">
                          <a:solidFill>
                            <a:srgbClr val="EAF1F5"/>
                          </a:solidFill>
                          <a:latin typeface="Helvetica Neue"/>
                          <a:ea typeface="Helvetica Neue"/>
                          <a:cs typeface="Helvetica Neue"/>
                        </a:rPr>
                        <a:t>Hosted cloud service</a:t>
                      </a:r>
                    </a:p>
                  </a:txBody>
                  <a:tcPr marL="91440" marR="91440" marT="45720" marB="45720" anchor="ctr">
                    <a:solidFill>
                      <a:srgbClr val="102938"/>
                    </a:solidFill>
                  </a:tcPr>
                </a:tc>
                <a:tc>
                  <a:txBody>
                    <a:bodyPr lIns="114300" tIns="95250" rIns="114300" bIns="76200">
                      <a:noAutofit/>
                    </a:bodyPr>
                    <a:lstStyle/>
                    <a:p>
                      <a:r>
                        <a:rPr sz="1800" b="0">
                          <a:solidFill>
                            <a:srgbClr val="EAF1F5"/>
                          </a:solidFill>
                          <a:latin typeface="Helvetica Neue"/>
                          <a:ea typeface="Helvetica Neue"/>
                          <a:cs typeface="Helvetica Neue"/>
                        </a:rPr>
                        <a:t>Use managed workflows remotely</a:t>
                      </a:r>
                    </a:p>
                  </a:txBody>
                  <a:tcPr marL="91440" marR="91440" marT="45720" marB="45720" anchor="ctr">
                    <a:solidFill>
                      <a:srgbClr val="102938"/>
                    </a:solidFill>
                  </a:tcPr>
                </a:tc>
                <a:tc>
                  <a:txBody>
                    <a:bodyPr lIns="114300" tIns="95250" rIns="114300" bIns="76200">
                      <a:noAutofit/>
                    </a:bodyPr>
                    <a:lstStyle/>
                    <a:p>
                      <a:r>
                        <a:rPr sz="1800" b="0">
                          <a:solidFill>
                            <a:srgbClr val="EAF1F5"/>
                          </a:solidFill>
                          <a:latin typeface="Helvetica Neue"/>
                          <a:ea typeface="Helvetica Neue"/>
                          <a:cs typeface="Helvetica Neue"/>
                        </a:rPr>
                        <a:t>Account isolation and cloud operations</a:t>
                      </a:r>
                    </a:p>
                  </a:txBody>
                  <a:tcPr marL="91440" marR="91440" marT="45720" marB="45720" anchor="ctr">
                    <a:solidFill>
                      <a:srgbClr val="102938"/>
                    </a:solidFill>
                  </a:tcPr>
                </a:tc>
              </a:tr>
              <a:tr h="685800">
                <a:tc>
                  <a:txBody>
                    <a:bodyPr lIns="114300" tIns="95250" rIns="114300" bIns="76200">
                      <a:noAutofit/>
                    </a:bodyPr>
                    <a:lstStyle/>
                    <a:p>
                      <a:r>
                        <a:rPr sz="1800" b="0">
                          <a:solidFill>
                            <a:srgbClr val="EAF1F5"/>
                          </a:solidFill>
                          <a:latin typeface="Helvetica Neue"/>
                          <a:ea typeface="Helvetica Neue"/>
                          <a:cs typeface="Helvetica Neue"/>
                        </a:rPr>
                        <a:t>Developer API</a:t>
                      </a:r>
                    </a:p>
                  </a:txBody>
                  <a:tcPr marL="91440" marR="91440" marT="45720" marB="45720" anchor="ctr">
                    <a:solidFill>
                      <a:srgbClr val="0E2230"/>
                    </a:solidFill>
                  </a:tcPr>
                </a:tc>
                <a:tc>
                  <a:txBody>
                    <a:bodyPr lIns="114300" tIns="95250" rIns="114300" bIns="76200">
                      <a:noAutofit/>
                    </a:bodyPr>
                    <a:lstStyle/>
                    <a:p>
                      <a:r>
                        <a:rPr sz="1800" b="0">
                          <a:solidFill>
                            <a:srgbClr val="EAF1F5"/>
                          </a:solidFill>
                          <a:latin typeface="Helvetica Neue"/>
                          <a:ea typeface="Helvetica Neue"/>
                          <a:cs typeface="Helvetica Neue"/>
                        </a:rPr>
                        <a:t>Embed jobs and results in other apps</a:t>
                      </a:r>
                    </a:p>
                  </a:txBody>
                  <a:tcPr marL="91440" marR="91440" marT="45720" marB="45720" anchor="ctr">
                    <a:solidFill>
                      <a:srgbClr val="0E2230"/>
                    </a:solidFill>
                  </a:tcPr>
                </a:tc>
                <a:tc>
                  <a:txBody>
                    <a:bodyPr lIns="114300" tIns="95250" rIns="114300" bIns="76200">
                      <a:noAutofit/>
                    </a:bodyPr>
                    <a:lstStyle/>
                    <a:p>
                      <a:r>
                        <a:rPr sz="1800" b="0">
                          <a:solidFill>
                            <a:srgbClr val="EAF1F5"/>
                          </a:solidFill>
                          <a:latin typeface="Helvetica Neue"/>
                          <a:ea typeface="Helvetica Neue"/>
                          <a:cs typeface="Helvetica Neue"/>
                        </a:rPr>
                        <a:t>Future external API and MCP interfaces</a:t>
                      </a:r>
                    </a:p>
                  </a:txBody>
                  <a:tcPr marL="91440" marR="91440" marT="45720" marB="45720" anchor="ctr">
                    <a:solidFill>
                      <a:srgbClr val="0E2230"/>
                    </a:solidFill>
                  </a:tcPr>
                </a:tc>
              </a:tr>
              <a:tr h="685800">
                <a:tc>
                  <a:txBody>
                    <a:bodyPr lIns="114300" tIns="95250" rIns="114300" bIns="76200">
                      <a:noAutofit/>
                    </a:bodyPr>
                    <a:lstStyle/>
                    <a:p>
                      <a:r>
                        <a:rPr sz="1800" b="0">
                          <a:solidFill>
                            <a:srgbClr val="EAF1F5"/>
                          </a:solidFill>
                          <a:latin typeface="Helvetica Neue"/>
                          <a:ea typeface="Helvetica Neue"/>
                          <a:cs typeface="Helvetica Neue"/>
                        </a:rPr>
                        <a:t>Business implementation</a:t>
                      </a:r>
                    </a:p>
                  </a:txBody>
                  <a:tcPr marL="91440" marR="91440" marT="45720" marB="45720" anchor="ctr">
                    <a:solidFill>
                      <a:srgbClr val="102938"/>
                    </a:solidFill>
                  </a:tcPr>
                </a:tc>
                <a:tc>
                  <a:txBody>
                    <a:bodyPr lIns="114300" tIns="95250" rIns="114300" bIns="76200">
                      <a:noAutofit/>
                    </a:bodyPr>
                    <a:lstStyle/>
                    <a:p>
                      <a:r>
                        <a:rPr sz="1800" b="0">
                          <a:solidFill>
                            <a:srgbClr val="EAF1F5"/>
                          </a:solidFill>
                          <a:latin typeface="Helvetica Neue"/>
                          <a:ea typeface="Helvetica Neue"/>
                          <a:cs typeface="Helvetica Neue"/>
                        </a:rPr>
                        <a:t>Adapt the engine to existing operations</a:t>
                      </a:r>
                    </a:p>
                  </a:txBody>
                  <a:tcPr marL="91440" marR="91440" marT="45720" marB="45720" anchor="ctr">
                    <a:solidFill>
                      <a:srgbClr val="102938"/>
                    </a:solidFill>
                  </a:tcPr>
                </a:tc>
                <a:tc>
                  <a:txBody>
                    <a:bodyPr lIns="114300" tIns="95250" rIns="114300" bIns="76200">
                      <a:noAutofit/>
                    </a:bodyPr>
                    <a:lstStyle/>
                    <a:p>
                      <a:r>
                        <a:rPr sz="1800" b="0">
                          <a:solidFill>
                            <a:srgbClr val="EAF1F5"/>
                          </a:solidFill>
                          <a:latin typeface="Helvetica Neue"/>
                          <a:ea typeface="Helvetica Neue"/>
                          <a:cs typeface="Helvetica Neue"/>
                        </a:rPr>
                        <a:t>Domain rules, connectors and workflow setup</a:t>
                      </a:r>
                    </a:p>
                  </a:txBody>
                  <a:tcPr marL="91440" marR="91440" marT="45720" marB="45720" anchor="ctr">
                    <a:solidFill>
                      <a:srgbClr val="102938"/>
                    </a:solidFill>
                  </a:tcPr>
                </a:tc>
              </a:tr>
            </a:tbl>
          </a:graphicData>
        </a:graphic>
      </p:graphicFrame>
      <p:sp>
        <p:nvSpPr>
          <p:cNvPr id="4" name="">
            <a:extLst xmlns:a="http://schemas.openxmlformats.org/drawingml/2006/main">
              <a:ext uri="{FF2B5EF4-FFF2-40B4-BE49-F238E27FC236}">
                <a16:creationId xmlns:a16="http://schemas.microsoft.com/office/drawing/2014/main" id="{7B5FF9C9-D153-41E3-B43B-4AC43BA1BB18}"/>
              </a:ext>
            </a:extLst>
          </p:cNvPr>
          <p:cNvSpPr>
            <a:spLocks xmlns:a="http://schemas.openxmlformats.org/drawingml/2006/main" noGrp="1"/>
          </p:cNvSpPr>
          <p:nvPr/>
        </p:nvSpPr>
        <p:spPr>
          <a:xfrm xmlns:a="http://schemas.openxmlformats.org/drawingml/2006/main">
            <a:off x="609600" y="5600700"/>
            <a:ext cx="10953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56DBD0"/>
                </a:solidFill>
                <a:latin typeface="Helvetica Neue"/>
                <a:ea typeface="Helvetica Neue"/>
                <a:cs typeface="Helvetica Neue"/>
              </a:defRPr>
            </a:pPr>
            <a:r>
              <a:rPr sz="2250" b="1">
                <a:solidFill>
                  <a:srgbClr val="56DBD0"/>
                </a:solidFill>
                <a:latin typeface="Helvetica Neue"/>
                <a:ea typeface="Helvetica Neue"/>
                <a:cs typeface="Helvetica Neue"/>
              </a:rPr>
              <a:t>Local, cloud and hybrid deployments use the same orchestration model.</a:t>
            </a:r>
          </a:p>
        </p:txBody>
      </p:sp>
    </p:spTree>
    <p:extLst>
      <p:ext uri="{BB962C8B-B14F-4D97-AF65-F5344CB8AC3E}">
        <p14:creationId xmlns:p14="http://schemas.microsoft.com/office/powerpoint/2010/main" val="383081621"/>
      </p:ext>
    </p:extLst>
  </p:cSld>
</p:sld>
</file>

<file path=ppt/slides/slide17.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28460BE-BBFB-4A44-AE0B-9110994DB272}"/>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EAF1F5"/>
                </a:solidFill>
                <a:latin typeface="Helvetica Neue"/>
                <a:ea typeface="Helvetica Neue"/>
                <a:cs typeface="Helvetica Neue"/>
              </a:defRPr>
            </a:pPr>
            <a:r>
              <a:rPr sz="3300" b="1">
                <a:solidFill>
                  <a:srgbClr val="EAF1F5"/>
                </a:solidFill>
                <a:latin typeface="Helvetica Neue"/>
                <a:ea typeface="Helvetica Neue"/>
                <a:cs typeface="Helvetica Neue"/>
              </a:rPr>
              <a:t>An operating core for marketing agencies</a:t>
            </a:r>
          </a:p>
        </p:txBody>
      </p:sp>
      <p:sp>
        <p:nvSpPr>
          <p:cNvPr id="2" name="">
            <a:extLst xmlns:a="http://schemas.openxmlformats.org/drawingml/2006/main">
              <a:ext uri="{FF2B5EF4-FFF2-40B4-BE49-F238E27FC236}">
                <a16:creationId xmlns:a16="http://schemas.microsoft.com/office/drawing/2014/main" id="{E5FEC6FB-1F5B-4FEA-85F6-275008994FE4}"/>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A9BDC9"/>
                </a:solidFill>
                <a:latin typeface="Helvetica Neue"/>
                <a:ea typeface="Helvetica Neue"/>
                <a:cs typeface="Helvetica Neue"/>
              </a:defRPr>
            </a:pPr>
            <a:r>
              <a:rPr sz="1200" b="0">
                <a:solidFill>
                  <a:srgbClr val="A9BDC9"/>
                </a:solidFill>
                <a:latin typeface="Helvetica Neue"/>
                <a:ea typeface="Helvetica Neue"/>
                <a:cs typeface="Helvetica Neue"/>
              </a:rPr>
              <a:t>17</a:t>
            </a:r>
          </a:p>
        </p:txBody>
      </p:sp>
      <p:sp>
        <p:nvSpPr>
          <p:cNvPr id="3" name="">
            <a:extLst xmlns:a="http://schemas.openxmlformats.org/drawingml/2006/main">
              <a:ext uri="{FF2B5EF4-FFF2-40B4-BE49-F238E27FC236}">
                <a16:creationId xmlns:a16="http://schemas.microsoft.com/office/drawing/2014/main" id="{F0D1B7DC-CA2A-4338-AEA2-FBCF48B67510}"/>
              </a:ext>
            </a:extLst>
          </p:cNvPr>
          <p:cNvSpPr>
            <a:spLocks xmlns:a="http://schemas.openxmlformats.org/drawingml/2006/main" noGrp="1"/>
          </p:cNvSpPr>
          <p:nvPr/>
        </p:nvSpPr>
        <p:spPr>
          <a:xfrm xmlns:a="http://schemas.openxmlformats.org/drawingml/2006/main">
            <a:off x="609600" y="171450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Configure each client</a:t>
            </a:r>
          </a:p>
        </p:txBody>
      </p:sp>
      <p:sp>
        <p:nvSpPr>
          <p:cNvPr id="4" name="">
            <a:extLst xmlns:a="http://schemas.openxmlformats.org/drawingml/2006/main">
              <a:ext uri="{FF2B5EF4-FFF2-40B4-BE49-F238E27FC236}">
                <a16:creationId xmlns:a16="http://schemas.microsoft.com/office/drawing/2014/main" id="{C4ACC135-E2CA-4F2D-B2BC-9282706F07F1}"/>
              </a:ext>
            </a:extLst>
          </p:cNvPr>
          <p:cNvSpPr>
            <a:spLocks xmlns:a="http://schemas.openxmlformats.org/drawingml/2006/main" noGrp="1"/>
          </p:cNvSpPr>
          <p:nvPr/>
        </p:nvSpPr>
        <p:spPr>
          <a:xfrm xmlns:a="http://schemas.openxmlformats.org/drawingml/2006/main">
            <a:off x="609600" y="2209800"/>
            <a:ext cx="51911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EAF1F5"/>
                </a:solidFill>
                <a:latin typeface="Helvetica Neue"/>
                <a:ea typeface="Helvetica Neue"/>
                <a:cs typeface="Helvetica Neue"/>
              </a:defRPr>
            </a:pPr>
            <a:r>
              <a:rPr sz="2100" b="0">
                <a:solidFill>
                  <a:srgbClr val="EAF1F5"/>
                </a:solidFill>
                <a:latin typeface="Helvetica Neue"/>
                <a:ea typeface="Helvetica Neue"/>
                <a:cs typeface="Helvetica Neue"/>
              </a:rPr>
              <a:t>Brand rules, target audience, approved sources, service accounts, campaign goals and review policy.</a:t>
            </a:r>
          </a:p>
        </p:txBody>
      </p:sp>
      <p:sp>
        <p:nvSpPr>
          <p:cNvPr id="5" name="">
            <a:extLst xmlns:a="http://schemas.openxmlformats.org/drawingml/2006/main">
              <a:ext uri="{FF2B5EF4-FFF2-40B4-BE49-F238E27FC236}">
                <a16:creationId xmlns:a16="http://schemas.microsoft.com/office/drawing/2014/main" id="{3E3B4A23-F3A8-415F-9F11-0B75DF3ED05C}"/>
              </a:ext>
            </a:extLst>
          </p:cNvPr>
          <p:cNvSpPr>
            <a:spLocks xmlns:a="http://schemas.openxmlformats.org/drawingml/2006/main" noGrp="1"/>
          </p:cNvSpPr>
          <p:nvPr/>
        </p:nvSpPr>
        <p:spPr>
          <a:xfrm xmlns:a="http://schemas.openxmlformats.org/drawingml/2006/main">
            <a:off x="6429375" y="171450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Run recurring production</a:t>
            </a:r>
          </a:p>
        </p:txBody>
      </p:sp>
      <p:sp>
        <p:nvSpPr>
          <p:cNvPr id="6" name="">
            <a:extLst xmlns:a="http://schemas.openxmlformats.org/drawingml/2006/main">
              <a:ext uri="{FF2B5EF4-FFF2-40B4-BE49-F238E27FC236}">
                <a16:creationId xmlns:a16="http://schemas.microsoft.com/office/drawing/2014/main" id="{046F89C5-96BF-426A-BC39-7BC430CB2AF3}"/>
              </a:ext>
            </a:extLst>
          </p:cNvPr>
          <p:cNvSpPr>
            <a:spLocks xmlns:a="http://schemas.openxmlformats.org/drawingml/2006/main" noGrp="1"/>
          </p:cNvSpPr>
          <p:nvPr/>
        </p:nvSpPr>
        <p:spPr>
          <a:xfrm xmlns:a="http://schemas.openxmlformats.org/drawingml/2006/main">
            <a:off x="6429375" y="2209800"/>
            <a:ext cx="51911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EAF1F5"/>
                </a:solidFill>
                <a:latin typeface="Helvetica Neue"/>
                <a:ea typeface="Helvetica Neue"/>
                <a:cs typeface="Helvetica Neue"/>
              </a:defRPr>
            </a:pPr>
            <a:r>
              <a:rPr sz="2100" b="0">
                <a:solidFill>
                  <a:srgbClr val="EAF1F5"/>
                </a:solidFill>
                <a:latin typeface="Helvetica Neue"/>
                <a:ea typeface="Helvetica Neue"/>
                <a:cs typeface="Helvetica Neue"/>
              </a:rPr>
              <a:t>Prepare content calendars, scripts, videos and posts; schedule publication and coordinate channel-specific execution.</a:t>
            </a:r>
          </a:p>
        </p:txBody>
      </p:sp>
      <p:sp>
        <p:nvSpPr>
          <p:cNvPr id="7" name="">
            <a:extLst xmlns:a="http://schemas.openxmlformats.org/drawingml/2006/main">
              <a:ext uri="{FF2B5EF4-FFF2-40B4-BE49-F238E27FC236}">
                <a16:creationId xmlns:a16="http://schemas.microsoft.com/office/drawing/2014/main" id="{3A51B279-203C-4928-8543-98F73A73A212}"/>
              </a:ext>
            </a:extLst>
          </p:cNvPr>
          <p:cNvSpPr>
            <a:spLocks xmlns:a="http://schemas.openxmlformats.org/drawingml/2006/main" noGrp="1"/>
          </p:cNvSpPr>
          <p:nvPr/>
        </p:nvSpPr>
        <p:spPr>
          <a:xfrm xmlns:a="http://schemas.openxmlformats.org/drawingml/2006/main">
            <a:off x="609600" y="382905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Measure and improve</a:t>
            </a:r>
          </a:p>
        </p:txBody>
      </p:sp>
      <p:sp>
        <p:nvSpPr>
          <p:cNvPr id="8" name="">
            <a:extLst xmlns:a="http://schemas.openxmlformats.org/drawingml/2006/main">
              <a:ext uri="{FF2B5EF4-FFF2-40B4-BE49-F238E27FC236}">
                <a16:creationId xmlns:a16="http://schemas.microsoft.com/office/drawing/2014/main" id="{E54E5842-6EBB-4FF3-96F9-6D438852FDE2}"/>
              </a:ext>
            </a:extLst>
          </p:cNvPr>
          <p:cNvSpPr>
            <a:spLocks xmlns:a="http://schemas.openxmlformats.org/drawingml/2006/main" noGrp="1"/>
          </p:cNvSpPr>
          <p:nvPr/>
        </p:nvSpPr>
        <p:spPr>
          <a:xfrm xmlns:a="http://schemas.openxmlformats.org/drawingml/2006/main">
            <a:off x="609600" y="4324350"/>
            <a:ext cx="51911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EAF1F5"/>
                </a:solidFill>
                <a:latin typeface="Helvetica Neue"/>
                <a:ea typeface="Helvetica Neue"/>
                <a:cs typeface="Helvetica Neue"/>
              </a:defRPr>
            </a:pPr>
            <a:r>
              <a:rPr sz="2100" b="0">
                <a:solidFill>
                  <a:srgbClr val="EAF1F5"/>
                </a:solidFill>
                <a:latin typeface="Helvetica Neue"/>
                <a:ea typeface="Helvetica Neue"/>
                <a:cs typeface="Helvetica Neue"/>
              </a:rPr>
              <a:t>Compare audience response, content performance and campaign results. Update the next content cycle.</a:t>
            </a:r>
          </a:p>
        </p:txBody>
      </p:sp>
      <p:sp>
        <p:nvSpPr>
          <p:cNvPr id="9" name="">
            <a:extLst xmlns:a="http://schemas.openxmlformats.org/drawingml/2006/main">
              <a:ext uri="{FF2B5EF4-FFF2-40B4-BE49-F238E27FC236}">
                <a16:creationId xmlns:a16="http://schemas.microsoft.com/office/drawing/2014/main" id="{318EACF5-6597-409B-B148-C7F70DC24329}"/>
              </a:ext>
            </a:extLst>
          </p:cNvPr>
          <p:cNvSpPr>
            <a:spLocks xmlns:a="http://schemas.openxmlformats.org/drawingml/2006/main" noGrp="1"/>
          </p:cNvSpPr>
          <p:nvPr/>
        </p:nvSpPr>
        <p:spPr>
          <a:xfrm xmlns:a="http://schemas.openxmlformats.org/drawingml/2006/main">
            <a:off x="6429375" y="382905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Expand the workflow</a:t>
            </a:r>
          </a:p>
        </p:txBody>
      </p:sp>
      <p:sp>
        <p:nvSpPr>
          <p:cNvPr id="10" name="">
            <a:extLst xmlns:a="http://schemas.openxmlformats.org/drawingml/2006/main">
              <a:ext uri="{FF2B5EF4-FFF2-40B4-BE49-F238E27FC236}">
                <a16:creationId xmlns:a16="http://schemas.microsoft.com/office/drawing/2014/main" id="{89BD9DF2-1D7F-42E2-BA33-2E63C0C5B296}"/>
              </a:ext>
            </a:extLst>
          </p:cNvPr>
          <p:cNvSpPr>
            <a:spLocks xmlns:a="http://schemas.openxmlformats.org/drawingml/2006/main" noGrp="1"/>
          </p:cNvSpPr>
          <p:nvPr/>
        </p:nvSpPr>
        <p:spPr>
          <a:xfrm xmlns:a="http://schemas.openxmlformats.org/drawingml/2006/main">
            <a:off x="6429375" y="4324350"/>
            <a:ext cx="51911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EAF1F5"/>
                </a:solidFill>
                <a:latin typeface="Helvetica Neue"/>
                <a:ea typeface="Helvetica Neue"/>
                <a:cs typeface="Helvetica Neue"/>
              </a:defRPr>
            </a:pPr>
            <a:r>
              <a:rPr sz="2100" b="0">
                <a:solidFill>
                  <a:srgbClr val="EAF1F5"/>
                </a:solidFill>
                <a:latin typeface="Helvetica Neue"/>
                <a:ea typeface="Helvetica Neue"/>
                <a:cs typeface="Helvetica Neue"/>
              </a:rPr>
              <a:t>Add SEO planning, campaign analysis and related digital-service tasks through dedicated adapters and validation rules.</a:t>
            </a:r>
          </a:p>
        </p:txBody>
      </p:sp>
    </p:spTree>
    <p:extLst>
      <p:ext uri="{BB962C8B-B14F-4D97-AF65-F5344CB8AC3E}">
        <p14:creationId xmlns:p14="http://schemas.microsoft.com/office/powerpoint/2010/main" val="1764409757"/>
      </p:ext>
    </p:extLst>
  </p:cSld>
</p:sld>
</file>

<file path=ppt/slides/slide18.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042C6FB-4BCB-448F-BFB0-1B655B42C1F3}"/>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FFFFFF"/>
                </a:solidFill>
                <a:latin typeface="Helvetica Neue"/>
                <a:ea typeface="Helvetica Neue"/>
                <a:cs typeface="Helvetica Neue"/>
              </a:defRPr>
            </a:pPr>
            <a:r>
              <a:rPr sz="3300" b="1">
                <a:solidFill>
                  <a:srgbClr val="FFFFFF"/>
                </a:solidFill>
                <a:latin typeface="Helvetica Neue"/>
                <a:ea typeface="Helvetica Neue"/>
                <a:cs typeface="Helvetica Neue"/>
              </a:rPr>
              <a:t>An extensible internal core for other businesses</a:t>
            </a:r>
          </a:p>
        </p:txBody>
      </p:sp>
      <p:sp>
        <p:nvSpPr>
          <p:cNvPr id="2" name="">
            <a:extLst xmlns:a="http://schemas.openxmlformats.org/drawingml/2006/main">
              <a:ext uri="{FF2B5EF4-FFF2-40B4-BE49-F238E27FC236}">
                <a16:creationId xmlns:a16="http://schemas.microsoft.com/office/drawing/2014/main" id="{F7DD47A8-A5A3-4551-9CF4-E213427C28EF}"/>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B5C4CD"/>
                </a:solidFill>
                <a:latin typeface="Helvetica Neue"/>
                <a:ea typeface="Helvetica Neue"/>
                <a:cs typeface="Helvetica Neue"/>
              </a:defRPr>
            </a:pPr>
            <a:r>
              <a:rPr sz="1200" b="0">
                <a:solidFill>
                  <a:srgbClr val="B5C4CD"/>
                </a:solidFill>
                <a:latin typeface="Helvetica Neue"/>
                <a:ea typeface="Helvetica Neue"/>
                <a:cs typeface="Helvetica Neue"/>
              </a:rPr>
              <a:t>18</a:t>
            </a:r>
          </a:p>
        </p:txBody>
      </p:sp>
      <p:sp>
        <p:nvSpPr>
          <p:cNvPr id="3" name="">
            <a:extLst xmlns:a="http://schemas.openxmlformats.org/drawingml/2006/main">
              <a:ext uri="{FF2B5EF4-FFF2-40B4-BE49-F238E27FC236}">
                <a16:creationId xmlns:a16="http://schemas.microsoft.com/office/drawing/2014/main" id="{C1FA39C7-3F07-4C8D-B620-6FA70B858671}"/>
              </a:ext>
            </a:extLst>
          </p:cNvPr>
          <p:cNvSpPr>
            <a:spLocks xmlns:a="http://schemas.openxmlformats.org/drawingml/2006/main" noGrp="1"/>
          </p:cNvSpPr>
          <p:nvPr/>
        </p:nvSpPr>
        <p:spPr>
          <a:xfrm xmlns:a="http://schemas.openxmlformats.org/drawingml/2006/main">
            <a:off x="609600" y="16383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FFFFFF"/>
                </a:solidFill>
                <a:latin typeface="Helvetica Neue"/>
                <a:ea typeface="Helvetica Neue"/>
                <a:cs typeface="Helvetica Neue"/>
              </a:defRPr>
            </a:pPr>
            <a:r>
              <a:rPr sz="2925" b="1">
                <a:solidFill>
                  <a:srgbClr val="FFFFFF"/>
                </a:solidFill>
                <a:latin typeface="Helvetica Neue"/>
                <a:ea typeface="Helvetica Neue"/>
                <a:cs typeface="Helvetica Neue"/>
              </a:rPr>
              <a:t>New services reuse the same operating pattern</a:t>
            </a:r>
          </a:p>
        </p:txBody>
      </p:sp>
      <p:sp>
        <p:nvSpPr>
          <p:cNvPr id="4" name="">
            <a:extLst xmlns:a="http://schemas.openxmlformats.org/drawingml/2006/main">
              <a:ext uri="{FF2B5EF4-FFF2-40B4-BE49-F238E27FC236}">
                <a16:creationId xmlns:a16="http://schemas.microsoft.com/office/drawing/2014/main" id="{FD6533F4-D8AA-41C8-ACDF-4A8BBC4EE0C5}"/>
              </a:ext>
            </a:extLst>
          </p:cNvPr>
          <p:cNvSpPr>
            <a:spLocks xmlns:a="http://schemas.openxmlformats.org/drawingml/2006/main" noGrp="1"/>
          </p:cNvSpPr>
          <p:nvPr/>
        </p:nvSpPr>
        <p:spPr>
          <a:xfrm xmlns:a="http://schemas.openxmlformats.org/drawingml/2006/main">
            <a:off x="609600" y="28765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0">
                <a:solidFill>
                  <a:srgbClr val="56DBD0"/>
                </a:solidFill>
                <a:latin typeface="Helvetica Neue"/>
                <a:ea typeface="Helvetica Neue"/>
                <a:cs typeface="Helvetica Neue"/>
              </a:defRPr>
            </a:pPr>
            <a:r>
              <a:rPr sz="2400" b="0">
                <a:solidFill>
                  <a:srgbClr val="56DBD0"/>
                </a:solidFill>
                <a:latin typeface="Helvetica Neue"/>
                <a:ea typeface="Helvetica Neue"/>
                <a:cs typeface="Helvetica Neue"/>
              </a:rPr>
              <a:t>Receive a task → plan → execute → verify → deliver → retain experience</a:t>
            </a:r>
          </a:p>
        </p:txBody>
      </p:sp>
      <p:sp>
        <p:nvSpPr>
          <p:cNvPr id="5" name="">
            <a:extLst xmlns:a="http://schemas.openxmlformats.org/drawingml/2006/main">
              <a:ext uri="{FF2B5EF4-FFF2-40B4-BE49-F238E27FC236}">
                <a16:creationId xmlns:a16="http://schemas.microsoft.com/office/drawing/2014/main" id="{31B98B90-D768-4F1B-AC0C-748F8E0B8D2A}"/>
              </a:ext>
            </a:extLst>
          </p:cNvPr>
          <p:cNvSpPr>
            <a:spLocks xmlns:a="http://schemas.openxmlformats.org/drawingml/2006/main" noGrp="1"/>
          </p:cNvSpPr>
          <p:nvPr/>
        </p:nvSpPr>
        <p:spPr>
          <a:xfrm xmlns:a="http://schemas.openxmlformats.org/drawingml/2006/main">
            <a:off x="609600" y="440055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Potential applications</a:t>
            </a:r>
          </a:p>
        </p:txBody>
      </p:sp>
      <p:sp>
        <p:nvSpPr>
          <p:cNvPr id="6" name="">
            <a:extLst xmlns:a="http://schemas.openxmlformats.org/drawingml/2006/main">
              <a:ext uri="{FF2B5EF4-FFF2-40B4-BE49-F238E27FC236}">
                <a16:creationId xmlns:a16="http://schemas.microsoft.com/office/drawing/2014/main" id="{4608BE53-69E4-446B-A1E0-FC2E679664A6}"/>
              </a:ext>
            </a:extLst>
          </p:cNvPr>
          <p:cNvSpPr>
            <a:spLocks xmlns:a="http://schemas.openxmlformats.org/drawingml/2006/main" noGrp="1"/>
          </p:cNvSpPr>
          <p:nvPr/>
        </p:nvSpPr>
        <p:spPr>
          <a:xfrm xmlns:a="http://schemas.openxmlformats.org/drawingml/2006/main">
            <a:off x="609600" y="4895850"/>
            <a:ext cx="5191125"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FFFFFF"/>
                </a:solidFill>
                <a:latin typeface="Helvetica Neue"/>
                <a:ea typeface="Helvetica Neue"/>
                <a:cs typeface="Helvetica Neue"/>
              </a:defRPr>
            </a:pPr>
            <a:r>
              <a:rPr sz="2025" b="0">
                <a:solidFill>
                  <a:srgbClr val="FFFFFF"/>
                </a:solidFill>
                <a:latin typeface="Helvetica Neue"/>
                <a:ea typeface="Helvetica Neue"/>
                <a:cs typeface="Helvetica Neue"/>
              </a:rPr>
              <a:t>Marketing operations, digital-service agencies and selected travel-agency workflows.</a:t>
            </a:r>
          </a:p>
        </p:txBody>
      </p:sp>
      <p:sp>
        <p:nvSpPr>
          <p:cNvPr id="7" name="">
            <a:extLst xmlns:a="http://schemas.openxmlformats.org/drawingml/2006/main">
              <a:ext uri="{FF2B5EF4-FFF2-40B4-BE49-F238E27FC236}">
                <a16:creationId xmlns:a16="http://schemas.microsoft.com/office/drawing/2014/main" id="{F44B35A2-086E-43CC-A555-F6F84BFC06ED}"/>
              </a:ext>
            </a:extLst>
          </p:cNvPr>
          <p:cNvSpPr>
            <a:spLocks xmlns:a="http://schemas.openxmlformats.org/drawingml/2006/main" noGrp="1"/>
          </p:cNvSpPr>
          <p:nvPr/>
        </p:nvSpPr>
        <p:spPr>
          <a:xfrm xmlns:a="http://schemas.openxmlformats.org/drawingml/2006/main">
            <a:off x="6429375" y="440055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How the engine expands</a:t>
            </a:r>
          </a:p>
        </p:txBody>
      </p:sp>
      <p:sp>
        <p:nvSpPr>
          <p:cNvPr id="8" name="">
            <a:extLst xmlns:a="http://schemas.openxmlformats.org/drawingml/2006/main">
              <a:ext uri="{FF2B5EF4-FFF2-40B4-BE49-F238E27FC236}">
                <a16:creationId xmlns:a16="http://schemas.microsoft.com/office/drawing/2014/main" id="{FBA90108-7A0A-48FD-A18E-8382A557D5A2}"/>
              </a:ext>
            </a:extLst>
          </p:cNvPr>
          <p:cNvSpPr>
            <a:spLocks xmlns:a="http://schemas.openxmlformats.org/drawingml/2006/main" noGrp="1"/>
          </p:cNvSpPr>
          <p:nvPr/>
        </p:nvSpPr>
        <p:spPr>
          <a:xfrm xmlns:a="http://schemas.openxmlformats.org/drawingml/2006/main">
            <a:off x="6429375" y="4895850"/>
            <a:ext cx="5191125"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FFFFFF"/>
                </a:solidFill>
                <a:latin typeface="Helvetica Neue"/>
                <a:ea typeface="Helvetica Neue"/>
                <a:cs typeface="Helvetica Neue"/>
              </a:defRPr>
            </a:pPr>
            <a:r>
              <a:rPr sz="2025" b="0">
                <a:solidFill>
                  <a:srgbClr val="FFFFFF"/>
                </a:solidFill>
                <a:latin typeface="Helvetica Neue"/>
                <a:ea typeface="Helvetica Neue"/>
                <a:cs typeface="Helvetica Neue"/>
              </a:rPr>
              <a:t>Add domain knowledge, software connectors, execution rules and tests around the existing core.</a:t>
            </a:r>
          </a:p>
        </p:txBody>
      </p:sp>
    </p:spTree>
    <p:extLst>
      <p:ext uri="{BB962C8B-B14F-4D97-AF65-F5344CB8AC3E}">
        <p14:creationId xmlns:p14="http://schemas.microsoft.com/office/powerpoint/2010/main" val="1297853284"/>
      </p:ext>
    </p:extLst>
  </p:cSld>
</p:sld>
</file>

<file path=ppt/slides/slide19.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535016D9-E5DF-412B-A27D-6084221ED5B5}"/>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EAF1F5"/>
                </a:solidFill>
                <a:latin typeface="Helvetica Neue"/>
                <a:ea typeface="Helvetica Neue"/>
                <a:cs typeface="Helvetica Neue"/>
              </a:defRPr>
            </a:pPr>
            <a:r>
              <a:rPr sz="3300" b="1">
                <a:solidFill>
                  <a:srgbClr val="EAF1F5"/>
                </a:solidFill>
                <a:latin typeface="Helvetica Neue"/>
                <a:ea typeface="Helvetica Neue"/>
                <a:cs typeface="Helvetica Neue"/>
              </a:rPr>
              <a:t>Base tokenization and Boson commerce</a:t>
            </a:r>
          </a:p>
        </p:txBody>
      </p:sp>
      <p:sp>
        <p:nvSpPr>
          <p:cNvPr id="2" name="">
            <a:extLst xmlns:a="http://schemas.openxmlformats.org/drawingml/2006/main">
              <a:ext uri="{FF2B5EF4-FFF2-40B4-BE49-F238E27FC236}">
                <a16:creationId xmlns:a16="http://schemas.microsoft.com/office/drawing/2014/main" id="{504868EE-A8F8-4A82-9F85-5D9571C5C5CB}"/>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A9BDC9"/>
                </a:solidFill>
                <a:latin typeface="Helvetica Neue"/>
                <a:ea typeface="Helvetica Neue"/>
                <a:cs typeface="Helvetica Neue"/>
              </a:defRPr>
            </a:pPr>
            <a:r>
              <a:rPr sz="1200" b="0">
                <a:solidFill>
                  <a:srgbClr val="A9BDC9"/>
                </a:solidFill>
                <a:latin typeface="Helvetica Neue"/>
                <a:ea typeface="Helvetica Neue"/>
                <a:cs typeface="Helvetica Neue"/>
              </a:rPr>
              <a:t>19</a:t>
            </a:r>
          </a:p>
        </p:txBody>
      </p:sp>
      <p:sp>
        <p:nvSpPr>
          <p:cNvPr id="3" name="">
            <a:extLst xmlns:a="http://schemas.openxmlformats.org/drawingml/2006/main">
              <a:ext uri="{FF2B5EF4-FFF2-40B4-BE49-F238E27FC236}">
                <a16:creationId xmlns:a16="http://schemas.microsoft.com/office/drawing/2014/main" id="{8FE2BEFD-2BE9-4C27-98AC-A6B4DF17D757}"/>
              </a:ext>
            </a:extLst>
          </p:cNvPr>
          <p:cNvSpPr>
            <a:spLocks xmlns:a="http://schemas.openxmlformats.org/drawingml/2006/main" noGrp="1"/>
          </p:cNvSpPr>
          <p:nvPr/>
        </p:nvSpPr>
        <p:spPr>
          <a:xfrm xmlns:a="http://schemas.openxmlformats.org/drawingml/2006/main">
            <a:off x="609600" y="161925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Content registration</a:t>
            </a:r>
          </a:p>
        </p:txBody>
      </p:sp>
      <p:sp>
        <p:nvSpPr>
          <p:cNvPr id="4" name="">
            <a:extLst xmlns:a="http://schemas.openxmlformats.org/drawingml/2006/main">
              <a:ext uri="{FF2B5EF4-FFF2-40B4-BE49-F238E27FC236}">
                <a16:creationId xmlns:a16="http://schemas.microsoft.com/office/drawing/2014/main" id="{39DE76ED-36AA-4E14-BCEA-BF696E18510F}"/>
              </a:ext>
            </a:extLst>
          </p:cNvPr>
          <p:cNvSpPr>
            <a:spLocks xmlns:a="http://schemas.openxmlformats.org/drawingml/2006/main" noGrp="1"/>
          </p:cNvSpPr>
          <p:nvPr/>
        </p:nvSpPr>
        <p:spPr>
          <a:xfrm xmlns:a="http://schemas.openxmlformats.org/drawingml/2006/main">
            <a:off x="609600" y="2114550"/>
            <a:ext cx="519112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EAF1F5"/>
                </a:solidFill>
                <a:latin typeface="Helvetica Neue"/>
                <a:ea typeface="Helvetica Neue"/>
                <a:cs typeface="Helvetica Neue"/>
              </a:defRPr>
            </a:pPr>
            <a:r>
              <a:rPr sz="1875" b="0">
                <a:solidFill>
                  <a:srgbClr val="EAF1F5"/>
                </a:solidFill>
                <a:latin typeface="Helvetica Neue"/>
                <a:ea typeface="Helvetica Neue"/>
                <a:cs typeface="Helvetica Neue"/>
              </a:rPr>
              <a:t>Final acceptance binds the video hash, recipient and terms to an NFT content passport on Base.</a:t>
            </a:r>
          </a:p>
        </p:txBody>
      </p:sp>
      <p:sp>
        <p:nvSpPr>
          <p:cNvPr id="5" name="">
            <a:extLst xmlns:a="http://schemas.openxmlformats.org/drawingml/2006/main">
              <a:ext uri="{FF2B5EF4-FFF2-40B4-BE49-F238E27FC236}">
                <a16:creationId xmlns:a16="http://schemas.microsoft.com/office/drawing/2014/main" id="{E0173C5B-5732-4978-A1FE-063EE89642A6}"/>
              </a:ext>
            </a:extLst>
          </p:cNvPr>
          <p:cNvSpPr>
            <a:spLocks xmlns:a="http://schemas.openxmlformats.org/drawingml/2006/main" noGrp="1"/>
          </p:cNvSpPr>
          <p:nvPr/>
        </p:nvSpPr>
        <p:spPr>
          <a:xfrm xmlns:a="http://schemas.openxmlformats.org/drawingml/2006/main">
            <a:off x="6429375" y="161925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Commercial exchange</a:t>
            </a:r>
          </a:p>
        </p:txBody>
      </p:sp>
      <p:sp>
        <p:nvSpPr>
          <p:cNvPr id="6" name="">
            <a:extLst xmlns:a="http://schemas.openxmlformats.org/drawingml/2006/main">
              <a:ext uri="{FF2B5EF4-FFF2-40B4-BE49-F238E27FC236}">
                <a16:creationId xmlns:a16="http://schemas.microsoft.com/office/drawing/2014/main" id="{251009AE-B7BB-41C6-88AE-715667B779EE}"/>
              </a:ext>
            </a:extLst>
          </p:cNvPr>
          <p:cNvSpPr>
            <a:spLocks xmlns:a="http://schemas.openxmlformats.org/drawingml/2006/main" noGrp="1"/>
          </p:cNvSpPr>
          <p:nvPr/>
        </p:nvSpPr>
        <p:spPr>
          <a:xfrm xmlns:a="http://schemas.openxmlformats.org/drawingml/2006/main">
            <a:off x="6429375" y="2114550"/>
            <a:ext cx="519112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EAF1F5"/>
                </a:solidFill>
                <a:latin typeface="Helvetica Neue"/>
                <a:ea typeface="Helvetica Neue"/>
                <a:cs typeface="Helvetica Neue"/>
              </a:defRPr>
            </a:pPr>
            <a:r>
              <a:rPr sz="1875" b="0">
                <a:solidFill>
                  <a:srgbClr val="EAF1F5"/>
                </a:solidFill>
                <a:latin typeface="Helvetica Neue"/>
                <a:ea typeface="Helvetica Neue"/>
                <a:cs typeface="Helvetica Neue"/>
              </a:rPr>
              <a:t>Boson offers and redeemable NFTs handle purchase, redemption and completion of the exchange.</a:t>
            </a:r>
          </a:p>
        </p:txBody>
      </p:sp>
      <p:sp>
        <p:nvSpPr>
          <p:cNvPr id="7" name="">
            <a:extLst xmlns:a="http://schemas.openxmlformats.org/drawingml/2006/main">
              <a:ext uri="{FF2B5EF4-FFF2-40B4-BE49-F238E27FC236}">
                <a16:creationId xmlns:a16="http://schemas.microsoft.com/office/drawing/2014/main" id="{C2A76CC4-4F8E-4984-B98A-203251A067B9}"/>
              </a:ext>
            </a:extLst>
          </p:cNvPr>
          <p:cNvSpPr>
            <a:spLocks xmlns:a="http://schemas.openxmlformats.org/drawingml/2006/main" noGrp="1"/>
          </p:cNvSpPr>
          <p:nvPr/>
        </p:nvSpPr>
        <p:spPr>
          <a:xfrm xmlns:a="http://schemas.openxmlformats.org/drawingml/2006/main">
            <a:off x="609600" y="3533775"/>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Studio-service orders</a:t>
            </a:r>
          </a:p>
        </p:txBody>
      </p:sp>
      <p:sp>
        <p:nvSpPr>
          <p:cNvPr id="8" name="">
            <a:extLst xmlns:a="http://schemas.openxmlformats.org/drawingml/2006/main">
              <a:ext uri="{FF2B5EF4-FFF2-40B4-BE49-F238E27FC236}">
                <a16:creationId xmlns:a16="http://schemas.microsoft.com/office/drawing/2014/main" id="{B6AA244A-B6E6-4D75-8875-144E416E62DF}"/>
              </a:ext>
            </a:extLst>
          </p:cNvPr>
          <p:cNvSpPr>
            <a:spLocks xmlns:a="http://schemas.openxmlformats.org/drawingml/2006/main" noGrp="1"/>
          </p:cNvSpPr>
          <p:nvPr/>
        </p:nvSpPr>
        <p:spPr>
          <a:xfrm xmlns:a="http://schemas.openxmlformats.org/drawingml/2006/main">
            <a:off x="609600" y="4029075"/>
            <a:ext cx="519112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EAF1F5"/>
                </a:solidFill>
                <a:latin typeface="Helvetica Neue"/>
                <a:ea typeface="Helvetica Neue"/>
                <a:cs typeface="Helvetica Neue"/>
              </a:defRPr>
            </a:pPr>
            <a:r>
              <a:rPr sz="1875" b="0">
                <a:solidFill>
                  <a:srgbClr val="EAF1F5"/>
                </a:solidFill>
                <a:latin typeface="Helvetica Neue"/>
                <a:ea typeface="Helvetica Neue"/>
                <a:cs typeface="Helvetica Neue"/>
              </a:rPr>
              <a:t>Order and result adapters connect a marketplace request with an accepted studio output.</a:t>
            </a:r>
          </a:p>
        </p:txBody>
      </p:sp>
      <p:sp>
        <p:nvSpPr>
          <p:cNvPr id="9" name="">
            <a:extLst xmlns:a="http://schemas.openxmlformats.org/drawingml/2006/main">
              <a:ext uri="{FF2B5EF4-FFF2-40B4-BE49-F238E27FC236}">
                <a16:creationId xmlns:a16="http://schemas.microsoft.com/office/drawing/2014/main" id="{187CFC10-1C2C-401B-86DA-922D72E8553C}"/>
              </a:ext>
            </a:extLst>
          </p:cNvPr>
          <p:cNvSpPr>
            <a:spLocks xmlns:a="http://schemas.openxmlformats.org/drawingml/2006/main" noGrp="1"/>
          </p:cNvSpPr>
          <p:nvPr/>
        </p:nvSpPr>
        <p:spPr>
          <a:xfrm xmlns:a="http://schemas.openxmlformats.org/drawingml/2006/main">
            <a:off x="6429375" y="3533775"/>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Protected delivery</a:t>
            </a:r>
          </a:p>
        </p:txBody>
      </p:sp>
      <p:sp>
        <p:nvSpPr>
          <p:cNvPr id="10" name="">
            <a:extLst xmlns:a="http://schemas.openxmlformats.org/drawingml/2006/main">
              <a:ext uri="{FF2B5EF4-FFF2-40B4-BE49-F238E27FC236}">
                <a16:creationId xmlns:a16="http://schemas.microsoft.com/office/drawing/2014/main" id="{DA2ACB82-37E3-4093-BC0D-85678368DBFD}"/>
              </a:ext>
            </a:extLst>
          </p:cNvPr>
          <p:cNvSpPr>
            <a:spLocks xmlns:a="http://schemas.openxmlformats.org/drawingml/2006/main" noGrp="1"/>
          </p:cNvSpPr>
          <p:nvPr/>
        </p:nvSpPr>
        <p:spPr>
          <a:xfrm xmlns:a="http://schemas.openxmlformats.org/drawingml/2006/main">
            <a:off x="6429375" y="4029075"/>
            <a:ext cx="519112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EAF1F5"/>
                </a:solidFill>
                <a:latin typeface="Helvetica Neue"/>
                <a:ea typeface="Helvetica Neue"/>
                <a:cs typeface="Helvetica Neue"/>
              </a:defRPr>
            </a:pPr>
            <a:r>
              <a:rPr sz="1875" b="0">
                <a:solidFill>
                  <a:srgbClr val="EAF1F5"/>
                </a:solidFill>
                <a:latin typeface="Helvetica Neue"/>
                <a:ea typeface="Helvetica Neue"/>
                <a:cs typeface="Helvetica Neue"/>
              </a:rPr>
              <a:t>Buyer identity, entitlement and the accepted file hash govern access to the delivered asset.</a:t>
            </a:r>
          </a:p>
        </p:txBody>
      </p:sp>
      <p:sp>
        <p:nvSpPr>
          <p:cNvPr id="11" name="">
            <a:extLst xmlns:a="http://schemas.openxmlformats.org/drawingml/2006/main">
              <a:ext uri="{FF2B5EF4-FFF2-40B4-BE49-F238E27FC236}">
                <a16:creationId xmlns:a16="http://schemas.microsoft.com/office/drawing/2014/main" id="{8D0B8B23-52E6-4CFC-B961-8B5333A4F208}"/>
              </a:ext>
            </a:extLst>
          </p:cNvPr>
          <p:cNvSpPr>
            <a:spLocks xmlns:a="http://schemas.openxmlformats.org/drawingml/2006/main" noGrp="1"/>
          </p:cNvSpPr>
          <p:nvPr/>
        </p:nvSpPr>
        <p:spPr>
          <a:xfrm xmlns:a="http://schemas.openxmlformats.org/drawingml/2006/main">
            <a:off x="609600" y="562927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56DBD0"/>
                </a:solidFill>
                <a:latin typeface="Helvetica Neue"/>
                <a:ea typeface="Helvetica Neue"/>
                <a:cs typeface="Helvetica Neue"/>
              </a:defRPr>
            </a:pPr>
            <a:r>
              <a:rPr sz="1800" b="1">
                <a:solidFill>
                  <a:srgbClr val="56DBD0"/>
                </a:solidFill>
                <a:latin typeface="Helvetica Neue"/>
                <a:ea typeface="Helvetica Neue"/>
                <a:cs typeface="Helvetica Neue"/>
              </a:rPr>
              <a:t>The content passport identifies the asset. The Boson NFT represents its commercial exchange.</a:t>
            </a:r>
          </a:p>
        </p:txBody>
      </p:sp>
    </p:spTree>
    <p:extLst>
      <p:ext uri="{BB962C8B-B14F-4D97-AF65-F5344CB8AC3E}">
        <p14:creationId xmlns:p14="http://schemas.microsoft.com/office/powerpoint/2010/main" val="1351738345"/>
      </p:ext>
    </p:extLst>
  </p:cSld>
</p:sld>
</file>

<file path=ppt/slides/slide20.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2F6C937-1172-47D5-8083-358EF97A3E80}"/>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EAF1F5"/>
                </a:solidFill>
                <a:latin typeface="Helvetica Neue"/>
                <a:ea typeface="Helvetica Neue"/>
                <a:cs typeface="Helvetica Neue"/>
              </a:defRPr>
            </a:pPr>
            <a:r>
              <a:rPr sz="3300" b="1">
                <a:solidFill>
                  <a:srgbClr val="EAF1F5"/>
                </a:solidFill>
                <a:latin typeface="Helvetica Neue"/>
                <a:ea typeface="Helvetica Neue"/>
                <a:cs typeface="Helvetica Neue"/>
              </a:rPr>
              <a:t>Video tokenization and ownership records</a:t>
            </a:r>
          </a:p>
        </p:txBody>
      </p:sp>
      <p:sp>
        <p:nvSpPr>
          <p:cNvPr id="2" name="">
            <a:extLst xmlns:a="http://schemas.openxmlformats.org/drawingml/2006/main">
              <a:ext uri="{FF2B5EF4-FFF2-40B4-BE49-F238E27FC236}">
                <a16:creationId xmlns:a16="http://schemas.microsoft.com/office/drawing/2014/main" id="{7C4F6476-3116-425D-A16E-B209B0F900FD}"/>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A9BDC9"/>
                </a:solidFill>
                <a:latin typeface="Helvetica Neue"/>
                <a:ea typeface="Helvetica Neue"/>
                <a:cs typeface="Helvetica Neue"/>
              </a:defRPr>
            </a:pPr>
            <a:r>
              <a:rPr sz="1200" b="0">
                <a:solidFill>
                  <a:srgbClr val="A9BDC9"/>
                </a:solidFill>
                <a:latin typeface="Helvetica Neue"/>
                <a:ea typeface="Helvetica Neue"/>
                <a:cs typeface="Helvetica Neue"/>
              </a:rPr>
              <a:t>20</a:t>
            </a:r>
          </a:p>
        </p:txBody>
      </p:sp>
      <p:sp>
        <p:nvSpPr>
          <p:cNvPr id="3" name="">
            <a:extLst xmlns:a="http://schemas.openxmlformats.org/drawingml/2006/main">
              <a:ext uri="{FF2B5EF4-FFF2-40B4-BE49-F238E27FC236}">
                <a16:creationId xmlns:a16="http://schemas.microsoft.com/office/drawing/2014/main" id="{D286C6F0-91CE-46E4-8674-A6455940DE16}"/>
              </a:ext>
            </a:extLst>
          </p:cNvPr>
          <p:cNvSpPr>
            <a:spLocks xmlns:a="http://schemas.openxmlformats.org/drawingml/2006/main" noGrp="1"/>
          </p:cNvSpPr>
          <p:nvPr/>
        </p:nvSpPr>
        <p:spPr>
          <a:xfrm xmlns:a="http://schemas.openxmlformats.org/drawingml/2006/main">
            <a:off x="609600" y="1857375"/>
            <a:ext cx="3314700" cy="1047750"/>
          </a:xfrm>
          <a:prstGeom xmlns:a="http://schemas.openxmlformats.org/drawingml/2006/main" prst="rect">
            <a:avLst/>
          </a:prstGeom>
          <a:solidFill xmlns:a="http://schemas.openxmlformats.org/drawingml/2006/main">
            <a:srgbClr val="102C3C"/>
          </a:solidFill>
          <a:ln xmlns:a="http://schemas.openxmlformats.org/drawingml/2006/main" w="11430">
            <a:solidFill>
              <a:srgbClr val="397785"/>
            </a:solidFill>
          </a:ln>
        </p:spPr>
        <p:txBody>
          <a:bodyPr xmlns:a="http://schemas.openxmlformats.org/drawingml/2006/main" lIns="114300" tIns="114300" rIns="114300" bIns="114300" anchor="ctr">
            <a:noAutofit/>
          </a:bodyPr>
          <a:lstStyle xmlns:a="http://schemas.openxmlformats.org/drawingml/2006/main"/>
          <a:p xmlns:a="http://schemas.openxmlformats.org/drawingml/2006/main">
            <a:pPr algn="ctr">
              <a:defRPr sz="1875" b="1">
                <a:solidFill>
                  <a:srgbClr val="EAF1F5"/>
                </a:solidFill>
                <a:latin typeface="Helvetica Neue"/>
                <a:ea typeface="Helvetica Neue"/>
                <a:cs typeface="Helvetica Neue"/>
              </a:defRPr>
            </a:pPr>
            <a:r>
              <a:rPr sz="1875" b="1">
                <a:solidFill>
                  <a:srgbClr val="EAF1F5"/>
                </a:solidFill>
                <a:latin typeface="Helvetica Neue"/>
                <a:ea typeface="Helvetica Neue"/>
                <a:cs typeface="Helvetica Neue"/>
              </a:rPr>
              <a:t>Accepted video</a:t>
            </a:r>
          </a:p>
          <a:p xmlns:a="http://schemas.openxmlformats.org/drawingml/2006/main">
            <a:pPr algn="ctr">
              <a:defRPr sz="1875" b="1">
                <a:solidFill>
                  <a:srgbClr val="EAF1F5"/>
                </a:solidFill>
                <a:latin typeface="Helvetica Neue"/>
                <a:ea typeface="Helvetica Neue"/>
                <a:cs typeface="Helvetica Neue"/>
              </a:defRPr>
            </a:pPr>
            <a:r>
              <a:rPr sz="1875" b="1">
                <a:solidFill>
                  <a:srgbClr val="EAF1F5"/>
                </a:solidFill>
                <a:latin typeface="Helvetica Neue"/>
                <a:ea typeface="Helvetica Neue"/>
                <a:cs typeface="Helvetica Neue"/>
              </a:rPr>
              <a:t>Exact asset hash</a:t>
            </a:r>
          </a:p>
        </p:txBody>
      </p:sp>
      <p:sp>
        <p:nvSpPr>
          <p:cNvPr id="4" name="">
            <a:extLst xmlns:a="http://schemas.openxmlformats.org/drawingml/2006/main">
              <a:ext uri="{FF2B5EF4-FFF2-40B4-BE49-F238E27FC236}">
                <a16:creationId xmlns:a16="http://schemas.microsoft.com/office/drawing/2014/main" id="{35A7606A-7A0E-4255-868B-56F81CAE7DD8}"/>
              </a:ext>
            </a:extLst>
          </p:cNvPr>
          <p:cNvSpPr>
            <a:spLocks xmlns:a="http://schemas.openxmlformats.org/drawingml/2006/main" noGrp="1"/>
          </p:cNvSpPr>
          <p:nvPr/>
        </p:nvSpPr>
        <p:spPr>
          <a:xfrm xmlns:a="http://schemas.openxmlformats.org/drawingml/2006/main">
            <a:off x="4438650" y="1857375"/>
            <a:ext cx="3314700" cy="1047750"/>
          </a:xfrm>
          <a:prstGeom xmlns:a="http://schemas.openxmlformats.org/drawingml/2006/main" prst="rect">
            <a:avLst/>
          </a:prstGeom>
          <a:solidFill xmlns:a="http://schemas.openxmlformats.org/drawingml/2006/main">
            <a:srgbClr val="102C3C"/>
          </a:solidFill>
          <a:ln xmlns:a="http://schemas.openxmlformats.org/drawingml/2006/main" w="11430">
            <a:solidFill>
              <a:srgbClr val="397785"/>
            </a:solidFill>
          </a:ln>
        </p:spPr>
        <p:txBody>
          <a:bodyPr xmlns:a="http://schemas.openxmlformats.org/drawingml/2006/main" lIns="114300" tIns="114300" rIns="114300" bIns="114300" anchor="ctr">
            <a:noAutofit/>
          </a:bodyPr>
          <a:lstStyle xmlns:a="http://schemas.openxmlformats.org/drawingml/2006/main"/>
          <a:p xmlns:a="http://schemas.openxmlformats.org/drawingml/2006/main">
            <a:pPr algn="ctr">
              <a:defRPr sz="1875" b="1">
                <a:solidFill>
                  <a:srgbClr val="EAF1F5"/>
                </a:solidFill>
                <a:latin typeface="Helvetica Neue"/>
                <a:ea typeface="Helvetica Neue"/>
                <a:cs typeface="Helvetica Neue"/>
              </a:defRPr>
            </a:pPr>
            <a:r>
              <a:rPr sz="1875" b="1">
                <a:solidFill>
                  <a:srgbClr val="EAF1F5"/>
                </a:solidFill>
                <a:latin typeface="Helvetica Neue"/>
                <a:ea typeface="Helvetica Neue"/>
                <a:cs typeface="Helvetica Neue"/>
              </a:rPr>
              <a:t>Content passport</a:t>
            </a:r>
          </a:p>
          <a:p xmlns:a="http://schemas.openxmlformats.org/drawingml/2006/main">
            <a:pPr algn="ctr">
              <a:defRPr sz="1875" b="1">
                <a:solidFill>
                  <a:srgbClr val="EAF1F5"/>
                </a:solidFill>
                <a:latin typeface="Helvetica Neue"/>
                <a:ea typeface="Helvetica Neue"/>
                <a:cs typeface="Helvetica Neue"/>
              </a:defRPr>
            </a:pPr>
            <a:r>
              <a:rPr sz="1875" b="1">
                <a:solidFill>
                  <a:srgbClr val="EAF1F5"/>
                </a:solidFill>
                <a:latin typeface="Helvetica Neue"/>
                <a:ea typeface="Helvetica Neue"/>
                <a:cs typeface="Helvetica Neue"/>
              </a:rPr>
              <a:t>on Base</a:t>
            </a:r>
          </a:p>
        </p:txBody>
      </p:sp>
      <p:sp>
        <p:nvSpPr>
          <p:cNvPr id="5" name="">
            <a:extLst xmlns:a="http://schemas.openxmlformats.org/drawingml/2006/main">
              <a:ext uri="{FF2B5EF4-FFF2-40B4-BE49-F238E27FC236}">
                <a16:creationId xmlns:a16="http://schemas.microsoft.com/office/drawing/2014/main" id="{4713D1F5-6827-48A0-B0A9-148952B5516A}"/>
              </a:ext>
            </a:extLst>
          </p:cNvPr>
          <p:cNvSpPr>
            <a:spLocks xmlns:a="http://schemas.openxmlformats.org/drawingml/2006/main" noGrp="1"/>
          </p:cNvSpPr>
          <p:nvPr/>
        </p:nvSpPr>
        <p:spPr>
          <a:xfrm xmlns:a="http://schemas.openxmlformats.org/drawingml/2006/main">
            <a:off x="8267700" y="1857375"/>
            <a:ext cx="3314700" cy="1047750"/>
          </a:xfrm>
          <a:prstGeom xmlns:a="http://schemas.openxmlformats.org/drawingml/2006/main" prst="rect">
            <a:avLst/>
          </a:prstGeom>
          <a:solidFill xmlns:a="http://schemas.openxmlformats.org/drawingml/2006/main">
            <a:srgbClr val="102C3C"/>
          </a:solidFill>
          <a:ln xmlns:a="http://schemas.openxmlformats.org/drawingml/2006/main" w="11430">
            <a:solidFill>
              <a:srgbClr val="397785"/>
            </a:solidFill>
          </a:ln>
        </p:spPr>
        <p:txBody>
          <a:bodyPr xmlns:a="http://schemas.openxmlformats.org/drawingml/2006/main" lIns="114300" tIns="114300" rIns="114300" bIns="114300" anchor="ctr">
            <a:noAutofit/>
          </a:bodyPr>
          <a:lstStyle xmlns:a="http://schemas.openxmlformats.org/drawingml/2006/main"/>
          <a:p xmlns:a="http://schemas.openxmlformats.org/drawingml/2006/main">
            <a:pPr algn="ctr">
              <a:defRPr sz="1875" b="1">
                <a:solidFill>
                  <a:srgbClr val="EAF1F5"/>
                </a:solidFill>
                <a:latin typeface="Helvetica Neue"/>
                <a:ea typeface="Helvetica Neue"/>
                <a:cs typeface="Helvetica Neue"/>
              </a:defRPr>
            </a:pPr>
            <a:r>
              <a:rPr sz="1875" b="1">
                <a:solidFill>
                  <a:srgbClr val="EAF1F5"/>
                </a:solidFill>
                <a:latin typeface="Helvetica Neue"/>
                <a:ea typeface="Helvetica Neue"/>
                <a:cs typeface="Helvetica Neue"/>
              </a:rPr>
              <a:t>Owner / recipient</a:t>
            </a:r>
          </a:p>
          <a:p xmlns:a="http://schemas.openxmlformats.org/drawingml/2006/main">
            <a:pPr algn="ctr">
              <a:defRPr sz="1875" b="1">
                <a:solidFill>
                  <a:srgbClr val="EAF1F5"/>
                </a:solidFill>
                <a:latin typeface="Helvetica Neue"/>
                <a:ea typeface="Helvetica Neue"/>
                <a:cs typeface="Helvetica Neue"/>
              </a:defRPr>
            </a:pPr>
            <a:r>
              <a:rPr sz="1875" b="1">
                <a:solidFill>
                  <a:srgbClr val="EAF1F5"/>
                </a:solidFill>
                <a:latin typeface="Helvetica Neue"/>
                <a:ea typeface="Helvetica Neue"/>
                <a:cs typeface="Helvetica Neue"/>
              </a:rPr>
              <a:t>and attached terms</a:t>
            </a:r>
          </a:p>
        </p:txBody>
      </p:sp>
      <p:cxnSp>
        <p:nvCxnSpPr>
          <p:cNvPr id="18" name=""/>
          <p:cNvCxnSpPr>
            <a:stCxn xmlns:a="http://schemas.openxmlformats.org/drawingml/2006/main" id="3" idx="3"/>
            <a:endCxn xmlns:a="http://schemas.openxmlformats.org/drawingml/2006/main" id="4" idx="1"/>
          </p:cNvCxnSpPr>
          <p:nvPr/>
        </p:nvCxnSpPr>
        <p:spPr>
          <a:xfrm xmlns:a="http://schemas.openxmlformats.org/drawingml/2006/main">
            <a:off x="3924300" y="2381250"/>
            <a:ext cx="514350" cy="0"/>
          </a:xfrm>
          <a:prstGeom xmlns:a="http://schemas.openxmlformats.org/drawingml/2006/main" prst="straightConnector1">
            <a:avLst/>
          </a:prstGeom>
          <a:ln xmlns:a="http://schemas.openxmlformats.org/drawingml/2006/main" w="23813">
            <a:solidFill>
              <a:srgbClr val="56DBD0"/>
            </a:solidFill>
            <a:tailEnd type="arrow" w="med" len="med"/>
          </a:ln>
        </p:spPr>
      </p:cxnSp>
      <p:cxnSp>
        <p:nvCxnSpPr>
          <p:cNvPr id="19" name=""/>
          <p:cNvCxnSpPr>
            <a:stCxn xmlns:a="http://schemas.openxmlformats.org/drawingml/2006/main" id="4" idx="3"/>
            <a:endCxn xmlns:a="http://schemas.openxmlformats.org/drawingml/2006/main" id="5" idx="1"/>
          </p:cNvCxnSpPr>
          <p:nvPr/>
        </p:nvCxnSpPr>
        <p:spPr>
          <a:xfrm xmlns:a="http://schemas.openxmlformats.org/drawingml/2006/main">
            <a:off x="7753350" y="2381250"/>
            <a:ext cx="514350" cy="0"/>
          </a:xfrm>
          <a:prstGeom xmlns:a="http://schemas.openxmlformats.org/drawingml/2006/main" prst="straightConnector1">
            <a:avLst/>
          </a:prstGeom>
          <a:ln xmlns:a="http://schemas.openxmlformats.org/drawingml/2006/main" w="23813">
            <a:solidFill>
              <a:srgbClr val="56DBD0"/>
            </a:solidFill>
            <a:tailEnd type="arrow" w="med" len="med"/>
          </a:ln>
        </p:spPr>
      </p:cxnSp>
      <p:sp>
        <p:nvSpPr>
          <p:cNvPr id="8" name="">
            <a:extLst xmlns:a="http://schemas.openxmlformats.org/drawingml/2006/main">
              <a:ext uri="{FF2B5EF4-FFF2-40B4-BE49-F238E27FC236}">
                <a16:creationId xmlns:a16="http://schemas.microsoft.com/office/drawing/2014/main" id="{EE045DC3-5F64-47DF-B24A-3AF9961042D9}"/>
              </a:ext>
            </a:extLst>
          </p:cNvPr>
          <p:cNvSpPr>
            <a:spLocks xmlns:a="http://schemas.openxmlformats.org/drawingml/2006/main" noGrp="1"/>
          </p:cNvSpPr>
          <p:nvPr/>
        </p:nvSpPr>
        <p:spPr>
          <a:xfrm xmlns:a="http://schemas.openxmlformats.org/drawingml/2006/main">
            <a:off x="609600" y="3609975"/>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Version-specific provenance</a:t>
            </a:r>
          </a:p>
        </p:txBody>
      </p:sp>
      <p:sp>
        <p:nvSpPr>
          <p:cNvPr id="9" name="">
            <a:extLst xmlns:a="http://schemas.openxmlformats.org/drawingml/2006/main">
              <a:ext uri="{FF2B5EF4-FFF2-40B4-BE49-F238E27FC236}">
                <a16:creationId xmlns:a16="http://schemas.microsoft.com/office/drawing/2014/main" id="{9F89FE08-5222-4AB3-A9E7-464027925BA2}"/>
              </a:ext>
            </a:extLst>
          </p:cNvPr>
          <p:cNvSpPr>
            <a:spLocks xmlns:a="http://schemas.openxmlformats.org/drawingml/2006/main" noGrp="1"/>
          </p:cNvSpPr>
          <p:nvPr/>
        </p:nvSpPr>
        <p:spPr>
          <a:xfrm xmlns:a="http://schemas.openxmlformats.org/drawingml/2006/main">
            <a:off x="609600" y="4105275"/>
            <a:ext cx="5191125"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EAF1F5"/>
                </a:solidFill>
                <a:latin typeface="Helvetica Neue"/>
                <a:ea typeface="Helvetica Neue"/>
                <a:cs typeface="Helvetica Neue"/>
              </a:defRPr>
            </a:pPr>
            <a:r>
              <a:rPr sz="2025" b="0">
                <a:solidFill>
                  <a:srgbClr val="EAF1F5"/>
                </a:solidFill>
                <a:latin typeface="Helvetica Neue"/>
                <a:ea typeface="Helvetica Neue"/>
                <a:cs typeface="Helvetica Neue"/>
              </a:rPr>
              <a:t>Registration binds the accepted file to an onchain record. Existing registration is checked to prevent duplicate tokenization.</a:t>
            </a:r>
          </a:p>
        </p:txBody>
      </p:sp>
      <p:sp>
        <p:nvSpPr>
          <p:cNvPr id="10" name="">
            <a:extLst xmlns:a="http://schemas.openxmlformats.org/drawingml/2006/main">
              <a:ext uri="{FF2B5EF4-FFF2-40B4-BE49-F238E27FC236}">
                <a16:creationId xmlns:a16="http://schemas.microsoft.com/office/drawing/2014/main" id="{F0C57B42-1F79-4E31-A304-68BB8D58F376}"/>
              </a:ext>
            </a:extLst>
          </p:cNvPr>
          <p:cNvSpPr>
            <a:spLocks xmlns:a="http://schemas.openxmlformats.org/drawingml/2006/main" noGrp="1"/>
          </p:cNvSpPr>
          <p:nvPr/>
        </p:nvSpPr>
        <p:spPr>
          <a:xfrm xmlns:a="http://schemas.openxmlformats.org/drawingml/2006/main">
            <a:off x="6429375" y="3609975"/>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Rights and attribution</a:t>
            </a:r>
          </a:p>
        </p:txBody>
      </p:sp>
      <p:sp>
        <p:nvSpPr>
          <p:cNvPr id="11" name="">
            <a:extLst xmlns:a="http://schemas.openxmlformats.org/drawingml/2006/main">
              <a:ext uri="{FF2B5EF4-FFF2-40B4-BE49-F238E27FC236}">
                <a16:creationId xmlns:a16="http://schemas.microsoft.com/office/drawing/2014/main" id="{D245B3F3-D9A7-45F5-B1F4-98C300A319E4}"/>
              </a:ext>
            </a:extLst>
          </p:cNvPr>
          <p:cNvSpPr>
            <a:spLocks xmlns:a="http://schemas.openxmlformats.org/drawingml/2006/main" noGrp="1"/>
          </p:cNvSpPr>
          <p:nvPr/>
        </p:nvSpPr>
        <p:spPr>
          <a:xfrm xmlns:a="http://schemas.openxmlformats.org/drawingml/2006/main">
            <a:off x="6429375" y="4105275"/>
            <a:ext cx="5191125"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EAF1F5"/>
                </a:solidFill>
                <a:latin typeface="Helvetica Neue"/>
                <a:ea typeface="Helvetica Neue"/>
                <a:cs typeface="Helvetica Neue"/>
              </a:defRPr>
            </a:pPr>
            <a:r>
              <a:rPr sz="2025" b="0">
                <a:solidFill>
                  <a:srgbClr val="EAF1F5"/>
                </a:solidFill>
                <a:latin typeface="Helvetica Neue"/>
                <a:ea typeface="Helvetica Neue"/>
                <a:cs typeface="Helvetica Neue"/>
              </a:rPr>
              <a:t>The record can reference declared authorship and usage terms. Entitlement controls access to the correct digital asset.</a:t>
            </a:r>
          </a:p>
        </p:txBody>
      </p:sp>
      <p:sp>
        <p:nvSpPr>
          <p:cNvPr id="12" name="">
            <a:extLst xmlns:a="http://schemas.openxmlformats.org/drawingml/2006/main">
              <a:ext uri="{FF2B5EF4-FFF2-40B4-BE49-F238E27FC236}">
                <a16:creationId xmlns:a16="http://schemas.microsoft.com/office/drawing/2014/main" id="{889BE69C-03D7-4D38-966E-48A238C89E14}"/>
              </a:ext>
            </a:extLst>
          </p:cNvPr>
          <p:cNvSpPr>
            <a:spLocks xmlns:a="http://schemas.openxmlformats.org/drawingml/2006/main" noGrp="1"/>
          </p:cNvSpPr>
          <p:nvPr/>
        </p:nvSpPr>
        <p:spPr>
          <a:xfrm xmlns:a="http://schemas.openxmlformats.org/drawingml/2006/main">
            <a:off x="609600" y="5867400"/>
            <a:ext cx="109537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A9BDC9"/>
                </a:solidFill>
                <a:latin typeface="Helvetica Neue"/>
                <a:ea typeface="Helvetica Neue"/>
                <a:cs typeface="Helvetica Neue"/>
              </a:defRPr>
            </a:pPr>
            <a:r>
              <a:rPr sz="1725" b="0">
                <a:solidFill>
                  <a:srgbClr val="A9BDC9"/>
                </a:solidFill>
                <a:latin typeface="Helvetica Neue"/>
                <a:ea typeface="Helvetica Neue"/>
                <a:cs typeface="Helvetica Neue"/>
              </a:rPr>
              <a:t>Token ownership and onchain attribution do not by themselves prove authorship or transfer copyright.</a:t>
            </a:r>
          </a:p>
        </p:txBody>
      </p:sp>
    </p:spTree>
    <p:extLst>
      <p:ext uri="{BB962C8B-B14F-4D97-AF65-F5344CB8AC3E}">
        <p14:creationId xmlns:p14="http://schemas.microsoft.com/office/powerpoint/2010/main" val="1969649616"/>
      </p:ext>
    </p:extLst>
  </p:cSld>
</p:sld>
</file>

<file path=ppt/slides/slide21.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F030990-8E58-46D4-9D7C-9F6C5B6B7E89}"/>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EAF1F5"/>
                </a:solidFill>
                <a:latin typeface="Helvetica Neue"/>
                <a:ea typeface="Helvetica Neue"/>
                <a:cs typeface="Helvetica Neue"/>
              </a:defRPr>
            </a:pPr>
            <a:r>
              <a:rPr sz="3300" b="1">
                <a:solidFill>
                  <a:srgbClr val="EAF1F5"/>
                </a:solidFill>
                <a:latin typeface="Helvetica Neue"/>
                <a:ea typeface="Helvetica Neue"/>
                <a:cs typeface="Helvetica Neue"/>
              </a:rPr>
              <a:t>Boson Market: a standalone product line</a:t>
            </a:r>
          </a:p>
        </p:txBody>
      </p:sp>
      <p:sp>
        <p:nvSpPr>
          <p:cNvPr id="2" name="">
            <a:extLst xmlns:a="http://schemas.openxmlformats.org/drawingml/2006/main">
              <a:ext uri="{FF2B5EF4-FFF2-40B4-BE49-F238E27FC236}">
                <a16:creationId xmlns:a16="http://schemas.microsoft.com/office/drawing/2014/main" id="{E30DCF55-9788-4E4B-9113-E298A86783DD}"/>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A9BDC9"/>
                </a:solidFill>
                <a:latin typeface="Helvetica Neue"/>
                <a:ea typeface="Helvetica Neue"/>
                <a:cs typeface="Helvetica Neue"/>
              </a:defRPr>
            </a:pPr>
            <a:r>
              <a:rPr sz="1200" b="0">
                <a:solidFill>
                  <a:srgbClr val="A9BDC9"/>
                </a:solidFill>
                <a:latin typeface="Helvetica Neue"/>
                <a:ea typeface="Helvetica Neue"/>
                <a:cs typeface="Helvetica Neue"/>
              </a:rPr>
              <a:t>21</a:t>
            </a:r>
          </a:p>
        </p:txBody>
      </p:sp>
      <p:sp>
        <p:nvSpPr>
          <p:cNvPr id="3" name="">
            <a:extLst xmlns:a="http://schemas.openxmlformats.org/drawingml/2006/main">
              <a:ext uri="{FF2B5EF4-FFF2-40B4-BE49-F238E27FC236}">
                <a16:creationId xmlns:a16="http://schemas.microsoft.com/office/drawing/2014/main" id="{A180688B-FE7D-436E-A68A-3C65176363DC}"/>
              </a:ext>
            </a:extLst>
          </p:cNvPr>
          <p:cNvSpPr>
            <a:spLocks xmlns:a="http://schemas.openxmlformats.org/drawingml/2006/main" noGrp="1"/>
          </p:cNvSpPr>
          <p:nvPr/>
        </p:nvSpPr>
        <p:spPr>
          <a:xfrm xmlns:a="http://schemas.openxmlformats.org/drawingml/2006/main">
            <a:off x="609600" y="171450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Service marketplace</a:t>
            </a:r>
          </a:p>
        </p:txBody>
      </p:sp>
      <p:sp>
        <p:nvSpPr>
          <p:cNvPr id="4" name="">
            <a:extLst xmlns:a="http://schemas.openxmlformats.org/drawingml/2006/main">
              <a:ext uri="{FF2B5EF4-FFF2-40B4-BE49-F238E27FC236}">
                <a16:creationId xmlns:a16="http://schemas.microsoft.com/office/drawing/2014/main" id="{11C7D8F9-E2B4-4BC8-9342-D00E71A3718A}"/>
              </a:ext>
            </a:extLst>
          </p:cNvPr>
          <p:cNvSpPr>
            <a:spLocks xmlns:a="http://schemas.openxmlformats.org/drawingml/2006/main" noGrp="1"/>
          </p:cNvSpPr>
          <p:nvPr/>
        </p:nvSpPr>
        <p:spPr>
          <a:xfrm xmlns:a="http://schemas.openxmlformats.org/drawingml/2006/main">
            <a:off x="609600" y="2209800"/>
            <a:ext cx="5191125"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EAF1F5"/>
                </a:solidFill>
                <a:latin typeface="Helvetica Neue"/>
                <a:ea typeface="Helvetica Neue"/>
                <a:cs typeface="Helvetica Neue"/>
              </a:defRPr>
            </a:pPr>
            <a:r>
              <a:rPr sz="2100" b="0">
                <a:solidFill>
                  <a:srgbClr val="EAF1F5"/>
                </a:solidFill>
                <a:latin typeface="Helvetica Neue"/>
                <a:ea typeface="Helvetica Neue"/>
                <a:cs typeface="Helvetica Neue"/>
              </a:rPr>
              <a:t>Customers commission studio work. Providers receive orders, return accepted results and complete delivery through the commerce workflow.</a:t>
            </a:r>
          </a:p>
        </p:txBody>
      </p:sp>
      <p:sp>
        <p:nvSpPr>
          <p:cNvPr id="5" name="">
            <a:extLst xmlns:a="http://schemas.openxmlformats.org/drawingml/2006/main">
              <a:ext uri="{FF2B5EF4-FFF2-40B4-BE49-F238E27FC236}">
                <a16:creationId xmlns:a16="http://schemas.microsoft.com/office/drawing/2014/main" id="{C24E8492-3707-4B1D-BF60-FA258082F801}"/>
              </a:ext>
            </a:extLst>
          </p:cNvPr>
          <p:cNvSpPr>
            <a:spLocks xmlns:a="http://schemas.openxmlformats.org/drawingml/2006/main" noGrp="1"/>
          </p:cNvSpPr>
          <p:nvPr/>
        </p:nvSpPr>
        <p:spPr>
          <a:xfrm xmlns:a="http://schemas.openxmlformats.org/drawingml/2006/main">
            <a:off x="6429375" y="171450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Digital-asset commerce</a:t>
            </a:r>
          </a:p>
        </p:txBody>
      </p:sp>
      <p:sp>
        <p:nvSpPr>
          <p:cNvPr id="6" name="">
            <a:extLst xmlns:a="http://schemas.openxmlformats.org/drawingml/2006/main">
              <a:ext uri="{FF2B5EF4-FFF2-40B4-BE49-F238E27FC236}">
                <a16:creationId xmlns:a16="http://schemas.microsoft.com/office/drawing/2014/main" id="{CF571B75-32E1-47B1-8B3A-0F4F043D7C66}"/>
              </a:ext>
            </a:extLst>
          </p:cNvPr>
          <p:cNvSpPr>
            <a:spLocks xmlns:a="http://schemas.openxmlformats.org/drawingml/2006/main" noGrp="1"/>
          </p:cNvSpPr>
          <p:nvPr/>
        </p:nvSpPr>
        <p:spPr>
          <a:xfrm xmlns:a="http://schemas.openxmlformats.org/drawingml/2006/main">
            <a:off x="6429375" y="2209800"/>
            <a:ext cx="5191125"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EAF1F5"/>
                </a:solidFill>
                <a:latin typeface="Helvetica Neue"/>
                <a:ea typeface="Helvetica Neue"/>
                <a:cs typeface="Helvetica Neue"/>
              </a:defRPr>
            </a:pPr>
            <a:r>
              <a:rPr sz="2100" b="0">
                <a:solidFill>
                  <a:srgbClr val="EAF1F5"/>
                </a:solidFill>
                <a:latin typeface="Helvetica Neue"/>
                <a:ea typeface="Helvetica Neue"/>
                <a:cs typeface="Helvetica Neue"/>
              </a:rPr>
              <a:t>Tokenized media, buyer entitlement and protected digital delivery connect the asset record to its commercial exchange.</a:t>
            </a:r>
          </a:p>
        </p:txBody>
      </p:sp>
      <p:sp>
        <p:nvSpPr>
          <p:cNvPr id="7" name="">
            <a:extLst xmlns:a="http://schemas.openxmlformats.org/drawingml/2006/main">
              <a:ext uri="{FF2B5EF4-FFF2-40B4-BE49-F238E27FC236}">
                <a16:creationId xmlns:a16="http://schemas.microsoft.com/office/drawing/2014/main" id="{11E1D960-5980-423A-8D49-2DF74BA0A5DC}"/>
              </a:ext>
            </a:extLst>
          </p:cNvPr>
          <p:cNvSpPr>
            <a:spLocks xmlns:a="http://schemas.openxmlformats.org/drawingml/2006/main" noGrp="1"/>
          </p:cNvSpPr>
          <p:nvPr/>
        </p:nvSpPr>
        <p:spPr>
          <a:xfrm xmlns:a="http://schemas.openxmlformats.org/drawingml/2006/main">
            <a:off x="609600" y="4229100"/>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56DBD0"/>
                </a:solidFill>
                <a:latin typeface="Helvetica Neue"/>
                <a:ea typeface="Helvetica Neue"/>
                <a:cs typeface="Helvetica Neue"/>
              </a:defRPr>
            </a:pPr>
            <a:r>
              <a:rPr sz="2775" b="1">
                <a:solidFill>
                  <a:srgbClr val="56DBD0"/>
                </a:solidFill>
                <a:latin typeface="Helvetica Neue"/>
                <a:ea typeface="Helvetica Neue"/>
                <a:cs typeface="Helvetica Neue"/>
              </a:rPr>
              <a:t>Independent development path</a:t>
            </a:r>
          </a:p>
        </p:txBody>
      </p:sp>
      <p:sp>
        <p:nvSpPr>
          <p:cNvPr id="8" name="">
            <a:extLst xmlns:a="http://schemas.openxmlformats.org/drawingml/2006/main">
              <a:ext uri="{FF2B5EF4-FFF2-40B4-BE49-F238E27FC236}">
                <a16:creationId xmlns:a16="http://schemas.microsoft.com/office/drawing/2014/main" id="{B3DFC886-0C3B-4A31-BB2A-57EAFA78E291}"/>
              </a:ext>
            </a:extLst>
          </p:cNvPr>
          <p:cNvSpPr>
            <a:spLocks xmlns:a="http://schemas.openxmlformats.org/drawingml/2006/main" noGrp="1"/>
          </p:cNvSpPr>
          <p:nvPr/>
        </p:nvSpPr>
        <p:spPr>
          <a:xfrm xmlns:a="http://schemas.openxmlformats.org/drawingml/2006/main">
            <a:off x="609600" y="4962525"/>
            <a:ext cx="10858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EAF1F5"/>
                </a:solidFill>
                <a:latin typeface="Helvetica Neue"/>
                <a:ea typeface="Helvetica Neue"/>
                <a:cs typeface="Helvetica Neue"/>
              </a:defRPr>
            </a:pPr>
            <a:r>
              <a:rPr sz="2175" b="0">
                <a:solidFill>
                  <a:srgbClr val="EAF1F5"/>
                </a:solidFill>
                <a:latin typeface="Helvetica Neue"/>
                <a:ea typeface="Helvetica Neue"/>
                <a:cs typeface="Helvetica Neue"/>
              </a:rPr>
              <a:t>Expand to multiple studios and service providers, seller tools and marketplace operations. Physical-goods commerce is a later extension.</a:t>
            </a:r>
          </a:p>
        </p:txBody>
      </p:sp>
    </p:spTree>
    <p:extLst>
      <p:ext uri="{BB962C8B-B14F-4D97-AF65-F5344CB8AC3E}">
        <p14:creationId xmlns:p14="http://schemas.microsoft.com/office/powerpoint/2010/main" val="1023538481"/>
      </p:ext>
    </p:extLst>
  </p:cSld>
</p:sld>
</file>

<file path=ppt/slides/slide22.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F0246E01-F846-4C70-89AD-81DB0B7EA2DA}"/>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EAF1F5"/>
                </a:solidFill>
                <a:latin typeface="Helvetica Neue"/>
                <a:ea typeface="Helvetica Neue"/>
                <a:cs typeface="Helvetica Neue"/>
              </a:defRPr>
            </a:pPr>
            <a:r>
              <a:rPr sz="3300" b="1">
                <a:solidFill>
                  <a:srgbClr val="EAF1F5"/>
                </a:solidFill>
                <a:latin typeface="Helvetica Neue"/>
                <a:ea typeface="Helvetica Neue"/>
                <a:cs typeface="Helvetica Neue"/>
              </a:rPr>
              <a:t>From a Boson order to the delivered result</a:t>
            </a:r>
          </a:p>
        </p:txBody>
      </p:sp>
      <p:sp>
        <p:nvSpPr>
          <p:cNvPr id="2" name="">
            <a:extLst xmlns:a="http://schemas.openxmlformats.org/drawingml/2006/main">
              <a:ext uri="{FF2B5EF4-FFF2-40B4-BE49-F238E27FC236}">
                <a16:creationId xmlns:a16="http://schemas.microsoft.com/office/drawing/2014/main" id="{8EC39F3A-E7BD-4FE2-AA63-7D4CCA259781}"/>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A9BDC9"/>
                </a:solidFill>
                <a:latin typeface="Helvetica Neue"/>
                <a:ea typeface="Helvetica Neue"/>
                <a:cs typeface="Helvetica Neue"/>
              </a:defRPr>
            </a:pPr>
            <a:r>
              <a:rPr sz="1200" b="0">
                <a:solidFill>
                  <a:srgbClr val="A9BDC9"/>
                </a:solidFill>
                <a:latin typeface="Helvetica Neue"/>
                <a:ea typeface="Helvetica Neue"/>
                <a:cs typeface="Helvetica Neue"/>
              </a:rPr>
              <a:t>22</a:t>
            </a:r>
          </a:p>
        </p:txBody>
      </p:sp>
      <p:sp>
        <p:nvSpPr>
          <p:cNvPr id="3" name="">
            <a:extLst xmlns:a="http://schemas.openxmlformats.org/drawingml/2006/main">
              <a:ext uri="{FF2B5EF4-FFF2-40B4-BE49-F238E27FC236}">
                <a16:creationId xmlns:a16="http://schemas.microsoft.com/office/drawing/2014/main" id="{9108CEFE-D47F-4AC4-80E0-F03EB83B4FA0}"/>
              </a:ext>
            </a:extLst>
          </p:cNvPr>
          <p:cNvSpPr>
            <a:spLocks xmlns:a="http://schemas.openxmlformats.org/drawingml/2006/main" noGrp="1"/>
          </p:cNvSpPr>
          <p:nvPr/>
        </p:nvSpPr>
        <p:spPr>
          <a:xfrm xmlns:a="http://schemas.openxmlformats.org/drawingml/2006/main">
            <a:off x="609600" y="1819275"/>
            <a:ext cx="3314700" cy="1047750"/>
          </a:xfrm>
          <a:prstGeom xmlns:a="http://schemas.openxmlformats.org/drawingml/2006/main" prst="rect">
            <a:avLst/>
          </a:prstGeom>
          <a:solidFill xmlns:a="http://schemas.openxmlformats.org/drawingml/2006/main">
            <a:srgbClr val="102C3C"/>
          </a:solidFill>
          <a:ln xmlns:a="http://schemas.openxmlformats.org/drawingml/2006/main" w="11430">
            <a:solidFill>
              <a:srgbClr val="397785"/>
            </a:solidFill>
          </a:ln>
        </p:spPr>
        <p:txBody>
          <a:bodyPr xmlns:a="http://schemas.openxmlformats.org/drawingml/2006/main" lIns="114300" tIns="114300" rIns="114300" bIns="114300" anchor="ctr">
            <a:noAutofit/>
          </a:bodyPr>
          <a:lstStyle xmlns:a="http://schemas.openxmlformats.org/drawingml/2006/main"/>
          <a:p xmlns:a="http://schemas.openxmlformats.org/drawingml/2006/main">
            <a:pPr algn="ctr">
              <a:defRPr sz="1875" b="1">
                <a:solidFill>
                  <a:srgbClr val="EAF1F5"/>
                </a:solidFill>
                <a:latin typeface="Helvetica Neue"/>
                <a:ea typeface="Helvetica Neue"/>
                <a:cs typeface="Helvetica Neue"/>
              </a:defRPr>
            </a:pPr>
            <a:r>
              <a:rPr sz="1875" b="1">
                <a:solidFill>
                  <a:srgbClr val="EAF1F5"/>
                </a:solidFill>
                <a:latin typeface="Helvetica Neue"/>
                <a:ea typeface="Helvetica Neue"/>
                <a:cs typeface="Helvetica Neue"/>
              </a:rPr>
              <a:t>Boson service order</a:t>
            </a:r>
          </a:p>
        </p:txBody>
      </p:sp>
      <p:sp>
        <p:nvSpPr>
          <p:cNvPr id="4" name="">
            <a:extLst xmlns:a="http://schemas.openxmlformats.org/drawingml/2006/main">
              <a:ext uri="{FF2B5EF4-FFF2-40B4-BE49-F238E27FC236}">
                <a16:creationId xmlns:a16="http://schemas.microsoft.com/office/drawing/2014/main" id="{1EE6FDA5-FB14-4FFA-AA87-A862DFBA89D5}"/>
              </a:ext>
            </a:extLst>
          </p:cNvPr>
          <p:cNvSpPr>
            <a:spLocks xmlns:a="http://schemas.openxmlformats.org/drawingml/2006/main" noGrp="1"/>
          </p:cNvSpPr>
          <p:nvPr/>
        </p:nvSpPr>
        <p:spPr>
          <a:xfrm xmlns:a="http://schemas.openxmlformats.org/drawingml/2006/main">
            <a:off x="4438650" y="1819275"/>
            <a:ext cx="3314700" cy="1047750"/>
          </a:xfrm>
          <a:prstGeom xmlns:a="http://schemas.openxmlformats.org/drawingml/2006/main" prst="rect">
            <a:avLst/>
          </a:prstGeom>
          <a:solidFill xmlns:a="http://schemas.openxmlformats.org/drawingml/2006/main">
            <a:srgbClr val="102C3C"/>
          </a:solidFill>
          <a:ln xmlns:a="http://schemas.openxmlformats.org/drawingml/2006/main" w="11430">
            <a:solidFill>
              <a:srgbClr val="397785"/>
            </a:solidFill>
          </a:ln>
        </p:spPr>
        <p:txBody>
          <a:bodyPr xmlns:a="http://schemas.openxmlformats.org/drawingml/2006/main" lIns="114300" tIns="114300" rIns="114300" bIns="114300" anchor="ctr">
            <a:noAutofit/>
          </a:bodyPr>
          <a:lstStyle xmlns:a="http://schemas.openxmlformats.org/drawingml/2006/main"/>
          <a:p xmlns:a="http://schemas.openxmlformats.org/drawingml/2006/main">
            <a:pPr algn="ctr">
              <a:defRPr sz="1875" b="1">
                <a:solidFill>
                  <a:srgbClr val="EAF1F5"/>
                </a:solidFill>
                <a:latin typeface="Helvetica Neue"/>
                <a:ea typeface="Helvetica Neue"/>
                <a:cs typeface="Helvetica Neue"/>
              </a:defRPr>
            </a:pPr>
            <a:r>
              <a:rPr sz="1875" b="1">
                <a:solidFill>
                  <a:srgbClr val="EAF1F5"/>
                </a:solidFill>
                <a:latin typeface="Helvetica Neue"/>
                <a:ea typeface="Helvetica Neue"/>
                <a:cs typeface="Helvetica Neue"/>
              </a:rPr>
              <a:t>Studio plans the job</a:t>
            </a:r>
          </a:p>
        </p:txBody>
      </p:sp>
      <p:sp>
        <p:nvSpPr>
          <p:cNvPr id="5" name="">
            <a:extLst xmlns:a="http://schemas.openxmlformats.org/drawingml/2006/main">
              <a:ext uri="{FF2B5EF4-FFF2-40B4-BE49-F238E27FC236}">
                <a16:creationId xmlns:a16="http://schemas.microsoft.com/office/drawing/2014/main" id="{F0D704B5-FB37-4954-94B4-8DA29E4E91AD}"/>
              </a:ext>
            </a:extLst>
          </p:cNvPr>
          <p:cNvSpPr>
            <a:spLocks xmlns:a="http://schemas.openxmlformats.org/drawingml/2006/main" noGrp="1"/>
          </p:cNvSpPr>
          <p:nvPr/>
        </p:nvSpPr>
        <p:spPr>
          <a:xfrm xmlns:a="http://schemas.openxmlformats.org/drawingml/2006/main">
            <a:off x="8267700" y="1819275"/>
            <a:ext cx="3314700" cy="1047750"/>
          </a:xfrm>
          <a:prstGeom xmlns:a="http://schemas.openxmlformats.org/drawingml/2006/main" prst="rect">
            <a:avLst/>
          </a:prstGeom>
          <a:solidFill xmlns:a="http://schemas.openxmlformats.org/drawingml/2006/main">
            <a:srgbClr val="102C3C"/>
          </a:solidFill>
          <a:ln xmlns:a="http://schemas.openxmlformats.org/drawingml/2006/main" w="11430">
            <a:solidFill>
              <a:srgbClr val="397785"/>
            </a:solidFill>
          </a:ln>
        </p:spPr>
        <p:txBody>
          <a:bodyPr xmlns:a="http://schemas.openxmlformats.org/drawingml/2006/main" lIns="114300" tIns="114300" rIns="114300" bIns="114300" anchor="ctr">
            <a:noAutofit/>
          </a:bodyPr>
          <a:lstStyle xmlns:a="http://schemas.openxmlformats.org/drawingml/2006/main"/>
          <a:p xmlns:a="http://schemas.openxmlformats.org/drawingml/2006/main">
            <a:pPr algn="ctr">
              <a:defRPr sz="1875" b="1">
                <a:solidFill>
                  <a:srgbClr val="EAF1F5"/>
                </a:solidFill>
                <a:latin typeface="Helvetica Neue"/>
                <a:ea typeface="Helvetica Neue"/>
                <a:cs typeface="Helvetica Neue"/>
              </a:defRPr>
            </a:pPr>
            <a:r>
              <a:rPr sz="1875" b="1">
                <a:solidFill>
                  <a:srgbClr val="EAF1F5"/>
                </a:solidFill>
                <a:latin typeface="Helvetica Neue"/>
                <a:ea typeface="Helvetica Neue"/>
                <a:cs typeface="Helvetica Neue"/>
              </a:rPr>
              <a:t>Production and checks</a:t>
            </a:r>
          </a:p>
        </p:txBody>
      </p:sp>
      <p:sp>
        <p:nvSpPr>
          <p:cNvPr id="6" name="">
            <a:extLst xmlns:a="http://schemas.openxmlformats.org/drawingml/2006/main">
              <a:ext uri="{FF2B5EF4-FFF2-40B4-BE49-F238E27FC236}">
                <a16:creationId xmlns:a16="http://schemas.microsoft.com/office/drawing/2014/main" id="{5C81811B-DD54-4471-B0AB-30AC9E194F36}"/>
              </a:ext>
            </a:extLst>
          </p:cNvPr>
          <p:cNvSpPr>
            <a:spLocks xmlns:a="http://schemas.openxmlformats.org/drawingml/2006/main" noGrp="1"/>
          </p:cNvSpPr>
          <p:nvPr/>
        </p:nvSpPr>
        <p:spPr>
          <a:xfrm xmlns:a="http://schemas.openxmlformats.org/drawingml/2006/main">
            <a:off x="8267700" y="3876675"/>
            <a:ext cx="3314700" cy="1047750"/>
          </a:xfrm>
          <a:prstGeom xmlns:a="http://schemas.openxmlformats.org/drawingml/2006/main" prst="rect">
            <a:avLst/>
          </a:prstGeom>
          <a:solidFill xmlns:a="http://schemas.openxmlformats.org/drawingml/2006/main">
            <a:srgbClr val="102C3C"/>
          </a:solidFill>
          <a:ln xmlns:a="http://schemas.openxmlformats.org/drawingml/2006/main" w="11430">
            <a:solidFill>
              <a:srgbClr val="397785"/>
            </a:solidFill>
          </a:ln>
        </p:spPr>
        <p:txBody>
          <a:bodyPr xmlns:a="http://schemas.openxmlformats.org/drawingml/2006/main" lIns="114300" tIns="114300" rIns="114300" bIns="114300" anchor="ctr">
            <a:noAutofit/>
          </a:bodyPr>
          <a:lstStyle xmlns:a="http://schemas.openxmlformats.org/drawingml/2006/main"/>
          <a:p xmlns:a="http://schemas.openxmlformats.org/drawingml/2006/main">
            <a:pPr algn="ctr">
              <a:defRPr sz="1875" b="1">
                <a:solidFill>
                  <a:srgbClr val="EAF1F5"/>
                </a:solidFill>
                <a:latin typeface="Helvetica Neue"/>
                <a:ea typeface="Helvetica Neue"/>
                <a:cs typeface="Helvetica Neue"/>
              </a:defRPr>
            </a:pPr>
            <a:r>
              <a:rPr sz="1875" b="1">
                <a:solidFill>
                  <a:srgbClr val="EAF1F5"/>
                </a:solidFill>
                <a:latin typeface="Helvetica Neue"/>
                <a:ea typeface="Helvetica Neue"/>
                <a:cs typeface="Helvetica Neue"/>
              </a:rPr>
              <a:t>Accepted asset version</a:t>
            </a:r>
          </a:p>
        </p:txBody>
      </p:sp>
      <p:sp>
        <p:nvSpPr>
          <p:cNvPr id="7" name="">
            <a:extLst xmlns:a="http://schemas.openxmlformats.org/drawingml/2006/main">
              <a:ext uri="{FF2B5EF4-FFF2-40B4-BE49-F238E27FC236}">
                <a16:creationId xmlns:a16="http://schemas.microsoft.com/office/drawing/2014/main" id="{33B4250F-D263-4A3C-8377-2A9E66C88241}"/>
              </a:ext>
            </a:extLst>
          </p:cNvPr>
          <p:cNvSpPr>
            <a:spLocks xmlns:a="http://schemas.openxmlformats.org/drawingml/2006/main" noGrp="1"/>
          </p:cNvSpPr>
          <p:nvPr/>
        </p:nvSpPr>
        <p:spPr>
          <a:xfrm xmlns:a="http://schemas.openxmlformats.org/drawingml/2006/main">
            <a:off x="4438650" y="3876675"/>
            <a:ext cx="3314700" cy="1047750"/>
          </a:xfrm>
          <a:prstGeom xmlns:a="http://schemas.openxmlformats.org/drawingml/2006/main" prst="rect">
            <a:avLst/>
          </a:prstGeom>
          <a:solidFill xmlns:a="http://schemas.openxmlformats.org/drawingml/2006/main">
            <a:srgbClr val="102C3C"/>
          </a:solidFill>
          <a:ln xmlns:a="http://schemas.openxmlformats.org/drawingml/2006/main" w="11430">
            <a:solidFill>
              <a:srgbClr val="397785"/>
            </a:solidFill>
          </a:ln>
        </p:spPr>
        <p:txBody>
          <a:bodyPr xmlns:a="http://schemas.openxmlformats.org/drawingml/2006/main" lIns="114300" tIns="114300" rIns="114300" bIns="114300" anchor="ctr">
            <a:noAutofit/>
          </a:bodyPr>
          <a:lstStyle xmlns:a="http://schemas.openxmlformats.org/drawingml/2006/main"/>
          <a:p xmlns:a="http://schemas.openxmlformats.org/drawingml/2006/main">
            <a:pPr algn="ctr">
              <a:defRPr sz="1875" b="1">
                <a:solidFill>
                  <a:srgbClr val="EAF1F5"/>
                </a:solidFill>
                <a:latin typeface="Helvetica Neue"/>
                <a:ea typeface="Helvetica Neue"/>
                <a:cs typeface="Helvetica Neue"/>
              </a:defRPr>
            </a:pPr>
            <a:r>
              <a:rPr sz="1875" b="1">
                <a:solidFill>
                  <a:srgbClr val="EAF1F5"/>
                </a:solidFill>
                <a:latin typeface="Helvetica Neue"/>
                <a:ea typeface="Helvetica Neue"/>
                <a:cs typeface="Helvetica Neue"/>
              </a:rPr>
              <a:t>Tokenization and access</a:t>
            </a:r>
          </a:p>
        </p:txBody>
      </p:sp>
      <p:sp>
        <p:nvSpPr>
          <p:cNvPr id="8" name="">
            <a:extLst xmlns:a="http://schemas.openxmlformats.org/drawingml/2006/main">
              <a:ext uri="{FF2B5EF4-FFF2-40B4-BE49-F238E27FC236}">
                <a16:creationId xmlns:a16="http://schemas.microsoft.com/office/drawing/2014/main" id="{CEF59E36-EE46-49CA-8878-7228D0439A9D}"/>
              </a:ext>
            </a:extLst>
          </p:cNvPr>
          <p:cNvSpPr>
            <a:spLocks xmlns:a="http://schemas.openxmlformats.org/drawingml/2006/main" noGrp="1"/>
          </p:cNvSpPr>
          <p:nvPr/>
        </p:nvSpPr>
        <p:spPr>
          <a:xfrm xmlns:a="http://schemas.openxmlformats.org/drawingml/2006/main">
            <a:off x="609600" y="3876675"/>
            <a:ext cx="3314700" cy="1047750"/>
          </a:xfrm>
          <a:prstGeom xmlns:a="http://schemas.openxmlformats.org/drawingml/2006/main" prst="rect">
            <a:avLst/>
          </a:prstGeom>
          <a:solidFill xmlns:a="http://schemas.openxmlformats.org/drawingml/2006/main">
            <a:srgbClr val="102C3C"/>
          </a:solidFill>
          <a:ln xmlns:a="http://schemas.openxmlformats.org/drawingml/2006/main" w="11430">
            <a:solidFill>
              <a:srgbClr val="397785"/>
            </a:solidFill>
          </a:ln>
        </p:spPr>
        <p:txBody>
          <a:bodyPr xmlns:a="http://schemas.openxmlformats.org/drawingml/2006/main" lIns="114300" tIns="114300" rIns="114300" bIns="114300" anchor="ctr">
            <a:noAutofit/>
          </a:bodyPr>
          <a:lstStyle xmlns:a="http://schemas.openxmlformats.org/drawingml/2006/main"/>
          <a:p xmlns:a="http://schemas.openxmlformats.org/drawingml/2006/main">
            <a:pPr algn="ctr">
              <a:defRPr sz="1875" b="1">
                <a:solidFill>
                  <a:srgbClr val="EAF1F5"/>
                </a:solidFill>
                <a:latin typeface="Helvetica Neue"/>
                <a:ea typeface="Helvetica Neue"/>
                <a:cs typeface="Helvetica Neue"/>
              </a:defRPr>
            </a:pPr>
            <a:r>
              <a:rPr sz="1875" b="1">
                <a:solidFill>
                  <a:srgbClr val="EAF1F5"/>
                </a:solidFill>
                <a:latin typeface="Helvetica Neue"/>
                <a:ea typeface="Helvetica Neue"/>
                <a:cs typeface="Helvetica Neue"/>
              </a:rPr>
              <a:t>Delivery and completion</a:t>
            </a:r>
          </a:p>
        </p:txBody>
      </p:sp>
      <p:cxnSp>
        <p:nvCxnSpPr>
          <p:cNvPr id="23" name=""/>
          <p:cNvCxnSpPr>
            <a:stCxn xmlns:a="http://schemas.openxmlformats.org/drawingml/2006/main" id="3" idx="3"/>
            <a:endCxn xmlns:a="http://schemas.openxmlformats.org/drawingml/2006/main" id="4" idx="1"/>
          </p:cNvCxnSpPr>
          <p:nvPr/>
        </p:nvCxnSpPr>
        <p:spPr>
          <a:xfrm xmlns:a="http://schemas.openxmlformats.org/drawingml/2006/main">
            <a:off x="3924300" y="2343150"/>
            <a:ext cx="514350" cy="0"/>
          </a:xfrm>
          <a:prstGeom xmlns:a="http://schemas.openxmlformats.org/drawingml/2006/main" prst="straightConnector1">
            <a:avLst/>
          </a:prstGeom>
          <a:ln xmlns:a="http://schemas.openxmlformats.org/drawingml/2006/main" w="23813">
            <a:solidFill>
              <a:srgbClr val="56DBD0"/>
            </a:solidFill>
            <a:tailEnd type="arrow" w="med" len="med"/>
          </a:ln>
        </p:spPr>
      </p:cxnSp>
      <p:cxnSp>
        <p:nvCxnSpPr>
          <p:cNvPr id="24" name=""/>
          <p:cNvCxnSpPr>
            <a:stCxn xmlns:a="http://schemas.openxmlformats.org/drawingml/2006/main" id="4" idx="3"/>
            <a:endCxn xmlns:a="http://schemas.openxmlformats.org/drawingml/2006/main" id="5" idx="1"/>
          </p:cNvCxnSpPr>
          <p:nvPr/>
        </p:nvCxnSpPr>
        <p:spPr>
          <a:xfrm xmlns:a="http://schemas.openxmlformats.org/drawingml/2006/main">
            <a:off x="7753350" y="2343150"/>
            <a:ext cx="514350" cy="0"/>
          </a:xfrm>
          <a:prstGeom xmlns:a="http://schemas.openxmlformats.org/drawingml/2006/main" prst="straightConnector1">
            <a:avLst/>
          </a:prstGeom>
          <a:ln xmlns:a="http://schemas.openxmlformats.org/drawingml/2006/main" w="23813">
            <a:solidFill>
              <a:srgbClr val="56DBD0"/>
            </a:solidFill>
            <a:tailEnd type="arrow" w="med" len="med"/>
          </a:ln>
        </p:spPr>
      </p:cxnSp>
      <p:cxnSp>
        <p:nvCxnSpPr>
          <p:cNvPr id="25" name=""/>
          <p:cNvCxnSpPr>
            <a:stCxn xmlns:a="http://schemas.openxmlformats.org/drawingml/2006/main" id="5" idx="2"/>
            <a:endCxn xmlns:a="http://schemas.openxmlformats.org/drawingml/2006/main" id="6" idx="0"/>
          </p:cNvCxnSpPr>
          <p:nvPr/>
        </p:nvCxnSpPr>
        <p:spPr>
          <a:xfrm xmlns:a="http://schemas.openxmlformats.org/drawingml/2006/main">
            <a:off x="9925050" y="2867025"/>
            <a:ext cx="0" cy="1009650"/>
          </a:xfrm>
          <a:prstGeom xmlns:a="http://schemas.openxmlformats.org/drawingml/2006/main" prst="straightConnector1">
            <a:avLst/>
          </a:prstGeom>
          <a:ln xmlns:a="http://schemas.openxmlformats.org/drawingml/2006/main" w="23813">
            <a:solidFill>
              <a:srgbClr val="56DBD0"/>
            </a:solidFill>
            <a:tailEnd type="arrow" w="med" len="med"/>
          </a:ln>
        </p:spPr>
      </p:cxnSp>
      <p:cxnSp>
        <p:nvCxnSpPr>
          <p:cNvPr id="26" name=""/>
          <p:cNvCxnSpPr>
            <a:stCxn xmlns:a="http://schemas.openxmlformats.org/drawingml/2006/main" id="6" idx="1"/>
            <a:endCxn xmlns:a="http://schemas.openxmlformats.org/drawingml/2006/main" id="7" idx="3"/>
          </p:cNvCxnSpPr>
          <p:nvPr/>
        </p:nvCxnSpPr>
        <p:spPr>
          <a:xfrm xmlns:a="http://schemas.openxmlformats.org/drawingml/2006/main" flipH="1">
            <a:off x="7753350" y="4400550"/>
            <a:ext cx="514350" cy="0"/>
          </a:xfrm>
          <a:prstGeom xmlns:a="http://schemas.openxmlformats.org/drawingml/2006/main" prst="straightConnector1">
            <a:avLst/>
          </a:prstGeom>
          <a:ln xmlns:a="http://schemas.openxmlformats.org/drawingml/2006/main" w="23813">
            <a:solidFill>
              <a:srgbClr val="56DBD0"/>
            </a:solidFill>
            <a:tailEnd type="arrow" w="med" len="med"/>
          </a:ln>
        </p:spPr>
      </p:cxnSp>
      <p:cxnSp>
        <p:nvCxnSpPr>
          <p:cNvPr id="27" name=""/>
          <p:cNvCxnSpPr>
            <a:stCxn xmlns:a="http://schemas.openxmlformats.org/drawingml/2006/main" id="7" idx="1"/>
            <a:endCxn xmlns:a="http://schemas.openxmlformats.org/drawingml/2006/main" id="8" idx="3"/>
          </p:cNvCxnSpPr>
          <p:nvPr/>
        </p:nvCxnSpPr>
        <p:spPr>
          <a:xfrm xmlns:a="http://schemas.openxmlformats.org/drawingml/2006/main" flipH="1">
            <a:off x="3924300" y="4400550"/>
            <a:ext cx="514350" cy="0"/>
          </a:xfrm>
          <a:prstGeom xmlns:a="http://schemas.openxmlformats.org/drawingml/2006/main" prst="straightConnector1">
            <a:avLst/>
          </a:prstGeom>
          <a:ln xmlns:a="http://schemas.openxmlformats.org/drawingml/2006/main" w="23813">
            <a:solidFill>
              <a:srgbClr val="56DBD0"/>
            </a:solidFill>
            <a:tailEnd type="arrow" w="med" len="med"/>
          </a:ln>
        </p:spPr>
      </p:cxnSp>
      <p:sp>
        <p:nvSpPr>
          <p:cNvPr id="14" name="">
            <a:extLst xmlns:a="http://schemas.openxmlformats.org/drawingml/2006/main">
              <a:ext uri="{FF2B5EF4-FFF2-40B4-BE49-F238E27FC236}">
                <a16:creationId xmlns:a16="http://schemas.microsoft.com/office/drawing/2014/main" id="{4B16968F-25B1-43C8-9F87-876108685A24}"/>
              </a:ext>
            </a:extLst>
          </p:cNvPr>
          <p:cNvSpPr>
            <a:spLocks xmlns:a="http://schemas.openxmlformats.org/drawingml/2006/main" noGrp="1"/>
          </p:cNvSpPr>
          <p:nvPr/>
        </p:nvSpPr>
        <p:spPr>
          <a:xfrm xmlns:a="http://schemas.openxmlformats.org/drawingml/2006/main">
            <a:off x="609600" y="5467350"/>
            <a:ext cx="109728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1">
                <a:solidFill>
                  <a:srgbClr val="56DBD0"/>
                </a:solidFill>
                <a:latin typeface="Helvetica Neue"/>
                <a:ea typeface="Helvetica Neue"/>
                <a:cs typeface="Helvetica Neue"/>
              </a:defRPr>
            </a:pPr>
            <a:r>
              <a:rPr sz="2025" b="1">
                <a:solidFill>
                  <a:srgbClr val="56DBD0"/>
                </a:solidFill>
                <a:latin typeface="Helvetica Neue"/>
                <a:ea typeface="Helvetica Neue"/>
                <a:cs typeface="Helvetica Neue"/>
              </a:rPr>
              <a:t>Order adapters and testnet delivery exist. Full integration with reliable studio production is remaining work.</a:t>
            </a:r>
          </a:p>
        </p:txBody>
      </p:sp>
    </p:spTree>
    <p:extLst>
      <p:ext uri="{BB962C8B-B14F-4D97-AF65-F5344CB8AC3E}">
        <p14:creationId xmlns:p14="http://schemas.microsoft.com/office/powerpoint/2010/main" val="1342500144"/>
      </p:ext>
    </p:extLst>
  </p:cSld>
</p:sld>
</file>

<file path=ppt/slides/slide23.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443C85D-F068-45BC-A6D7-A9706AB40365}"/>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EAF1F5"/>
                </a:solidFill>
                <a:latin typeface="Helvetica Neue"/>
                <a:ea typeface="Helvetica Neue"/>
                <a:cs typeface="Helvetica Neue"/>
              </a:defRPr>
            </a:pPr>
            <a:r>
              <a:rPr sz="3300" b="1">
                <a:solidFill>
                  <a:srgbClr val="EAF1F5"/>
                </a:solidFill>
                <a:latin typeface="Helvetica Neue"/>
                <a:ea typeface="Helvetica Neue"/>
                <a:cs typeface="Helvetica Neue"/>
              </a:rPr>
              <a:t>Recorded engineering evidence</a:t>
            </a:r>
          </a:p>
        </p:txBody>
      </p:sp>
      <p:sp>
        <p:nvSpPr>
          <p:cNvPr id="2" name="">
            <a:extLst xmlns:a="http://schemas.openxmlformats.org/drawingml/2006/main">
              <a:ext uri="{FF2B5EF4-FFF2-40B4-BE49-F238E27FC236}">
                <a16:creationId xmlns:a16="http://schemas.microsoft.com/office/drawing/2014/main" id="{011C5B24-2500-41F4-AEEF-E95EE9EAE701}"/>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A9BDC9"/>
                </a:solidFill>
                <a:latin typeface="Helvetica Neue"/>
                <a:ea typeface="Helvetica Neue"/>
                <a:cs typeface="Helvetica Neue"/>
              </a:defRPr>
            </a:pPr>
            <a:r>
              <a:rPr sz="1200" b="0">
                <a:solidFill>
                  <a:srgbClr val="A9BDC9"/>
                </a:solidFill>
                <a:latin typeface="Helvetica Neue"/>
                <a:ea typeface="Helvetica Neue"/>
                <a:cs typeface="Helvetica Neue"/>
              </a:rPr>
              <a:t>23</a:t>
            </a:r>
          </a:p>
        </p:txBody>
      </p:sp>
      <p:sp>
        <p:nvSpPr>
          <p:cNvPr id="3" name="">
            <a:extLst xmlns:a="http://schemas.openxmlformats.org/drawingml/2006/main">
              <a:ext uri="{FF2B5EF4-FFF2-40B4-BE49-F238E27FC236}">
                <a16:creationId xmlns:a16="http://schemas.microsoft.com/office/drawing/2014/main" id="{3B5B4086-FD09-485F-ABDF-BA8D04229F15}"/>
              </a:ext>
            </a:extLst>
          </p:cNvPr>
          <p:cNvSpPr>
            <a:spLocks xmlns:a="http://schemas.openxmlformats.org/drawingml/2006/main" noGrp="1"/>
          </p:cNvSpPr>
          <p:nvPr/>
        </p:nvSpPr>
        <p:spPr>
          <a:xfrm xmlns:a="http://schemas.openxmlformats.org/drawingml/2006/main">
            <a:off x="609600" y="1619250"/>
            <a:ext cx="36671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7350" b="1">
                <a:solidFill>
                  <a:srgbClr val="61A3FF"/>
                </a:solidFill>
                <a:latin typeface="Helvetica Neue"/>
                <a:ea typeface="Helvetica Neue"/>
                <a:cs typeface="Helvetica Neue"/>
              </a:defRPr>
            </a:pPr>
            <a:r>
              <a:rPr sz="7350" b="1">
                <a:solidFill>
                  <a:srgbClr val="61A3FF"/>
                </a:solidFill>
                <a:latin typeface="Helvetica Neue"/>
                <a:ea typeface="Helvetica Neue"/>
                <a:cs typeface="Helvetica Neue"/>
              </a:rPr>
              <a:t>176</a:t>
            </a:r>
          </a:p>
        </p:txBody>
      </p:sp>
      <p:sp>
        <p:nvSpPr>
          <p:cNvPr id="4" name="">
            <a:extLst xmlns:a="http://schemas.openxmlformats.org/drawingml/2006/main">
              <a:ext uri="{FF2B5EF4-FFF2-40B4-BE49-F238E27FC236}">
                <a16:creationId xmlns:a16="http://schemas.microsoft.com/office/drawing/2014/main" id="{A57C9231-D392-4175-9193-80641E2181B7}"/>
              </a:ext>
            </a:extLst>
          </p:cNvPr>
          <p:cNvSpPr>
            <a:spLocks xmlns:a="http://schemas.openxmlformats.org/drawingml/2006/main" noGrp="1"/>
          </p:cNvSpPr>
          <p:nvPr/>
        </p:nvSpPr>
        <p:spPr>
          <a:xfrm xmlns:a="http://schemas.openxmlformats.org/drawingml/2006/main">
            <a:off x="609600" y="2790825"/>
            <a:ext cx="3667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EAF1F5"/>
                </a:solidFill>
                <a:latin typeface="Helvetica Neue"/>
                <a:ea typeface="Helvetica Neue"/>
                <a:cs typeface="Helvetica Neue"/>
              </a:defRPr>
            </a:pPr>
            <a:r>
              <a:rPr sz="2100" b="1">
                <a:solidFill>
                  <a:srgbClr val="EAF1F5"/>
                </a:solidFill>
                <a:latin typeface="Helvetica Neue"/>
                <a:ea typeface="Helvetica Neue"/>
                <a:cs typeface="Helvetica Neue"/>
              </a:rPr>
              <a:t>passing commerce tests</a:t>
            </a:r>
          </a:p>
        </p:txBody>
      </p:sp>
      <p:sp>
        <p:nvSpPr>
          <p:cNvPr id="5" name="">
            <a:extLst xmlns:a="http://schemas.openxmlformats.org/drawingml/2006/main">
              <a:ext uri="{FF2B5EF4-FFF2-40B4-BE49-F238E27FC236}">
                <a16:creationId xmlns:a16="http://schemas.microsoft.com/office/drawing/2014/main" id="{926C0D1D-95F3-4EFD-AE3E-66A754B47EA4}"/>
              </a:ext>
            </a:extLst>
          </p:cNvPr>
          <p:cNvSpPr>
            <a:spLocks xmlns:a="http://schemas.openxmlformats.org/drawingml/2006/main" noGrp="1"/>
          </p:cNvSpPr>
          <p:nvPr/>
        </p:nvSpPr>
        <p:spPr>
          <a:xfrm xmlns:a="http://schemas.openxmlformats.org/drawingml/2006/main">
            <a:off x="609600" y="3409950"/>
            <a:ext cx="36195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EAF1F5"/>
                </a:solidFill>
                <a:latin typeface="Helvetica Neue"/>
                <a:ea typeface="Helvetica Neue"/>
                <a:cs typeface="Helvetica Neue"/>
              </a:defRPr>
            </a:pPr>
            <a:r>
              <a:rPr sz="1875" b="0">
                <a:solidFill>
                  <a:srgbClr val="EAF1F5"/>
                </a:solidFill>
                <a:latin typeface="Helvetica Neue"/>
                <a:ea typeface="Helvetica Neue"/>
                <a:cs typeface="Helvetica Neue"/>
              </a:rPr>
              <a:t>105 module tests</a:t>
            </a:r>
          </a:p>
          <a:p xmlns:a="http://schemas.openxmlformats.org/drawingml/2006/main">
            <a:pPr algn="l">
              <a:defRPr sz="1875" b="0">
                <a:solidFill>
                  <a:srgbClr val="EAF1F5"/>
                </a:solidFill>
                <a:latin typeface="Helvetica Neue"/>
                <a:ea typeface="Helvetica Neue"/>
                <a:cs typeface="Helvetica Neue"/>
              </a:defRPr>
            </a:pPr>
            <a:r>
              <a:rPr sz="1875" b="0">
                <a:solidFill>
                  <a:srgbClr val="EAF1F5"/>
                </a:solidFill>
                <a:latin typeface="Helvetica Neue"/>
                <a:ea typeface="Helvetica Neue"/>
                <a:cs typeface="Helvetica Neue"/>
              </a:rPr>
              <a:t>71 interface/account tests</a:t>
            </a:r>
          </a:p>
          <a:p xmlns:a="http://schemas.openxmlformats.org/drawingml/2006/main">
            <a:pPr algn="l">
              <a:defRPr sz="1875" b="0">
                <a:solidFill>
                  <a:srgbClr val="EAF1F5"/>
                </a:solidFill>
                <a:latin typeface="Helvetica Neue"/>
                <a:ea typeface="Helvetica Neue"/>
                <a:cs typeface="Helvetica Neue"/>
              </a:defRPr>
            </a:pPr>
            <a:r>
              <a:rPr sz="1875" b="0">
                <a:solidFill>
                  <a:srgbClr val="EAF1F5"/>
                </a:solidFill>
                <a:latin typeface="Helvetica Neue"/>
                <a:ea typeface="Helvetica Neue"/>
                <a:cs typeface="Helvetica Neue"/>
              </a:rPr>
              <a:t>Verified 4 October 2026</a:t>
            </a:r>
          </a:p>
        </p:txBody>
      </p:sp>
      <p:sp>
        <p:nvSpPr>
          <p:cNvPr id="6" name="">
            <a:extLst xmlns:a="http://schemas.openxmlformats.org/drawingml/2006/main">
              <a:ext uri="{FF2B5EF4-FFF2-40B4-BE49-F238E27FC236}">
                <a16:creationId xmlns:a16="http://schemas.microsoft.com/office/drawing/2014/main" id="{90B58DAF-54C8-4F48-980B-A7A783F2779D}"/>
              </a:ext>
            </a:extLst>
          </p:cNvPr>
          <p:cNvSpPr>
            <a:spLocks xmlns:a="http://schemas.openxmlformats.org/drawingml/2006/main" noGrp="1"/>
          </p:cNvSpPr>
          <p:nvPr/>
        </p:nvSpPr>
        <p:spPr>
          <a:xfrm xmlns:a="http://schemas.openxmlformats.org/drawingml/2006/main">
            <a:off x="609600" y="5124450"/>
            <a:ext cx="3619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61A3FF"/>
                </a:solidFill>
                <a:latin typeface="Helvetica Neue"/>
                <a:ea typeface="Helvetica Neue"/>
                <a:cs typeface="Helvetica Neue"/>
              </a:defRPr>
            </a:pPr>
            <a:r>
              <a:rPr sz="1725" b="0">
                <a:solidFill>
                  <a:srgbClr val="61A3FF"/>
                </a:solidFill>
                <a:latin typeface="Helvetica Neue"/>
                <a:ea typeface="Helvetica Neue"/>
                <a:cs typeface="Helvetica Neue"/>
                <a:hlinkClick xmlns:r="http://schemas.openxmlformats.org/officeDocument/2006/relationships" r:id="Rdabbbed2b25f4524"/>
              </a:rPr>
              <a:t>Open verification record</a:t>
            </a:r>
          </a:p>
        </p:txBody>
      </p:sp>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60b7832199614d39"/>
          <a:stretch xmlns:a="http://schemas.openxmlformats.org/drawingml/2006/main"/>
        </p:blipFill>
        <p:spPr>
          <a:xfrm xmlns:a="http://schemas.openxmlformats.org/drawingml/2006/main">
            <a:off x="4610100" y="1639491"/>
            <a:ext cx="6972300" cy="3921919"/>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692F8E68-6BEA-471F-A9C7-6B1D8A96AB99}"/>
              </a:ext>
            </a:extLst>
          </p:cNvPr>
          <p:cNvSpPr>
            <a:spLocks xmlns:a="http://schemas.openxmlformats.org/drawingml/2006/main" noGrp="1"/>
          </p:cNvSpPr>
          <p:nvPr/>
        </p:nvSpPr>
        <p:spPr>
          <a:xfrm xmlns:a="http://schemas.openxmlformats.org/drawingml/2006/main">
            <a:off x="4610100" y="5676900"/>
            <a:ext cx="6972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EAF1F5"/>
                </a:solidFill>
                <a:latin typeface="Helvetica Neue"/>
                <a:ea typeface="Helvetica Neue"/>
                <a:cs typeface="Helvetica Neue"/>
              </a:defRPr>
            </a:pPr>
            <a:r>
              <a:rPr sz="1725" b="0">
                <a:solidFill>
                  <a:srgbClr val="EAF1F5"/>
                </a:solidFill>
                <a:latin typeface="Helvetica Neue"/>
                <a:ea typeface="Helvetica Neue"/>
                <a:cs typeface="Helvetica Neue"/>
              </a:rPr>
              <a:t>External MetaMask flow: purchase, redemption, completion and verified download.</a:t>
            </a:r>
          </a:p>
        </p:txBody>
      </p:sp>
      <p:sp>
        <p:nvSpPr>
          <p:cNvPr id="9" name="">
            <a:extLst xmlns:a="http://schemas.openxmlformats.org/drawingml/2006/main">
              <a:ext uri="{FF2B5EF4-FFF2-40B4-BE49-F238E27FC236}">
                <a16:creationId xmlns:a16="http://schemas.microsoft.com/office/drawing/2014/main" id="{FEABD2FF-D55D-4362-A1D5-A8887F80F793}"/>
              </a:ext>
            </a:extLst>
          </p:cNvPr>
          <p:cNvSpPr>
            <a:spLocks xmlns:a="http://schemas.openxmlformats.org/drawingml/2006/main" noGrp="1"/>
          </p:cNvSpPr>
          <p:nvPr/>
        </p:nvSpPr>
        <p:spPr>
          <a:xfrm xmlns:a="http://schemas.openxmlformats.org/drawingml/2006/main">
            <a:off x="609600" y="5905500"/>
            <a:ext cx="3762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A9BDC9"/>
                </a:solidFill>
                <a:latin typeface="Helvetica Neue"/>
                <a:ea typeface="Helvetica Neue"/>
                <a:cs typeface="Helvetica Neue"/>
              </a:defRPr>
            </a:pPr>
            <a:r>
              <a:rPr sz="1575" b="0">
                <a:solidFill>
                  <a:srgbClr val="A9BDC9"/>
                </a:solidFill>
                <a:latin typeface="Helvetica Neue"/>
                <a:ea typeface="Helvetica Neue"/>
                <a:cs typeface="Helvetica Neue"/>
              </a:rPr>
              <a:t>Testnet evidence. No customer revenue yet.</a:t>
            </a:r>
          </a:p>
        </p:txBody>
      </p:sp>
    </p:spTree>
    <p:extLst>
      <p:ext uri="{BB962C8B-B14F-4D97-AF65-F5344CB8AC3E}">
        <p14:creationId xmlns:p14="http://schemas.microsoft.com/office/powerpoint/2010/main" val="63991517"/>
      </p:ext>
    </p:extLst>
  </p:cSld>
</p:sld>
</file>

<file path=ppt/slides/slide24.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571ACC9F-2D3D-4F8A-B0EE-81AF33E64CE9}"/>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EAF1F5"/>
                </a:solidFill>
                <a:latin typeface="Helvetica Neue"/>
                <a:ea typeface="Helvetica Neue"/>
                <a:cs typeface="Helvetica Neue"/>
              </a:defRPr>
            </a:pPr>
            <a:r>
              <a:rPr sz="3300" b="1">
                <a:solidFill>
                  <a:srgbClr val="EAF1F5"/>
                </a:solidFill>
                <a:latin typeface="Helvetica Neue"/>
                <a:ea typeface="Helvetica Neue"/>
                <a:cs typeface="Helvetica Neue"/>
              </a:rPr>
              <a:t>What exists, and what still needs validation</a:t>
            </a:r>
          </a:p>
        </p:txBody>
      </p:sp>
      <p:sp>
        <p:nvSpPr>
          <p:cNvPr id="2" name="">
            <a:extLst xmlns:a="http://schemas.openxmlformats.org/drawingml/2006/main">
              <a:ext uri="{FF2B5EF4-FFF2-40B4-BE49-F238E27FC236}">
                <a16:creationId xmlns:a16="http://schemas.microsoft.com/office/drawing/2014/main" id="{0F069B77-127C-488A-B873-B2346A7523CA}"/>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A9BDC9"/>
                </a:solidFill>
                <a:latin typeface="Helvetica Neue"/>
                <a:ea typeface="Helvetica Neue"/>
                <a:cs typeface="Helvetica Neue"/>
              </a:defRPr>
            </a:pPr>
            <a:r>
              <a:rPr sz="1200" b="0">
                <a:solidFill>
                  <a:srgbClr val="A9BDC9"/>
                </a:solidFill>
                <a:latin typeface="Helvetica Neue"/>
                <a:ea typeface="Helvetica Neue"/>
                <a:cs typeface="Helvetica Neue"/>
              </a:rPr>
              <a:t>24</a:t>
            </a:r>
          </a:p>
        </p:txBody>
      </p:sp>
      <p:graphicFrame>
        <p:nvGraphicFramePr>
          <p:cNvPr id="7" name=""/>
          <p:cNvGraphicFramePr/>
          <p:nvPr/>
        </p:nvGraphicFramePr>
        <p:xfrm>
          <a:off xmlns:a="http://schemas.openxmlformats.org/drawingml/2006/main" x="609600" y="1685925"/>
          <a:ext xmlns:a="http://schemas.openxmlformats.org/drawingml/2006/main" cx="10972800" cy="3714750"/>
        </p:xfrm>
        <a:graphic xmlns:a="http://schemas.openxmlformats.org/drawingml/2006/main">
          <a:graphicData uri="http://schemas.openxmlformats.org/drawingml/2006/table">
            <a:tbl>
              <a:tblPr/>
              <a:tblGrid>
                <a:gridCol w="2428875"/>
                <a:gridCol w="4238625"/>
                <a:gridCol w="4305300"/>
              </a:tblGrid>
              <a:tr h="619125">
                <a:tc>
                  <a:txBody>
                    <a:bodyPr lIns="114300" tIns="95250" rIns="114300" bIns="76200">
                      <a:noAutofit/>
                    </a:bodyPr>
                    <a:lstStyle/>
                    <a:p>
                      <a:r>
                        <a:rPr sz="1725" b="1">
                          <a:solidFill>
                            <a:srgbClr val="FFFFFF"/>
                          </a:solidFill>
                          <a:latin typeface="Helvetica Neue"/>
                          <a:ea typeface="Helvetica Neue"/>
                          <a:cs typeface="Helvetica Neue"/>
                        </a:rPr>
                        <a:t>Area</a:t>
                      </a:r>
                    </a:p>
                  </a:txBody>
                  <a:tcPr marL="91440" marR="91440" marT="45720" marB="45720" anchor="ctr">
                    <a:solidFill>
                      <a:srgbClr val="12384C"/>
                    </a:solidFill>
                  </a:tcPr>
                </a:tc>
                <a:tc>
                  <a:txBody>
                    <a:bodyPr lIns="114300" tIns="95250" rIns="114300" bIns="76200">
                      <a:noAutofit/>
                    </a:bodyPr>
                    <a:lstStyle/>
                    <a:p>
                      <a:r>
                        <a:rPr sz="1725" b="1">
                          <a:solidFill>
                            <a:srgbClr val="FFFFFF"/>
                          </a:solidFill>
                          <a:latin typeface="Helvetica Neue"/>
                          <a:ea typeface="Helvetica Neue"/>
                          <a:cs typeface="Helvetica Neue"/>
                        </a:rPr>
                        <a:t>Current evidence</a:t>
                      </a:r>
                    </a:p>
                  </a:txBody>
                  <a:tcPr marL="91440" marR="91440" marT="45720" marB="45720" anchor="ctr">
                    <a:solidFill>
                      <a:srgbClr val="12384C"/>
                    </a:solidFill>
                  </a:tcPr>
                </a:tc>
                <a:tc>
                  <a:txBody>
                    <a:bodyPr lIns="114300" tIns="95250" rIns="114300" bIns="76200">
                      <a:noAutofit/>
                    </a:bodyPr>
                    <a:lstStyle/>
                    <a:p>
                      <a:r>
                        <a:rPr sz="1725" b="1">
                          <a:solidFill>
                            <a:srgbClr val="FFFFFF"/>
                          </a:solidFill>
                          <a:latin typeface="Helvetica Neue"/>
                          <a:ea typeface="Helvetica Neue"/>
                          <a:cs typeface="Helvetica Neue"/>
                        </a:rPr>
                        <a:t>Next milestone</a:t>
                      </a:r>
                    </a:p>
                  </a:txBody>
                  <a:tcPr marL="91440" marR="91440" marT="45720" marB="45720" anchor="ctr">
                    <a:solidFill>
                      <a:srgbClr val="12384C"/>
                    </a:solidFill>
                  </a:tcPr>
                </a:tc>
              </a:tr>
              <a:tr h="619125">
                <a:tc>
                  <a:txBody>
                    <a:bodyPr lIns="114300" tIns="95250" rIns="114300" bIns="76200">
                      <a:noAutofit/>
                    </a:bodyPr>
                    <a:lstStyle/>
                    <a:p>
                      <a:r>
                        <a:rPr sz="1725" b="0">
                          <a:solidFill>
                            <a:srgbClr val="EAF1F5"/>
                          </a:solidFill>
                          <a:latin typeface="Helvetica Neue"/>
                          <a:ea typeface="Helvetica Neue"/>
                          <a:cs typeface="Helvetica Neue"/>
                        </a:rPr>
                        <a:t>Production engine</a:t>
                      </a:r>
                    </a:p>
                  </a:txBody>
                  <a:tcPr marL="91440" marR="91440" marT="45720" marB="45720" anchor="ctr">
                    <a:solidFill>
                      <a:srgbClr val="0E2230"/>
                    </a:solidFill>
                  </a:tcPr>
                </a:tc>
                <a:tc>
                  <a:txBody>
                    <a:bodyPr lIns="114300" tIns="95250" rIns="114300" bIns="76200">
                      <a:noAutofit/>
                    </a:bodyPr>
                    <a:lstStyle/>
                    <a:p>
                      <a:r>
                        <a:rPr sz="1725" b="0">
                          <a:solidFill>
                            <a:srgbClr val="EAF1F5"/>
                          </a:solidFill>
                          <a:latin typeface="Helvetica Neue"/>
                          <a:ea typeface="Helvetica Neue"/>
                          <a:cs typeface="Helvetica Neue"/>
                        </a:rPr>
                        <a:t>Research, video/audio logic, memory, repairs</a:t>
                      </a:r>
                    </a:p>
                  </a:txBody>
                  <a:tcPr marL="91440" marR="91440" marT="45720" marB="45720" anchor="ctr">
                    <a:solidFill>
                      <a:srgbClr val="0E2230"/>
                    </a:solidFill>
                  </a:tcPr>
                </a:tc>
                <a:tc>
                  <a:txBody>
                    <a:bodyPr lIns="114300" tIns="95250" rIns="114300" bIns="76200">
                      <a:noAutofit/>
                    </a:bodyPr>
                    <a:lstStyle/>
                    <a:p>
                      <a:r>
                        <a:rPr sz="1725" b="0">
                          <a:solidFill>
                            <a:srgbClr val="EAF1F5"/>
                          </a:solidFill>
                          <a:latin typeface="Helvetica Neue"/>
                          <a:ea typeface="Helvetica Neue"/>
                          <a:cs typeface="Helvetica Neue"/>
                        </a:rPr>
                        <a:t>Reliable integrated output quality</a:t>
                      </a:r>
                    </a:p>
                  </a:txBody>
                  <a:tcPr marL="91440" marR="91440" marT="45720" marB="45720" anchor="ctr">
                    <a:solidFill>
                      <a:srgbClr val="0E2230"/>
                    </a:solidFill>
                  </a:tcPr>
                </a:tc>
              </a:tr>
              <a:tr h="619125">
                <a:tc>
                  <a:txBody>
                    <a:bodyPr lIns="114300" tIns="95250" rIns="114300" bIns="76200">
                      <a:noAutofit/>
                    </a:bodyPr>
                    <a:lstStyle/>
                    <a:p>
                      <a:r>
                        <a:rPr sz="1725" b="0">
                          <a:solidFill>
                            <a:srgbClr val="EAF1F5"/>
                          </a:solidFill>
                          <a:latin typeface="Helvetica Neue"/>
                          <a:ea typeface="Helvetica Neue"/>
                          <a:cs typeface="Helvetica Neue"/>
                        </a:rPr>
                        <a:t>Distributed execution</a:t>
                      </a:r>
                    </a:p>
                  </a:txBody>
                  <a:tcPr marL="91440" marR="91440" marT="45720" marB="45720" anchor="ctr">
                    <a:solidFill>
                      <a:srgbClr val="102938"/>
                    </a:solidFill>
                  </a:tcPr>
                </a:tc>
                <a:tc>
                  <a:txBody>
                    <a:bodyPr lIns="114300" tIns="95250" rIns="114300" bIns="76200">
                      <a:noAutofit/>
                    </a:bodyPr>
                    <a:lstStyle/>
                    <a:p>
                      <a:r>
                        <a:rPr sz="1725" b="0">
                          <a:solidFill>
                            <a:srgbClr val="EAF1F5"/>
                          </a:solidFill>
                          <a:latin typeface="Helvetica Neue"/>
                          <a:ea typeface="Helvetica Neue"/>
                          <a:cs typeface="Helvetica Neue"/>
                        </a:rPr>
                        <a:t>Station ownership and bounded workers</a:t>
                      </a:r>
                    </a:p>
                  </a:txBody>
                  <a:tcPr marL="91440" marR="91440" marT="45720" marB="45720" anchor="ctr">
                    <a:solidFill>
                      <a:srgbClr val="102938"/>
                    </a:solidFill>
                  </a:tcPr>
                </a:tc>
                <a:tc>
                  <a:txBody>
                    <a:bodyPr lIns="114300" tIns="95250" rIns="114300" bIns="76200">
                      <a:noAutofit/>
                    </a:bodyPr>
                    <a:lstStyle/>
                    <a:p>
                      <a:r>
                        <a:rPr sz="1725" b="0">
                          <a:solidFill>
                            <a:srgbClr val="EAF1F5"/>
                          </a:solidFill>
                          <a:latin typeface="Helvetica Neue"/>
                          <a:ea typeface="Helvetica Neue"/>
                          <a:cs typeface="Helvetica Neue"/>
                        </a:rPr>
                        <a:t>Finish legacy routing and recovery</a:t>
                      </a:r>
                    </a:p>
                  </a:txBody>
                  <a:tcPr marL="91440" marR="91440" marT="45720" marB="45720" anchor="ctr">
                    <a:solidFill>
                      <a:srgbClr val="102938"/>
                    </a:solidFill>
                  </a:tcPr>
                </a:tc>
              </a:tr>
              <a:tr h="619125">
                <a:tc>
                  <a:txBody>
                    <a:bodyPr lIns="114300" tIns="95250" rIns="114300" bIns="76200">
                      <a:noAutofit/>
                    </a:bodyPr>
                    <a:lstStyle/>
                    <a:p>
                      <a:r>
                        <a:rPr sz="1725" b="0">
                          <a:solidFill>
                            <a:srgbClr val="EAF1F5"/>
                          </a:solidFill>
                          <a:latin typeface="Helvetica Neue"/>
                          <a:ea typeface="Helvetica Neue"/>
                          <a:cs typeface="Helvetica Neue"/>
                        </a:rPr>
                        <a:t>Base / Boson Market</a:t>
                      </a:r>
                    </a:p>
                  </a:txBody>
                  <a:tcPr marL="91440" marR="91440" marT="45720" marB="45720" anchor="ctr">
                    <a:solidFill>
                      <a:srgbClr val="0E2230"/>
                    </a:solidFill>
                  </a:tcPr>
                </a:tc>
                <a:tc>
                  <a:txBody>
                    <a:bodyPr lIns="114300" tIns="95250" rIns="114300" bIns="76200">
                      <a:noAutofit/>
                    </a:bodyPr>
                    <a:lstStyle/>
                    <a:p>
                      <a:r>
                        <a:rPr sz="1725" b="0">
                          <a:solidFill>
                            <a:srgbClr val="EAF1F5"/>
                          </a:solidFill>
                          <a:latin typeface="Helvetica Neue"/>
                          <a:ea typeface="Helvetica Neue"/>
                          <a:cs typeface="Helvetica Neue"/>
                        </a:rPr>
                        <a:t>Testnet flow and 176 passing tests</a:t>
                      </a:r>
                    </a:p>
                  </a:txBody>
                  <a:tcPr marL="91440" marR="91440" marT="45720" marB="45720" anchor="ctr">
                    <a:solidFill>
                      <a:srgbClr val="0E2230"/>
                    </a:solidFill>
                  </a:tcPr>
                </a:tc>
                <a:tc>
                  <a:txBody>
                    <a:bodyPr lIns="114300" tIns="95250" rIns="114300" bIns="76200">
                      <a:noAutofit/>
                    </a:bodyPr>
                    <a:lstStyle/>
                    <a:p>
                      <a:r>
                        <a:rPr sz="1725" b="0">
                          <a:solidFill>
                            <a:srgbClr val="EAF1F5"/>
                          </a:solidFill>
                          <a:latin typeface="Helvetica Neue"/>
                          <a:ea typeface="Helvetica Neue"/>
                          <a:cs typeface="Helvetica Neue"/>
                        </a:rPr>
                        <a:t>Complete studio-commerce integration</a:t>
                      </a:r>
                    </a:p>
                  </a:txBody>
                  <a:tcPr marL="91440" marR="91440" marT="45720" marB="45720" anchor="ctr">
                    <a:solidFill>
                      <a:srgbClr val="0E2230"/>
                    </a:solidFill>
                  </a:tcPr>
                </a:tc>
              </a:tr>
              <a:tr h="619125">
                <a:tc>
                  <a:txBody>
                    <a:bodyPr lIns="114300" tIns="95250" rIns="114300" bIns="76200">
                      <a:noAutofit/>
                    </a:bodyPr>
                    <a:lstStyle/>
                    <a:p>
                      <a:r>
                        <a:rPr sz="1725" b="0">
                          <a:solidFill>
                            <a:srgbClr val="EAF1F5"/>
                          </a:solidFill>
                          <a:latin typeface="Helvetica Neue"/>
                          <a:ea typeface="Helvetica Neue"/>
                          <a:cs typeface="Helvetica Neue"/>
                        </a:rPr>
                        <a:t>Channel operations</a:t>
                      </a:r>
                    </a:p>
                  </a:txBody>
                  <a:tcPr marL="91440" marR="91440" marT="45720" marB="45720" anchor="ctr">
                    <a:solidFill>
                      <a:srgbClr val="102938"/>
                    </a:solidFill>
                  </a:tcPr>
                </a:tc>
                <a:tc>
                  <a:txBody>
                    <a:bodyPr lIns="114300" tIns="95250" rIns="114300" bIns="76200">
                      <a:noAutofit/>
                    </a:bodyPr>
                    <a:lstStyle/>
                    <a:p>
                      <a:r>
                        <a:rPr sz="1725" b="0">
                          <a:solidFill>
                            <a:srgbClr val="EAF1F5"/>
                          </a:solidFill>
                          <a:latin typeface="Helvetica Neue"/>
                          <a:ea typeface="Helvetica Neue"/>
                          <a:cs typeface="Helvetica Neue"/>
                        </a:rPr>
                        <a:t>YouTube analysis; first channel test planned</a:t>
                      </a:r>
                    </a:p>
                  </a:txBody>
                  <a:tcPr marL="91440" marR="91440" marT="45720" marB="45720" anchor="ctr">
                    <a:solidFill>
                      <a:srgbClr val="102938"/>
                    </a:solidFill>
                  </a:tcPr>
                </a:tc>
                <a:tc>
                  <a:txBody>
                    <a:bodyPr lIns="114300" tIns="95250" rIns="114300" bIns="76200">
                      <a:noAutofit/>
                    </a:bodyPr>
                    <a:lstStyle/>
                    <a:p>
                      <a:r>
                        <a:rPr sz="1725" b="0">
                          <a:solidFill>
                            <a:srgbClr val="EAF1F5"/>
                          </a:solidFill>
                          <a:latin typeface="Helvetica Neue"/>
                          <a:ea typeface="Helvetica Neue"/>
                          <a:cs typeface="Helvetica Neue"/>
                        </a:rPr>
                        <a:t>Experimental full management loop</a:t>
                      </a:r>
                    </a:p>
                  </a:txBody>
                  <a:tcPr marL="91440" marR="91440" marT="45720" marB="45720" anchor="ctr">
                    <a:solidFill>
                      <a:srgbClr val="102938"/>
                    </a:solidFill>
                  </a:tcPr>
                </a:tc>
              </a:tr>
              <a:tr h="619125">
                <a:tc>
                  <a:txBody>
                    <a:bodyPr lIns="114300" tIns="95250" rIns="114300" bIns="76200">
                      <a:noAutofit/>
                    </a:bodyPr>
                    <a:lstStyle/>
                    <a:p>
                      <a:r>
                        <a:rPr sz="1725" b="0">
                          <a:solidFill>
                            <a:srgbClr val="EAF1F5"/>
                          </a:solidFill>
                          <a:latin typeface="Helvetica Neue"/>
                          <a:ea typeface="Helvetica Neue"/>
                          <a:cs typeface="Helvetica Neue"/>
                        </a:rPr>
                        <a:t>Customer product</a:t>
                      </a:r>
                    </a:p>
                  </a:txBody>
                  <a:tcPr marL="91440" marR="91440" marT="45720" marB="45720" anchor="ctr">
                    <a:solidFill>
                      <a:srgbClr val="0E2230"/>
                    </a:solidFill>
                  </a:tcPr>
                </a:tc>
                <a:tc>
                  <a:txBody>
                    <a:bodyPr lIns="114300" tIns="95250" rIns="114300" bIns="76200">
                      <a:noAutofit/>
                    </a:bodyPr>
                    <a:lstStyle/>
                    <a:p>
                      <a:r>
                        <a:rPr sz="1725" b="0">
                          <a:solidFill>
                            <a:srgbClr val="EAF1F5"/>
                          </a:solidFill>
                          <a:latin typeface="Helvetica Neue"/>
                          <a:ea typeface="Helvetica Neue"/>
                          <a:cs typeface="Helvetica Neue"/>
                        </a:rPr>
                        <a:t>No live product or revenue yet</a:t>
                      </a:r>
                    </a:p>
                  </a:txBody>
                  <a:tcPr marL="91440" marR="91440" marT="45720" marB="45720" anchor="ctr">
                    <a:solidFill>
                      <a:srgbClr val="0E2230"/>
                    </a:solidFill>
                  </a:tcPr>
                </a:tc>
                <a:tc>
                  <a:txBody>
                    <a:bodyPr lIns="114300" tIns="95250" rIns="114300" bIns="76200">
                      <a:noAutofit/>
                    </a:bodyPr>
                    <a:lstStyle/>
                    <a:p>
                      <a:r>
                        <a:rPr sz="1725" b="0">
                          <a:solidFill>
                            <a:srgbClr val="EAF1F5"/>
                          </a:solidFill>
                          <a:latin typeface="Helvetica Neue"/>
                          <a:ea typeface="Helvetica Neue"/>
                          <a:cs typeface="Helvetica Neue"/>
                        </a:rPr>
                        <a:t>Isolated connections and cloud MVP</a:t>
                      </a:r>
                    </a:p>
                  </a:txBody>
                  <a:tcPr marL="91440" marR="91440" marT="45720" marB="45720" anchor="ctr">
                    <a:solidFill>
                      <a:srgbClr val="0E2230"/>
                    </a:solidFill>
                  </a:tcPr>
                </a:tc>
              </a:tr>
            </a:tbl>
          </a:graphicData>
        </a:graphic>
      </p:graphicFrame>
      <p:sp>
        <p:nvSpPr>
          <p:cNvPr id="4" name="">
            <a:extLst xmlns:a="http://schemas.openxmlformats.org/drawingml/2006/main">
              <a:ext uri="{FF2B5EF4-FFF2-40B4-BE49-F238E27FC236}">
                <a16:creationId xmlns:a16="http://schemas.microsoft.com/office/drawing/2014/main" id="{5F7A9742-2B6D-4E8C-8207-11FA1489E816}"/>
              </a:ext>
            </a:extLst>
          </p:cNvPr>
          <p:cNvSpPr>
            <a:spLocks xmlns:a="http://schemas.openxmlformats.org/drawingml/2006/main" noGrp="1"/>
          </p:cNvSpPr>
          <p:nvPr/>
        </p:nvSpPr>
        <p:spPr>
          <a:xfrm xmlns:a="http://schemas.openxmlformats.org/drawingml/2006/main">
            <a:off x="609600" y="5800725"/>
            <a:ext cx="109537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1">
                <a:solidFill>
                  <a:srgbClr val="56DBD0"/>
                </a:solidFill>
                <a:latin typeface="Helvetica Neue"/>
                <a:ea typeface="Helvetica Neue"/>
                <a:cs typeface="Helvetica Neue"/>
              </a:defRPr>
            </a:pPr>
            <a:r>
              <a:rPr sz="1950" b="1">
                <a:solidFill>
                  <a:srgbClr val="56DBD0"/>
                </a:solidFill>
                <a:latin typeface="Helvetica Neue"/>
                <a:ea typeface="Helvetica Neue"/>
                <a:cs typeface="Helvetica Neue"/>
              </a:rPr>
              <a:t>Component progress is substantial; production readiness remains the main engineering objective.</a:t>
            </a:r>
          </a:p>
        </p:txBody>
      </p:sp>
    </p:spTree>
    <p:extLst>
      <p:ext uri="{BB962C8B-B14F-4D97-AF65-F5344CB8AC3E}">
        <p14:creationId xmlns:p14="http://schemas.microsoft.com/office/powerpoint/2010/main" val="389197193"/>
      </p:ext>
    </p:extLst>
  </p:cSld>
</p:sld>
</file>

<file path=ppt/slides/slide25.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175DFC4-49E6-4FD9-9DFD-C0C0ECD38524}"/>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FFFFFF"/>
                </a:solidFill>
                <a:latin typeface="Helvetica Neue"/>
                <a:ea typeface="Helvetica Neue"/>
                <a:cs typeface="Helvetica Neue"/>
              </a:defRPr>
            </a:pPr>
            <a:r>
              <a:rPr sz="3300" b="1">
                <a:solidFill>
                  <a:srgbClr val="FFFFFF"/>
                </a:solidFill>
                <a:latin typeface="Helvetica Neue"/>
                <a:ea typeface="Helvetica Neue"/>
                <a:cs typeface="Helvetica Neue"/>
              </a:rPr>
              <a:t>A path to self-funding before customer scale</a:t>
            </a:r>
          </a:p>
        </p:txBody>
      </p:sp>
      <p:sp>
        <p:nvSpPr>
          <p:cNvPr id="2" name="">
            <a:extLst xmlns:a="http://schemas.openxmlformats.org/drawingml/2006/main">
              <a:ext uri="{FF2B5EF4-FFF2-40B4-BE49-F238E27FC236}">
                <a16:creationId xmlns:a16="http://schemas.microsoft.com/office/drawing/2014/main" id="{627CE72C-C50C-4080-81E4-B42604F4B44A}"/>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B5C4CD"/>
                </a:solidFill>
                <a:latin typeface="Helvetica Neue"/>
                <a:ea typeface="Helvetica Neue"/>
                <a:cs typeface="Helvetica Neue"/>
              </a:defRPr>
            </a:pPr>
            <a:r>
              <a:rPr sz="1200" b="0">
                <a:solidFill>
                  <a:srgbClr val="B5C4CD"/>
                </a:solidFill>
                <a:latin typeface="Helvetica Neue"/>
                <a:ea typeface="Helvetica Neue"/>
                <a:cs typeface="Helvetica Neue"/>
              </a:rPr>
              <a:t>25</a:t>
            </a:r>
          </a:p>
        </p:txBody>
      </p:sp>
      <p:sp>
        <p:nvSpPr>
          <p:cNvPr id="3" name="">
            <a:extLst xmlns:a="http://schemas.openxmlformats.org/drawingml/2006/main">
              <a:ext uri="{FF2B5EF4-FFF2-40B4-BE49-F238E27FC236}">
                <a16:creationId xmlns:a16="http://schemas.microsoft.com/office/drawing/2014/main" id="{2BBE9D48-B494-429B-8A1A-2DF1E24D879F}"/>
              </a:ext>
            </a:extLst>
          </p:cNvPr>
          <p:cNvSpPr>
            <a:spLocks xmlns:a="http://schemas.openxmlformats.org/drawingml/2006/main" noGrp="1"/>
          </p:cNvSpPr>
          <p:nvPr/>
        </p:nvSpPr>
        <p:spPr>
          <a:xfrm xmlns:a="http://schemas.openxmlformats.org/drawingml/2006/main">
            <a:off x="609600" y="1685925"/>
            <a:ext cx="1081087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FFFFFF"/>
                </a:solidFill>
                <a:latin typeface="Helvetica Neue"/>
                <a:ea typeface="Helvetica Neue"/>
                <a:cs typeface="Helvetica Neue"/>
              </a:defRPr>
            </a:pPr>
            <a:r>
              <a:rPr sz="3150" b="1">
                <a:solidFill>
                  <a:srgbClr val="FFFFFF"/>
                </a:solidFill>
                <a:latin typeface="Helvetica Neue"/>
                <a:ea typeface="Helvetica Neue"/>
                <a:cs typeface="Helvetica Neue"/>
              </a:rPr>
              <a:t>Own content operations can be a revenue source</a:t>
            </a:r>
          </a:p>
        </p:txBody>
      </p:sp>
      <p:sp>
        <p:nvSpPr>
          <p:cNvPr id="4" name="">
            <a:extLst xmlns:a="http://schemas.openxmlformats.org/drawingml/2006/main">
              <a:ext uri="{FF2B5EF4-FFF2-40B4-BE49-F238E27FC236}">
                <a16:creationId xmlns:a16="http://schemas.microsoft.com/office/drawing/2014/main" id="{859B24F1-1005-470A-94E7-0B59C22DDCC0}"/>
              </a:ext>
            </a:extLst>
          </p:cNvPr>
          <p:cNvSpPr>
            <a:spLocks xmlns:a="http://schemas.openxmlformats.org/drawingml/2006/main" noGrp="1"/>
          </p:cNvSpPr>
          <p:nvPr/>
        </p:nvSpPr>
        <p:spPr>
          <a:xfrm xmlns:a="http://schemas.openxmlformats.org/drawingml/2006/main">
            <a:off x="609600" y="3048000"/>
            <a:ext cx="10810875"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B5C4CD"/>
                </a:solidFill>
                <a:latin typeface="Helvetica Neue"/>
                <a:ea typeface="Helvetica Neue"/>
                <a:cs typeface="Helvetica Neue"/>
              </a:defRPr>
            </a:pPr>
            <a:r>
              <a:rPr sz="2250" b="0">
                <a:solidFill>
                  <a:srgbClr val="B5C4CD"/>
                </a:solidFill>
                <a:latin typeface="Helvetica Neue"/>
                <a:ea typeface="Helvetica Neue"/>
                <a:cs typeface="Helvetica Neue"/>
              </a:rPr>
              <a:t>Use the system to operate founder-owned channels, build audiences and produce monetizable content. The target is to cover recurring costs even before meaningful customer revenue.</a:t>
            </a:r>
          </a:p>
        </p:txBody>
      </p:sp>
      <p:sp>
        <p:nvSpPr>
          <p:cNvPr id="5" name="">
            <a:extLst xmlns:a="http://schemas.openxmlformats.org/drawingml/2006/main">
              <a:ext uri="{FF2B5EF4-FFF2-40B4-BE49-F238E27FC236}">
                <a16:creationId xmlns:a16="http://schemas.microsoft.com/office/drawing/2014/main" id="{7C15C648-8162-4B3E-B5E4-212DB22EFFCA}"/>
              </a:ext>
            </a:extLst>
          </p:cNvPr>
          <p:cNvSpPr>
            <a:spLocks xmlns:a="http://schemas.openxmlformats.org/drawingml/2006/main" noGrp="1"/>
          </p:cNvSpPr>
          <p:nvPr/>
        </p:nvSpPr>
        <p:spPr>
          <a:xfrm xmlns:a="http://schemas.openxmlformats.org/drawingml/2006/main">
            <a:off x="609600" y="5010150"/>
            <a:ext cx="1081087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56DBD0"/>
                </a:solidFill>
                <a:latin typeface="Helvetica Neue"/>
                <a:ea typeface="Helvetica Neue"/>
                <a:cs typeface="Helvetica Neue"/>
              </a:defRPr>
            </a:pPr>
            <a:r>
              <a:rPr sz="2475" b="1">
                <a:solidFill>
                  <a:srgbClr val="56DBD0"/>
                </a:solidFill>
                <a:latin typeface="Helvetica Neue"/>
                <a:ea typeface="Helvetica Neue"/>
                <a:cs typeface="Helvetica Neue"/>
              </a:rPr>
              <a:t>Paid customers and marketplace activity add further revenue streams.</a:t>
            </a:r>
          </a:p>
        </p:txBody>
      </p:sp>
      <p:sp>
        <p:nvSpPr>
          <p:cNvPr id="6" name="">
            <a:extLst xmlns:a="http://schemas.openxmlformats.org/drawingml/2006/main">
              <a:ext uri="{FF2B5EF4-FFF2-40B4-BE49-F238E27FC236}">
                <a16:creationId xmlns:a16="http://schemas.microsoft.com/office/drawing/2014/main" id="{64AE7B60-FF62-44E8-AD6E-0E09C8B1670A}"/>
              </a:ext>
            </a:extLst>
          </p:cNvPr>
          <p:cNvSpPr>
            <a:spLocks xmlns:a="http://schemas.openxmlformats.org/drawingml/2006/main" noGrp="1"/>
          </p:cNvSpPr>
          <p:nvPr/>
        </p:nvSpPr>
        <p:spPr>
          <a:xfrm xmlns:a="http://schemas.openxmlformats.org/drawingml/2006/main">
            <a:off x="609600" y="628650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B5C4CD"/>
                </a:solidFill>
                <a:latin typeface="Helvetica Neue"/>
                <a:ea typeface="Helvetica Neue"/>
                <a:cs typeface="Helvetica Neue"/>
              </a:defRPr>
            </a:pPr>
            <a:r>
              <a:rPr sz="1500" b="0">
                <a:solidFill>
                  <a:srgbClr val="B5C4CD"/>
                </a:solidFill>
                <a:latin typeface="Helvetica Neue"/>
                <a:ea typeface="Helvetica Neue"/>
                <a:cs typeface="Helvetica Neue"/>
              </a:rPr>
              <a:t>Self-sufficiency and profit are targets; no revenue or validated profitability yet.</a:t>
            </a:r>
          </a:p>
        </p:txBody>
      </p:sp>
    </p:spTree>
    <p:extLst>
      <p:ext uri="{BB962C8B-B14F-4D97-AF65-F5344CB8AC3E}">
        <p14:creationId xmlns:p14="http://schemas.microsoft.com/office/powerpoint/2010/main" val="667161445"/>
      </p:ext>
    </p:extLst>
  </p:cSld>
</p:sld>
</file>

<file path=ppt/slides/slide26.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4A52D240-86ED-4DA7-A33B-3B3DFE0990BE}"/>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EAF1F5"/>
                </a:solidFill>
                <a:latin typeface="Helvetica Neue"/>
                <a:ea typeface="Helvetica Neue"/>
                <a:cs typeface="Helvetica Neue"/>
              </a:defRPr>
            </a:pPr>
            <a:r>
              <a:rPr sz="3300" b="1">
                <a:solidFill>
                  <a:srgbClr val="EAF1F5"/>
                </a:solidFill>
                <a:latin typeface="Helvetica Neue"/>
                <a:ea typeface="Helvetica Neue"/>
                <a:cs typeface="Helvetica Neue"/>
              </a:rPr>
              <a:t>Multiple revenue streams, one reusable engine</a:t>
            </a:r>
          </a:p>
        </p:txBody>
      </p:sp>
      <p:sp>
        <p:nvSpPr>
          <p:cNvPr id="2" name="">
            <a:extLst xmlns:a="http://schemas.openxmlformats.org/drawingml/2006/main">
              <a:ext uri="{FF2B5EF4-FFF2-40B4-BE49-F238E27FC236}">
                <a16:creationId xmlns:a16="http://schemas.microsoft.com/office/drawing/2014/main" id="{7C0804A8-69FD-46DF-AA54-46F83DD24232}"/>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A9BDC9"/>
                </a:solidFill>
                <a:latin typeface="Helvetica Neue"/>
                <a:ea typeface="Helvetica Neue"/>
                <a:cs typeface="Helvetica Neue"/>
              </a:defRPr>
            </a:pPr>
            <a:r>
              <a:rPr sz="1200" b="0">
                <a:solidFill>
                  <a:srgbClr val="A9BDC9"/>
                </a:solidFill>
                <a:latin typeface="Helvetica Neue"/>
                <a:ea typeface="Helvetica Neue"/>
                <a:cs typeface="Helvetica Neue"/>
              </a:rPr>
              <a:t>26</a:t>
            </a:r>
          </a:p>
        </p:txBody>
      </p:sp>
      <p:graphicFrame>
        <p:nvGraphicFramePr>
          <p:cNvPr id="7" name=""/>
          <p:cNvGraphicFramePr/>
          <p:nvPr/>
        </p:nvGraphicFramePr>
        <p:xfrm>
          <a:off xmlns:a="http://schemas.openxmlformats.org/drawingml/2006/main" x="609600" y="1752600"/>
          <a:ext xmlns:a="http://schemas.openxmlformats.org/drawingml/2006/main" cx="10972800" cy="3467100"/>
        </p:xfrm>
        <a:graphic xmlns:a="http://schemas.openxmlformats.org/drawingml/2006/main">
          <a:graphicData uri="http://schemas.openxmlformats.org/drawingml/2006/table">
            <a:tbl>
              <a:tblPr/>
              <a:tblGrid>
                <a:gridCol w="2571750"/>
                <a:gridCol w="4162425"/>
                <a:gridCol w="4238625"/>
              </a:tblGrid>
              <a:tr h="693420">
                <a:tc>
                  <a:txBody>
                    <a:bodyPr lIns="114300" tIns="95250" rIns="114300" bIns="76200">
                      <a:noAutofit/>
                    </a:bodyPr>
                    <a:lstStyle/>
                    <a:p>
                      <a:r>
                        <a:rPr sz="1800" b="1">
                          <a:solidFill>
                            <a:srgbClr val="FFFFFF"/>
                          </a:solidFill>
                          <a:latin typeface="Helvetica Neue"/>
                          <a:ea typeface="Helvetica Neue"/>
                          <a:cs typeface="Helvetica Neue"/>
                        </a:rPr>
                        <a:t>Revenue source</a:t>
                      </a:r>
                    </a:p>
                  </a:txBody>
                  <a:tcPr marL="91440" marR="91440" marT="45720" marB="45720" anchor="ctr">
                    <a:solidFill>
                      <a:srgbClr val="12384C"/>
                    </a:solidFill>
                  </a:tcPr>
                </a:tc>
                <a:tc>
                  <a:txBody>
                    <a:bodyPr lIns="114300" tIns="95250" rIns="114300" bIns="76200">
                      <a:noAutofit/>
                    </a:bodyPr>
                    <a:lstStyle/>
                    <a:p>
                      <a:r>
                        <a:rPr sz="1800" b="1">
                          <a:solidFill>
                            <a:srgbClr val="FFFFFF"/>
                          </a:solidFill>
                          <a:latin typeface="Helvetica Neue"/>
                          <a:ea typeface="Helvetica Neue"/>
                          <a:cs typeface="Helvetica Neue"/>
                        </a:rPr>
                        <a:t>Proposed model</a:t>
                      </a:r>
                    </a:p>
                  </a:txBody>
                  <a:tcPr marL="91440" marR="91440" marT="45720" marB="45720" anchor="ctr">
                    <a:solidFill>
                      <a:srgbClr val="12384C"/>
                    </a:solidFill>
                  </a:tcPr>
                </a:tc>
                <a:tc>
                  <a:txBody>
                    <a:bodyPr lIns="114300" tIns="95250" rIns="114300" bIns="76200">
                      <a:noAutofit/>
                    </a:bodyPr>
                    <a:lstStyle/>
                    <a:p>
                      <a:r>
                        <a:rPr sz="1800" b="1">
                          <a:solidFill>
                            <a:srgbClr val="FFFFFF"/>
                          </a:solidFill>
                          <a:latin typeface="Helvetica Neue"/>
                          <a:ea typeface="Helvetica Neue"/>
                          <a:cs typeface="Helvetica Neue"/>
                        </a:rPr>
                        <a:t>Validation needed</a:t>
                      </a:r>
                    </a:p>
                  </a:txBody>
                  <a:tcPr marL="91440" marR="91440" marT="45720" marB="45720" anchor="ctr">
                    <a:solidFill>
                      <a:srgbClr val="12384C"/>
                    </a:solidFill>
                  </a:tcPr>
                </a:tc>
              </a:tr>
              <a:tr h="693420">
                <a:tc>
                  <a:txBody>
                    <a:bodyPr lIns="114300" tIns="95250" rIns="114300" bIns="76200">
                      <a:noAutofit/>
                    </a:bodyPr>
                    <a:lstStyle/>
                    <a:p>
                      <a:r>
                        <a:rPr sz="1800" b="0">
                          <a:solidFill>
                            <a:srgbClr val="EAF1F5"/>
                          </a:solidFill>
                          <a:latin typeface="Helvetica Neue"/>
                          <a:ea typeface="Helvetica Neue"/>
                          <a:cs typeface="Helvetica Neue"/>
                        </a:rPr>
                        <a:t>Owned channels</a:t>
                      </a:r>
                    </a:p>
                  </a:txBody>
                  <a:tcPr marL="91440" marR="91440" marT="45720" marB="45720" anchor="ctr">
                    <a:solidFill>
                      <a:srgbClr val="0E2230"/>
                    </a:solidFill>
                  </a:tcPr>
                </a:tc>
                <a:tc>
                  <a:txBody>
                    <a:bodyPr lIns="114300" tIns="95250" rIns="114300" bIns="76200">
                      <a:noAutofit/>
                    </a:bodyPr>
                    <a:lstStyle/>
                    <a:p>
                      <a:r>
                        <a:rPr sz="1800" b="0">
                          <a:solidFill>
                            <a:srgbClr val="EAF1F5"/>
                          </a:solidFill>
                          <a:latin typeface="Helvetica Neue"/>
                          <a:ea typeface="Helvetica Neue"/>
                          <a:cs typeface="Helvetica Neue"/>
                        </a:rPr>
                        <a:t>Content monetization and partnerships</a:t>
                      </a:r>
                    </a:p>
                  </a:txBody>
                  <a:tcPr marL="91440" marR="91440" marT="45720" marB="45720" anchor="ctr">
                    <a:solidFill>
                      <a:srgbClr val="0E2230"/>
                    </a:solidFill>
                  </a:tcPr>
                </a:tc>
                <a:tc>
                  <a:txBody>
                    <a:bodyPr lIns="114300" tIns="95250" rIns="114300" bIns="76200">
                      <a:noAutofit/>
                    </a:bodyPr>
                    <a:lstStyle/>
                    <a:p>
                      <a:r>
                        <a:rPr sz="1800" b="0">
                          <a:solidFill>
                            <a:srgbClr val="EAF1F5"/>
                          </a:solidFill>
                          <a:latin typeface="Helvetica Neue"/>
                          <a:ea typeface="Helvetica Neue"/>
                          <a:cs typeface="Helvetica Neue"/>
                        </a:rPr>
                        <a:t>Audience growth and channel economics</a:t>
                      </a:r>
                    </a:p>
                  </a:txBody>
                  <a:tcPr marL="91440" marR="91440" marT="45720" marB="45720" anchor="ctr">
                    <a:solidFill>
                      <a:srgbClr val="0E2230"/>
                    </a:solidFill>
                  </a:tcPr>
                </a:tc>
              </a:tr>
              <a:tr h="693420">
                <a:tc>
                  <a:txBody>
                    <a:bodyPr lIns="114300" tIns="95250" rIns="114300" bIns="76200">
                      <a:noAutofit/>
                    </a:bodyPr>
                    <a:lstStyle/>
                    <a:p>
                      <a:r>
                        <a:rPr sz="1800" b="0">
                          <a:solidFill>
                            <a:srgbClr val="EAF1F5"/>
                          </a:solidFill>
                          <a:latin typeface="Helvetica Neue"/>
                          <a:ea typeface="Helvetica Neue"/>
                          <a:cs typeface="Helvetica Neue"/>
                        </a:rPr>
                        <a:t>Engine customers</a:t>
                      </a:r>
                    </a:p>
                  </a:txBody>
                  <a:tcPr marL="91440" marR="91440" marT="45720" marB="45720" anchor="ctr">
                    <a:solidFill>
                      <a:srgbClr val="102938"/>
                    </a:solidFill>
                  </a:tcPr>
                </a:tc>
                <a:tc>
                  <a:txBody>
                    <a:bodyPr lIns="114300" tIns="95250" rIns="114300" bIns="76200">
                      <a:noAutofit/>
                    </a:bodyPr>
                    <a:lstStyle/>
                    <a:p>
                      <a:r>
                        <a:rPr sz="1800" b="0">
                          <a:solidFill>
                            <a:srgbClr val="EAF1F5"/>
                          </a:solidFill>
                          <a:latin typeface="Helvetica Neue"/>
                          <a:ea typeface="Helvetica Neue"/>
                          <a:cs typeface="Helvetica Neue"/>
                        </a:rPr>
                        <a:t>Cloud access or software licensing</a:t>
                      </a:r>
                    </a:p>
                  </a:txBody>
                  <a:tcPr marL="91440" marR="91440" marT="45720" marB="45720" anchor="ctr">
                    <a:solidFill>
                      <a:srgbClr val="102938"/>
                    </a:solidFill>
                  </a:tcPr>
                </a:tc>
                <a:tc>
                  <a:txBody>
                    <a:bodyPr lIns="114300" tIns="95250" rIns="114300" bIns="76200">
                      <a:noAutofit/>
                    </a:bodyPr>
                    <a:lstStyle/>
                    <a:p>
                      <a:r>
                        <a:rPr sz="1800" b="0">
                          <a:solidFill>
                            <a:srgbClr val="EAF1F5"/>
                          </a:solidFill>
                          <a:latin typeface="Helvetica Neue"/>
                          <a:ea typeface="Helvetica Neue"/>
                          <a:cs typeface="Helvetica Neue"/>
                        </a:rPr>
                        <a:t>Pricing and willingness to pay</a:t>
                      </a:r>
                    </a:p>
                  </a:txBody>
                  <a:tcPr marL="91440" marR="91440" marT="45720" marB="45720" anchor="ctr">
                    <a:solidFill>
                      <a:srgbClr val="102938"/>
                    </a:solidFill>
                  </a:tcPr>
                </a:tc>
              </a:tr>
              <a:tr h="693420">
                <a:tc>
                  <a:txBody>
                    <a:bodyPr lIns="114300" tIns="95250" rIns="114300" bIns="76200">
                      <a:noAutofit/>
                    </a:bodyPr>
                    <a:lstStyle/>
                    <a:p>
                      <a:r>
                        <a:rPr sz="1800" b="0">
                          <a:solidFill>
                            <a:srgbClr val="EAF1F5"/>
                          </a:solidFill>
                          <a:latin typeface="Helvetica Neue"/>
                          <a:ea typeface="Helvetica Neue"/>
                          <a:cs typeface="Helvetica Neue"/>
                        </a:rPr>
                        <a:t>Business deployments</a:t>
                      </a:r>
                    </a:p>
                  </a:txBody>
                  <a:tcPr marL="91440" marR="91440" marT="45720" marB="45720" anchor="ctr">
                    <a:solidFill>
                      <a:srgbClr val="0E2230"/>
                    </a:solidFill>
                  </a:tcPr>
                </a:tc>
                <a:tc>
                  <a:txBody>
                    <a:bodyPr lIns="114300" tIns="95250" rIns="114300" bIns="76200">
                      <a:noAutofit/>
                    </a:bodyPr>
                    <a:lstStyle/>
                    <a:p>
                      <a:r>
                        <a:rPr sz="1800" b="0">
                          <a:solidFill>
                            <a:srgbClr val="EAF1F5"/>
                          </a:solidFill>
                          <a:latin typeface="Helvetica Neue"/>
                          <a:ea typeface="Helvetica Neue"/>
                          <a:cs typeface="Helvetica Neue"/>
                        </a:rPr>
                        <a:t>Workflow setup and ongoing support</a:t>
                      </a:r>
                    </a:p>
                  </a:txBody>
                  <a:tcPr marL="91440" marR="91440" marT="45720" marB="45720" anchor="ctr">
                    <a:solidFill>
                      <a:srgbClr val="0E2230"/>
                    </a:solidFill>
                  </a:tcPr>
                </a:tc>
                <a:tc>
                  <a:txBody>
                    <a:bodyPr lIns="114300" tIns="95250" rIns="114300" bIns="76200">
                      <a:noAutofit/>
                    </a:bodyPr>
                    <a:lstStyle/>
                    <a:p>
                      <a:r>
                        <a:rPr sz="1800" b="0">
                          <a:solidFill>
                            <a:srgbClr val="EAF1F5"/>
                          </a:solidFill>
                          <a:latin typeface="Helvetica Neue"/>
                          <a:ea typeface="Helvetica Neue"/>
                          <a:cs typeface="Helvetica Neue"/>
                        </a:rPr>
                        <a:t>Integration effort and service margin</a:t>
                      </a:r>
                    </a:p>
                  </a:txBody>
                  <a:tcPr marL="91440" marR="91440" marT="45720" marB="45720" anchor="ctr">
                    <a:solidFill>
                      <a:srgbClr val="0E2230"/>
                    </a:solidFill>
                  </a:tcPr>
                </a:tc>
              </a:tr>
              <a:tr h="693420">
                <a:tc>
                  <a:txBody>
                    <a:bodyPr lIns="114300" tIns="95250" rIns="114300" bIns="76200">
                      <a:noAutofit/>
                    </a:bodyPr>
                    <a:lstStyle/>
                    <a:p>
                      <a:r>
                        <a:rPr sz="1800" b="0">
                          <a:solidFill>
                            <a:srgbClr val="EAF1F5"/>
                          </a:solidFill>
                          <a:latin typeface="Helvetica Neue"/>
                          <a:ea typeface="Helvetica Neue"/>
                          <a:cs typeface="Helvetica Neue"/>
                        </a:rPr>
                        <a:t>Boson Market</a:t>
                      </a:r>
                    </a:p>
                  </a:txBody>
                  <a:tcPr marL="91440" marR="91440" marT="45720" marB="45720" anchor="ctr">
                    <a:solidFill>
                      <a:srgbClr val="102938"/>
                    </a:solidFill>
                  </a:tcPr>
                </a:tc>
                <a:tc>
                  <a:txBody>
                    <a:bodyPr lIns="114300" tIns="95250" rIns="114300" bIns="76200">
                      <a:noAutofit/>
                    </a:bodyPr>
                    <a:lstStyle/>
                    <a:p>
                      <a:r>
                        <a:rPr sz="1800" b="0">
                          <a:solidFill>
                            <a:srgbClr val="EAF1F5"/>
                          </a:solidFill>
                          <a:latin typeface="Helvetica Neue"/>
                          <a:ea typeface="Helvetica Neue"/>
                          <a:cs typeface="Helvetica Neue"/>
                        </a:rPr>
                        <a:t>Potential fees on services and asset commerce</a:t>
                      </a:r>
                    </a:p>
                  </a:txBody>
                  <a:tcPr marL="91440" marR="91440" marT="45720" marB="45720" anchor="ctr">
                    <a:solidFill>
                      <a:srgbClr val="102938"/>
                    </a:solidFill>
                  </a:tcPr>
                </a:tc>
                <a:tc>
                  <a:txBody>
                    <a:bodyPr lIns="114300" tIns="95250" rIns="114300" bIns="76200">
                      <a:noAutofit/>
                    </a:bodyPr>
                    <a:lstStyle/>
                    <a:p>
                      <a:r>
                        <a:rPr sz="1800" b="0">
                          <a:solidFill>
                            <a:srgbClr val="EAF1F5"/>
                          </a:solidFill>
                          <a:latin typeface="Helvetica Neue"/>
                          <a:ea typeface="Helvetica Neue"/>
                          <a:cs typeface="Helvetica Neue"/>
                        </a:rPr>
                        <a:t>Marketplace demand and fee structure</a:t>
                      </a:r>
                    </a:p>
                  </a:txBody>
                  <a:tcPr marL="91440" marR="91440" marT="45720" marB="45720" anchor="ctr">
                    <a:solidFill>
                      <a:srgbClr val="102938"/>
                    </a:solidFill>
                  </a:tcPr>
                </a:tc>
              </a:tr>
            </a:tbl>
          </a:graphicData>
        </a:graphic>
      </p:graphicFrame>
      <p:sp>
        <p:nvSpPr>
          <p:cNvPr id="4" name="">
            <a:extLst xmlns:a="http://schemas.openxmlformats.org/drawingml/2006/main">
              <a:ext uri="{FF2B5EF4-FFF2-40B4-BE49-F238E27FC236}">
                <a16:creationId xmlns:a16="http://schemas.microsoft.com/office/drawing/2014/main" id="{FCF4D632-ED07-4D54-997F-A08AE526C5C4}"/>
              </a:ext>
            </a:extLst>
          </p:cNvPr>
          <p:cNvSpPr>
            <a:spLocks xmlns:a="http://schemas.openxmlformats.org/drawingml/2006/main" noGrp="1"/>
          </p:cNvSpPr>
          <p:nvPr/>
        </p:nvSpPr>
        <p:spPr>
          <a:xfrm xmlns:a="http://schemas.openxmlformats.org/drawingml/2006/main">
            <a:off x="609600" y="559117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1">
                <a:solidFill>
                  <a:srgbClr val="56DBD0"/>
                </a:solidFill>
                <a:latin typeface="Helvetica Neue"/>
                <a:ea typeface="Helvetica Neue"/>
                <a:cs typeface="Helvetica Neue"/>
              </a:defRPr>
            </a:pPr>
            <a:r>
              <a:rPr sz="2025" b="1">
                <a:solidFill>
                  <a:srgbClr val="56DBD0"/>
                </a:solidFill>
                <a:latin typeface="Helvetica Neue"/>
                <a:ea typeface="Helvetica Neue"/>
                <a:cs typeface="Helvetica Neue"/>
              </a:rPr>
              <a:t>Reinvest revenue into infrastructure and new modules. Each new workflow still has delivery and support costs.</a:t>
            </a:r>
          </a:p>
        </p:txBody>
      </p:sp>
    </p:spTree>
    <p:extLst>
      <p:ext uri="{BB962C8B-B14F-4D97-AF65-F5344CB8AC3E}">
        <p14:creationId xmlns:p14="http://schemas.microsoft.com/office/powerpoint/2010/main" val="138198641"/>
      </p:ext>
    </p:extLst>
  </p:cSld>
</p:sld>
</file>

<file path=ppt/slides/slide27.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8D15F19-B800-4388-B801-6378996524D5}"/>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EAF1F5"/>
                </a:solidFill>
                <a:latin typeface="Helvetica Neue"/>
                <a:ea typeface="Helvetica Neue"/>
                <a:cs typeface="Helvetica Neue"/>
              </a:defRPr>
            </a:pPr>
            <a:r>
              <a:rPr sz="3300" b="1">
                <a:solidFill>
                  <a:srgbClr val="EAF1F5"/>
                </a:solidFill>
                <a:latin typeface="Helvetica Neue"/>
                <a:ea typeface="Helvetica Neue"/>
                <a:cs typeface="Helvetica Neue"/>
              </a:rPr>
              <a:t>Initial customers and market entry</a:t>
            </a:r>
          </a:p>
        </p:txBody>
      </p:sp>
      <p:sp>
        <p:nvSpPr>
          <p:cNvPr id="2" name="">
            <a:extLst xmlns:a="http://schemas.openxmlformats.org/drawingml/2006/main">
              <a:ext uri="{FF2B5EF4-FFF2-40B4-BE49-F238E27FC236}">
                <a16:creationId xmlns:a16="http://schemas.microsoft.com/office/drawing/2014/main" id="{C46F0352-EBD5-4F4B-8974-18097AF2F842}"/>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A9BDC9"/>
                </a:solidFill>
                <a:latin typeface="Helvetica Neue"/>
                <a:ea typeface="Helvetica Neue"/>
                <a:cs typeface="Helvetica Neue"/>
              </a:defRPr>
            </a:pPr>
            <a:r>
              <a:rPr sz="1200" b="0">
                <a:solidFill>
                  <a:srgbClr val="A9BDC9"/>
                </a:solidFill>
                <a:latin typeface="Helvetica Neue"/>
                <a:ea typeface="Helvetica Neue"/>
                <a:cs typeface="Helvetica Neue"/>
              </a:rPr>
              <a:t>27</a:t>
            </a:r>
          </a:p>
        </p:txBody>
      </p:sp>
      <p:sp>
        <p:nvSpPr>
          <p:cNvPr id="3" name="">
            <a:extLst xmlns:a="http://schemas.openxmlformats.org/drawingml/2006/main">
              <a:ext uri="{FF2B5EF4-FFF2-40B4-BE49-F238E27FC236}">
                <a16:creationId xmlns:a16="http://schemas.microsoft.com/office/drawing/2014/main" id="{B885E331-4520-4F7B-80AE-32754F4EE73D}"/>
              </a:ext>
            </a:extLst>
          </p:cNvPr>
          <p:cNvSpPr>
            <a:spLocks xmlns:a="http://schemas.openxmlformats.org/drawingml/2006/main" noGrp="1"/>
          </p:cNvSpPr>
          <p:nvPr/>
        </p:nvSpPr>
        <p:spPr>
          <a:xfrm xmlns:a="http://schemas.openxmlformats.org/drawingml/2006/main">
            <a:off x="609600" y="161925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Initial customer profiles</a:t>
            </a:r>
          </a:p>
        </p:txBody>
      </p:sp>
      <p:sp>
        <p:nvSpPr>
          <p:cNvPr id="4" name="">
            <a:extLst xmlns:a="http://schemas.openxmlformats.org/drawingml/2006/main">
              <a:ext uri="{FF2B5EF4-FFF2-40B4-BE49-F238E27FC236}">
                <a16:creationId xmlns:a16="http://schemas.microsoft.com/office/drawing/2014/main" id="{192092ED-7EA6-416E-849B-917C37B4634C}"/>
              </a:ext>
            </a:extLst>
          </p:cNvPr>
          <p:cNvSpPr>
            <a:spLocks xmlns:a="http://schemas.openxmlformats.org/drawingml/2006/main" noGrp="1"/>
          </p:cNvSpPr>
          <p:nvPr/>
        </p:nvSpPr>
        <p:spPr>
          <a:xfrm xmlns:a="http://schemas.openxmlformats.org/drawingml/2006/main">
            <a:off x="609600" y="2114550"/>
            <a:ext cx="5191125"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EAF1F5"/>
                </a:solidFill>
                <a:latin typeface="Helvetica Neue"/>
                <a:ea typeface="Helvetica Neue"/>
                <a:cs typeface="Helvetica Neue"/>
              </a:defRPr>
            </a:pPr>
            <a:r>
              <a:rPr sz="2100" b="0">
                <a:solidFill>
                  <a:srgbClr val="EAF1F5"/>
                </a:solidFill>
                <a:latin typeface="Helvetica Neue"/>
                <a:ea typeface="Helvetica Neue"/>
                <a:cs typeface="Helvetica Neue"/>
              </a:rPr>
              <a:t>Creators managing several channels, small production studios and agencies with repeat content work.</a:t>
            </a:r>
          </a:p>
        </p:txBody>
      </p:sp>
      <p:sp>
        <p:nvSpPr>
          <p:cNvPr id="5" name="">
            <a:extLst xmlns:a="http://schemas.openxmlformats.org/drawingml/2006/main">
              <a:ext uri="{FF2B5EF4-FFF2-40B4-BE49-F238E27FC236}">
                <a16:creationId xmlns:a16="http://schemas.microsoft.com/office/drawing/2014/main" id="{5D5CE110-A2B0-41B9-B926-50D241243042}"/>
              </a:ext>
            </a:extLst>
          </p:cNvPr>
          <p:cNvSpPr>
            <a:spLocks xmlns:a="http://schemas.openxmlformats.org/drawingml/2006/main" noGrp="1"/>
          </p:cNvSpPr>
          <p:nvPr/>
        </p:nvSpPr>
        <p:spPr>
          <a:xfrm xmlns:a="http://schemas.openxmlformats.org/drawingml/2006/main">
            <a:off x="6429375" y="161925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Founder-operated channels</a:t>
            </a:r>
          </a:p>
        </p:txBody>
      </p:sp>
      <p:sp>
        <p:nvSpPr>
          <p:cNvPr id="6" name="">
            <a:extLst xmlns:a="http://schemas.openxmlformats.org/drawingml/2006/main">
              <a:ext uri="{FF2B5EF4-FFF2-40B4-BE49-F238E27FC236}">
                <a16:creationId xmlns:a16="http://schemas.microsoft.com/office/drawing/2014/main" id="{68FB1002-4764-4047-983D-216749753B5E}"/>
              </a:ext>
            </a:extLst>
          </p:cNvPr>
          <p:cNvSpPr>
            <a:spLocks xmlns:a="http://schemas.openxmlformats.org/drawingml/2006/main" noGrp="1"/>
          </p:cNvSpPr>
          <p:nvPr/>
        </p:nvSpPr>
        <p:spPr>
          <a:xfrm xmlns:a="http://schemas.openxmlformats.org/drawingml/2006/main">
            <a:off x="6429375" y="2114550"/>
            <a:ext cx="5191125"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EAF1F5"/>
                </a:solidFill>
                <a:latin typeface="Helvetica Neue"/>
                <a:ea typeface="Helvetica Neue"/>
                <a:cs typeface="Helvetica Neue"/>
              </a:defRPr>
            </a:pPr>
            <a:r>
              <a:rPr sz="2100" b="0">
                <a:solidFill>
                  <a:srgbClr val="EAF1F5"/>
                </a:solidFill>
                <a:latin typeface="Helvetica Neue"/>
                <a:ea typeface="Helvetica Neue"/>
                <a:cs typeface="Helvetica Neue"/>
              </a:rPr>
              <a:t>Use Vantemio in real content workflows. Publish demonstrations and measure production quality and cost.</a:t>
            </a:r>
          </a:p>
        </p:txBody>
      </p:sp>
      <p:sp>
        <p:nvSpPr>
          <p:cNvPr id="7" name="">
            <a:extLst xmlns:a="http://schemas.openxmlformats.org/drawingml/2006/main">
              <a:ext uri="{FF2B5EF4-FFF2-40B4-BE49-F238E27FC236}">
                <a16:creationId xmlns:a16="http://schemas.microsoft.com/office/drawing/2014/main" id="{3FBB4872-E6D7-475A-9EAF-0D19D62AD7C2}"/>
              </a:ext>
            </a:extLst>
          </p:cNvPr>
          <p:cNvSpPr>
            <a:spLocks xmlns:a="http://schemas.openxmlformats.org/drawingml/2006/main" noGrp="1"/>
          </p:cNvSpPr>
          <p:nvPr/>
        </p:nvSpPr>
        <p:spPr>
          <a:xfrm xmlns:a="http://schemas.openxmlformats.org/drawingml/2006/main">
            <a:off x="609600" y="371475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Limited external MVP</a:t>
            </a:r>
          </a:p>
        </p:txBody>
      </p:sp>
      <p:sp>
        <p:nvSpPr>
          <p:cNvPr id="8" name="">
            <a:extLst xmlns:a="http://schemas.openxmlformats.org/drawingml/2006/main">
              <a:ext uri="{FF2B5EF4-FFF2-40B4-BE49-F238E27FC236}">
                <a16:creationId xmlns:a16="http://schemas.microsoft.com/office/drawing/2014/main" id="{658215B9-A6FB-42FA-80CE-23A59782F085}"/>
              </a:ext>
            </a:extLst>
          </p:cNvPr>
          <p:cNvSpPr>
            <a:spLocks xmlns:a="http://schemas.openxmlformats.org/drawingml/2006/main" noGrp="1"/>
          </p:cNvSpPr>
          <p:nvPr/>
        </p:nvSpPr>
        <p:spPr>
          <a:xfrm xmlns:a="http://schemas.openxmlformats.org/drawingml/2006/main">
            <a:off x="609600" y="4210050"/>
            <a:ext cx="51911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EAF1F5"/>
                </a:solidFill>
                <a:latin typeface="Helvetica Neue"/>
                <a:ea typeface="Helvetica Neue"/>
                <a:cs typeface="Helvetica Neue"/>
              </a:defRPr>
            </a:pPr>
            <a:r>
              <a:rPr sz="2025" b="0">
                <a:solidFill>
                  <a:srgbClr val="EAF1F5"/>
                </a:solidFill>
                <a:latin typeface="Helvetica Neue"/>
                <a:ea typeface="Helvetica Neue"/>
                <a:cs typeface="Helvetica Neue"/>
              </a:rPr>
              <a:t>Start with a small tester group. Measure time to output, failed jobs, manual intervention and willingness to pay.</a:t>
            </a:r>
          </a:p>
        </p:txBody>
      </p:sp>
      <p:sp>
        <p:nvSpPr>
          <p:cNvPr id="9" name="">
            <a:extLst xmlns:a="http://schemas.openxmlformats.org/drawingml/2006/main">
              <a:ext uri="{FF2B5EF4-FFF2-40B4-BE49-F238E27FC236}">
                <a16:creationId xmlns:a16="http://schemas.microsoft.com/office/drawing/2014/main" id="{07AC24BC-2859-40AB-B257-AA3371A0AB4C}"/>
              </a:ext>
            </a:extLst>
          </p:cNvPr>
          <p:cNvSpPr>
            <a:spLocks xmlns:a="http://schemas.openxmlformats.org/drawingml/2006/main" noGrp="1"/>
          </p:cNvSpPr>
          <p:nvPr/>
        </p:nvSpPr>
        <p:spPr>
          <a:xfrm xmlns:a="http://schemas.openxmlformats.org/drawingml/2006/main">
            <a:off x="6429375" y="371475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Measured acquisition</a:t>
            </a:r>
          </a:p>
        </p:txBody>
      </p:sp>
      <p:sp>
        <p:nvSpPr>
          <p:cNvPr id="10" name="">
            <a:extLst xmlns:a="http://schemas.openxmlformats.org/drawingml/2006/main">
              <a:ext uri="{FF2B5EF4-FFF2-40B4-BE49-F238E27FC236}">
                <a16:creationId xmlns:a16="http://schemas.microsoft.com/office/drawing/2014/main" id="{1827AF7E-DA16-4722-B73A-38E4F1E205AE}"/>
              </a:ext>
            </a:extLst>
          </p:cNvPr>
          <p:cNvSpPr>
            <a:spLocks xmlns:a="http://schemas.openxmlformats.org/drawingml/2006/main" noGrp="1"/>
          </p:cNvSpPr>
          <p:nvPr/>
        </p:nvSpPr>
        <p:spPr>
          <a:xfrm xmlns:a="http://schemas.openxmlformats.org/drawingml/2006/main">
            <a:off x="6429375" y="4210050"/>
            <a:ext cx="51911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EAF1F5"/>
                </a:solidFill>
                <a:latin typeface="Helvetica Neue"/>
                <a:ea typeface="Helvetica Neue"/>
                <a:cs typeface="Helvetica Neue"/>
              </a:defRPr>
            </a:pPr>
            <a:r>
              <a:rPr sz="2025" b="0">
                <a:solidFill>
                  <a:srgbClr val="EAF1F5"/>
                </a:solidFill>
                <a:latin typeface="Helvetica Neue"/>
                <a:ea typeface="Helvetica Neue"/>
                <a:cs typeface="Helvetica Neue"/>
              </a:rPr>
              <a:t>Begin small paid campaigns after a usable MVP. Increase spend when conversion and acquisition costs justify it.</a:t>
            </a:r>
          </a:p>
        </p:txBody>
      </p:sp>
    </p:spTree>
    <p:extLst>
      <p:ext uri="{BB962C8B-B14F-4D97-AF65-F5344CB8AC3E}">
        <p14:creationId xmlns:p14="http://schemas.microsoft.com/office/powerpoint/2010/main" val="1480963566"/>
      </p:ext>
    </p:extLst>
  </p:cSld>
</p:sld>
</file>

<file path=ppt/slides/slide28.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0A9648B-0C78-4598-A118-C6881D799F02}"/>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EAF1F5"/>
                </a:solidFill>
                <a:latin typeface="Helvetica Neue"/>
                <a:ea typeface="Helvetica Neue"/>
                <a:cs typeface="Helvetica Neue"/>
              </a:defRPr>
            </a:pPr>
            <a:r>
              <a:rPr sz="3300" b="1">
                <a:solidFill>
                  <a:srgbClr val="EAF1F5"/>
                </a:solidFill>
                <a:latin typeface="Helvetica Neue"/>
                <a:ea typeface="Helvetica Neue"/>
                <a:cs typeface="Helvetica Neue"/>
              </a:rPr>
              <a:t>Why Base and BEF</a:t>
            </a:r>
          </a:p>
        </p:txBody>
      </p:sp>
      <p:sp>
        <p:nvSpPr>
          <p:cNvPr id="2" name="">
            <a:extLst xmlns:a="http://schemas.openxmlformats.org/drawingml/2006/main">
              <a:ext uri="{FF2B5EF4-FFF2-40B4-BE49-F238E27FC236}">
                <a16:creationId xmlns:a16="http://schemas.microsoft.com/office/drawing/2014/main" id="{2C4AAA7E-C4B7-4477-88C2-2318355264B1}"/>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A9BDC9"/>
                </a:solidFill>
                <a:latin typeface="Helvetica Neue"/>
                <a:ea typeface="Helvetica Neue"/>
                <a:cs typeface="Helvetica Neue"/>
              </a:defRPr>
            </a:pPr>
            <a:r>
              <a:rPr sz="1200" b="0">
                <a:solidFill>
                  <a:srgbClr val="A9BDC9"/>
                </a:solidFill>
                <a:latin typeface="Helvetica Neue"/>
                <a:ea typeface="Helvetica Neue"/>
                <a:cs typeface="Helvetica Neue"/>
              </a:rPr>
              <a:t>28</a:t>
            </a:r>
          </a:p>
        </p:txBody>
      </p:sp>
      <p:sp>
        <p:nvSpPr>
          <p:cNvPr id="3" name="">
            <a:extLst xmlns:a="http://schemas.openxmlformats.org/drawingml/2006/main">
              <a:ext uri="{FF2B5EF4-FFF2-40B4-BE49-F238E27FC236}">
                <a16:creationId xmlns:a16="http://schemas.microsoft.com/office/drawing/2014/main" id="{8167ACD7-93FA-4496-97EA-6E345F43A0BB}"/>
              </a:ext>
            </a:extLst>
          </p:cNvPr>
          <p:cNvSpPr>
            <a:spLocks xmlns:a="http://schemas.openxmlformats.org/drawingml/2006/main" noGrp="1"/>
          </p:cNvSpPr>
          <p:nvPr/>
        </p:nvSpPr>
        <p:spPr>
          <a:xfrm xmlns:a="http://schemas.openxmlformats.org/drawingml/2006/main">
            <a:off x="609600" y="171450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A concrete onchain workflow</a:t>
            </a:r>
          </a:p>
        </p:txBody>
      </p:sp>
      <p:sp>
        <p:nvSpPr>
          <p:cNvPr id="4" name="">
            <a:extLst xmlns:a="http://schemas.openxmlformats.org/drawingml/2006/main">
              <a:ext uri="{FF2B5EF4-FFF2-40B4-BE49-F238E27FC236}">
                <a16:creationId xmlns:a16="http://schemas.microsoft.com/office/drawing/2014/main" id="{158590D7-E2B0-4CE3-B353-3F3040D05C70}"/>
              </a:ext>
            </a:extLst>
          </p:cNvPr>
          <p:cNvSpPr>
            <a:spLocks xmlns:a="http://schemas.openxmlformats.org/drawingml/2006/main" noGrp="1"/>
          </p:cNvSpPr>
          <p:nvPr/>
        </p:nvSpPr>
        <p:spPr>
          <a:xfrm xmlns:a="http://schemas.openxmlformats.org/drawingml/2006/main">
            <a:off x="609600" y="2209800"/>
            <a:ext cx="5191125"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EAF1F5"/>
                </a:solidFill>
                <a:latin typeface="Helvetica Neue"/>
                <a:ea typeface="Helvetica Neue"/>
                <a:cs typeface="Helvetica Neue"/>
              </a:defRPr>
            </a:pPr>
            <a:r>
              <a:rPr sz="2100" b="0">
                <a:solidFill>
                  <a:srgbClr val="EAF1F5"/>
                </a:solidFill>
                <a:latin typeface="Helvetica Neue"/>
                <a:ea typeface="Helvetica Neue"/>
                <a:cs typeface="Helvetica Neue"/>
              </a:rPr>
              <a:t>Accepted content registration, ownership records, studio-service orders and protected delivery connect production to commerce.</a:t>
            </a:r>
          </a:p>
        </p:txBody>
      </p:sp>
      <p:sp>
        <p:nvSpPr>
          <p:cNvPr id="5" name="">
            <a:extLst xmlns:a="http://schemas.openxmlformats.org/drawingml/2006/main">
              <a:ext uri="{FF2B5EF4-FFF2-40B4-BE49-F238E27FC236}">
                <a16:creationId xmlns:a16="http://schemas.microsoft.com/office/drawing/2014/main" id="{1DB34347-B7E5-496D-9EDC-A3355F8DF336}"/>
              </a:ext>
            </a:extLst>
          </p:cNvPr>
          <p:cNvSpPr>
            <a:spLocks xmlns:a="http://schemas.openxmlformats.org/drawingml/2006/main" noGrp="1"/>
          </p:cNvSpPr>
          <p:nvPr/>
        </p:nvSpPr>
        <p:spPr>
          <a:xfrm xmlns:a="http://schemas.openxmlformats.org/drawingml/2006/main">
            <a:off x="6429375" y="171450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Potential ecosystem activity</a:t>
            </a:r>
          </a:p>
        </p:txBody>
      </p:sp>
      <p:sp>
        <p:nvSpPr>
          <p:cNvPr id="6" name="">
            <a:extLst xmlns:a="http://schemas.openxmlformats.org/drawingml/2006/main">
              <a:ext uri="{FF2B5EF4-FFF2-40B4-BE49-F238E27FC236}">
                <a16:creationId xmlns:a16="http://schemas.microsoft.com/office/drawing/2014/main" id="{E19DF1F1-D7F1-4659-9201-4D49419BBD4F}"/>
              </a:ext>
            </a:extLst>
          </p:cNvPr>
          <p:cNvSpPr>
            <a:spLocks xmlns:a="http://schemas.openxmlformats.org/drawingml/2006/main" noGrp="1"/>
          </p:cNvSpPr>
          <p:nvPr/>
        </p:nvSpPr>
        <p:spPr>
          <a:xfrm xmlns:a="http://schemas.openxmlformats.org/drawingml/2006/main">
            <a:off x="6429375" y="2209800"/>
            <a:ext cx="5191125"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EAF1F5"/>
                </a:solidFill>
                <a:latin typeface="Helvetica Neue"/>
                <a:ea typeface="Helvetica Neue"/>
                <a:cs typeface="Helvetica Neue"/>
              </a:defRPr>
            </a:pPr>
            <a:r>
              <a:rPr sz="2100" b="0">
                <a:solidFill>
                  <a:srgbClr val="EAF1F5"/>
                </a:solidFill>
                <a:latin typeface="Helvetica Neue"/>
                <a:ea typeface="Helvetica Neue"/>
                <a:cs typeface="Helvetica Neue"/>
              </a:rPr>
              <a:t>A working product could bring creators, studios, buyers and recurring service transactions into Base-based workflows.</a:t>
            </a:r>
          </a:p>
        </p:txBody>
      </p:sp>
      <p:sp>
        <p:nvSpPr>
          <p:cNvPr id="7" name="">
            <a:extLst xmlns:a="http://schemas.openxmlformats.org/drawingml/2006/main">
              <a:ext uri="{FF2B5EF4-FFF2-40B4-BE49-F238E27FC236}">
                <a16:creationId xmlns:a16="http://schemas.microsoft.com/office/drawing/2014/main" id="{7D03B6FC-8E23-4F88-BDC2-FC2246631CD0}"/>
              </a:ext>
            </a:extLst>
          </p:cNvPr>
          <p:cNvSpPr>
            <a:spLocks xmlns:a="http://schemas.openxmlformats.org/drawingml/2006/main" noGrp="1"/>
          </p:cNvSpPr>
          <p:nvPr/>
        </p:nvSpPr>
        <p:spPr>
          <a:xfrm xmlns:a="http://schemas.openxmlformats.org/drawingml/2006/main">
            <a:off x="609600" y="4333875"/>
            <a:ext cx="1095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56DBD0"/>
                </a:solidFill>
                <a:latin typeface="Helvetica Neue"/>
                <a:ea typeface="Helvetica Neue"/>
                <a:cs typeface="Helvetica Neue"/>
              </a:defRPr>
            </a:pPr>
            <a:r>
              <a:rPr sz="2625" b="1">
                <a:solidFill>
                  <a:srgbClr val="56DBD0"/>
                </a:solidFill>
                <a:latin typeface="Helvetica Neue"/>
                <a:ea typeface="Helvetica Neue"/>
                <a:cs typeface="Helvetica Neue"/>
              </a:rPr>
              <a:t>What support would accelerate</a:t>
            </a:r>
          </a:p>
        </p:txBody>
      </p:sp>
      <p:sp>
        <p:nvSpPr>
          <p:cNvPr id="8" name="">
            <a:extLst xmlns:a="http://schemas.openxmlformats.org/drawingml/2006/main">
              <a:ext uri="{FF2B5EF4-FFF2-40B4-BE49-F238E27FC236}">
                <a16:creationId xmlns:a16="http://schemas.microsoft.com/office/drawing/2014/main" id="{4A2D97B8-6EBB-4B8B-AC15-F0E89AAD13B0}"/>
              </a:ext>
            </a:extLst>
          </p:cNvPr>
          <p:cNvSpPr>
            <a:spLocks xmlns:a="http://schemas.openxmlformats.org/drawingml/2006/main" noGrp="1"/>
          </p:cNvSpPr>
          <p:nvPr/>
        </p:nvSpPr>
        <p:spPr>
          <a:xfrm xmlns:a="http://schemas.openxmlformats.org/drawingml/2006/main">
            <a:off x="609600" y="5095875"/>
            <a:ext cx="10953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EAF1F5"/>
                </a:solidFill>
                <a:latin typeface="Helvetica Neue"/>
                <a:ea typeface="Helvetica Neue"/>
                <a:cs typeface="Helvetica Neue"/>
              </a:defRPr>
            </a:pPr>
            <a:r>
              <a:rPr sz="2175" b="0">
                <a:solidFill>
                  <a:srgbClr val="EAF1F5"/>
                </a:solidFill>
                <a:latin typeface="Helvetica Neue"/>
                <a:ea typeface="Helvetica Neue"/>
                <a:cs typeface="Helvetica Neue"/>
              </a:rPr>
              <a:t>Pre-seed funding, technical feedback, infrastructure support and introductions to relevant Base ecosystem partners.</a:t>
            </a:r>
          </a:p>
        </p:txBody>
      </p:sp>
    </p:spTree>
    <p:extLst>
      <p:ext uri="{BB962C8B-B14F-4D97-AF65-F5344CB8AC3E}">
        <p14:creationId xmlns:p14="http://schemas.microsoft.com/office/powerpoint/2010/main" val="743034872"/>
      </p:ext>
    </p:extLst>
  </p:cSld>
</p:sld>
</file>

<file path=ppt/slides/slide29.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618564EE-20DE-486F-B0F7-5C83034CE42C}"/>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EAF1F5"/>
                </a:solidFill>
                <a:latin typeface="Helvetica Neue"/>
                <a:ea typeface="Helvetica Neue"/>
                <a:cs typeface="Helvetica Neue"/>
              </a:defRPr>
            </a:pPr>
            <a:r>
              <a:rPr sz="3300" b="1">
                <a:solidFill>
                  <a:srgbClr val="EAF1F5"/>
                </a:solidFill>
                <a:latin typeface="Helvetica Neue"/>
                <a:ea typeface="Helvetica Neue"/>
                <a:cs typeface="Helvetica Neue"/>
              </a:rPr>
              <a:t>Development milestones after funding</a:t>
            </a:r>
          </a:p>
        </p:txBody>
      </p:sp>
      <p:sp>
        <p:nvSpPr>
          <p:cNvPr id="2" name="">
            <a:extLst xmlns:a="http://schemas.openxmlformats.org/drawingml/2006/main">
              <a:ext uri="{FF2B5EF4-FFF2-40B4-BE49-F238E27FC236}">
                <a16:creationId xmlns:a16="http://schemas.microsoft.com/office/drawing/2014/main" id="{1F12932D-BB17-46D7-A028-C2C6457B8E10}"/>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A9BDC9"/>
                </a:solidFill>
                <a:latin typeface="Helvetica Neue"/>
                <a:ea typeface="Helvetica Neue"/>
                <a:cs typeface="Helvetica Neue"/>
              </a:defRPr>
            </a:pPr>
            <a:r>
              <a:rPr sz="1200" b="0">
                <a:solidFill>
                  <a:srgbClr val="A9BDC9"/>
                </a:solidFill>
                <a:latin typeface="Helvetica Neue"/>
                <a:ea typeface="Helvetica Neue"/>
                <a:cs typeface="Helvetica Neue"/>
              </a:rPr>
              <a:t>29</a:t>
            </a:r>
          </a:p>
        </p:txBody>
      </p:sp>
      <p:graphicFrame>
        <p:nvGraphicFramePr>
          <p:cNvPr id="7" name=""/>
          <p:cNvGraphicFramePr/>
          <p:nvPr/>
        </p:nvGraphicFramePr>
        <p:xfrm>
          <a:off xmlns:a="http://schemas.openxmlformats.org/drawingml/2006/main" x="609600" y="1666875"/>
          <a:ext xmlns:a="http://schemas.openxmlformats.org/drawingml/2006/main" cx="10972800" cy="3619500"/>
        </p:xfrm>
        <a:graphic xmlns:a="http://schemas.openxmlformats.org/drawingml/2006/main">
          <a:graphicData uri="http://schemas.openxmlformats.org/drawingml/2006/table">
            <a:tbl>
              <a:tblPr/>
              <a:tblGrid>
                <a:gridCol w="1809750"/>
                <a:gridCol w="3429000"/>
                <a:gridCol w="5734050"/>
              </a:tblGrid>
              <a:tr h="723900">
                <a:tc>
                  <a:txBody>
                    <a:bodyPr lIns="114300" tIns="95250" rIns="114300" bIns="76200">
                      <a:noAutofit/>
                    </a:bodyPr>
                    <a:lstStyle/>
                    <a:p>
                      <a:r>
                        <a:rPr sz="1800" b="1">
                          <a:solidFill>
                            <a:srgbClr val="FFFFFF"/>
                          </a:solidFill>
                          <a:latin typeface="Helvetica Neue"/>
                          <a:ea typeface="Helvetica Neue"/>
                          <a:cs typeface="Helvetica Neue"/>
                        </a:rPr>
                        <a:t>Period</a:t>
                      </a:r>
                    </a:p>
                  </a:txBody>
                  <a:tcPr marL="91440" marR="91440" marT="45720" marB="45720" anchor="ctr">
                    <a:solidFill>
                      <a:srgbClr val="12384C"/>
                    </a:solidFill>
                  </a:tcPr>
                </a:tc>
                <a:tc>
                  <a:txBody>
                    <a:bodyPr lIns="114300" tIns="95250" rIns="114300" bIns="76200">
                      <a:noAutofit/>
                    </a:bodyPr>
                    <a:lstStyle/>
                    <a:p>
                      <a:r>
                        <a:rPr sz="1800" b="1">
                          <a:solidFill>
                            <a:srgbClr val="FFFFFF"/>
                          </a:solidFill>
                          <a:latin typeface="Helvetica Neue"/>
                          <a:ea typeface="Helvetica Neue"/>
                          <a:cs typeface="Helvetica Neue"/>
                        </a:rPr>
                        <a:t>Primary outcome</a:t>
                      </a:r>
                    </a:p>
                  </a:txBody>
                  <a:tcPr marL="91440" marR="91440" marT="45720" marB="45720" anchor="ctr">
                    <a:solidFill>
                      <a:srgbClr val="12384C"/>
                    </a:solidFill>
                  </a:tcPr>
                </a:tc>
                <a:tc>
                  <a:txBody>
                    <a:bodyPr lIns="114300" tIns="95250" rIns="114300" bIns="76200">
                      <a:noAutofit/>
                    </a:bodyPr>
                    <a:lstStyle/>
                    <a:p>
                      <a:r>
                        <a:rPr sz="1800" b="1">
                          <a:solidFill>
                            <a:srgbClr val="FFFFFF"/>
                          </a:solidFill>
                          <a:latin typeface="Helvetica Neue"/>
                          <a:ea typeface="Helvetica Neue"/>
                          <a:cs typeface="Helvetica Neue"/>
                        </a:rPr>
                        <a:t>Evidence required</a:t>
                      </a:r>
                    </a:p>
                  </a:txBody>
                  <a:tcPr marL="91440" marR="91440" marT="45720" marB="45720" anchor="ctr">
                    <a:solidFill>
                      <a:srgbClr val="12384C"/>
                    </a:solidFill>
                  </a:tcPr>
                </a:tc>
              </a:tr>
              <a:tr h="723900">
                <a:tc>
                  <a:txBody>
                    <a:bodyPr lIns="114300" tIns="95250" rIns="114300" bIns="76200">
                      <a:noAutofit/>
                    </a:bodyPr>
                    <a:lstStyle/>
                    <a:p>
                      <a:r>
                        <a:rPr sz="1800" b="0">
                          <a:solidFill>
                            <a:srgbClr val="EAF1F5"/>
                          </a:solidFill>
                          <a:latin typeface="Helvetica Neue"/>
                          <a:ea typeface="Helvetica Neue"/>
                          <a:cs typeface="Helvetica Neue"/>
                        </a:rPr>
                        <a:t>Months 1–4</a:t>
                      </a:r>
                    </a:p>
                  </a:txBody>
                  <a:tcPr marL="91440" marR="91440" marT="45720" marB="45720" anchor="ctr">
                    <a:solidFill>
                      <a:srgbClr val="0E2230"/>
                    </a:solidFill>
                  </a:tcPr>
                </a:tc>
                <a:tc>
                  <a:txBody>
                    <a:bodyPr lIns="114300" tIns="95250" rIns="114300" bIns="76200">
                      <a:noAutofit/>
                    </a:bodyPr>
                    <a:lstStyle/>
                    <a:p>
                      <a:r>
                        <a:rPr sz="1800" b="0">
                          <a:solidFill>
                            <a:srgbClr val="EAF1F5"/>
                          </a:solidFill>
                          <a:latin typeface="Helvetica Neue"/>
                          <a:ea typeface="Helvetica Neue"/>
                          <a:cs typeface="Helvetica Neue"/>
                        </a:rPr>
                        <a:t>Integrated internal prototype</a:t>
                      </a:r>
                    </a:p>
                  </a:txBody>
                  <a:tcPr marL="91440" marR="91440" marT="45720" marB="45720" anchor="ctr">
                    <a:solidFill>
                      <a:srgbClr val="0E2230"/>
                    </a:solidFill>
                  </a:tcPr>
                </a:tc>
                <a:tc>
                  <a:txBody>
                    <a:bodyPr lIns="114300" tIns="95250" rIns="114300" bIns="76200">
                      <a:noAutofit/>
                    </a:bodyPr>
                    <a:lstStyle/>
                    <a:p>
                      <a:r>
                        <a:rPr sz="1800" b="0">
                          <a:solidFill>
                            <a:srgbClr val="EAF1F5"/>
                          </a:solidFill>
                          <a:latin typeface="Helvetica Neue"/>
                          <a:ea typeface="Helvetica Neue"/>
                          <a:cs typeface="Helvetica Neue"/>
                        </a:rPr>
                        <a:t>Repeatable production, recovery, quality and cost measurements</a:t>
                      </a:r>
                    </a:p>
                  </a:txBody>
                  <a:tcPr marL="91440" marR="91440" marT="45720" marB="45720" anchor="ctr">
                    <a:solidFill>
                      <a:srgbClr val="0E2230"/>
                    </a:solidFill>
                  </a:tcPr>
                </a:tc>
              </a:tr>
              <a:tr h="723900">
                <a:tc>
                  <a:txBody>
                    <a:bodyPr lIns="114300" tIns="95250" rIns="114300" bIns="76200">
                      <a:noAutofit/>
                    </a:bodyPr>
                    <a:lstStyle/>
                    <a:p>
                      <a:r>
                        <a:rPr sz="1800" b="0">
                          <a:solidFill>
                            <a:srgbClr val="EAF1F5"/>
                          </a:solidFill>
                          <a:latin typeface="Helvetica Neue"/>
                          <a:ea typeface="Helvetica Neue"/>
                          <a:cs typeface="Helvetica Neue"/>
                        </a:rPr>
                        <a:t>Months 4–6</a:t>
                      </a:r>
                    </a:p>
                  </a:txBody>
                  <a:tcPr marL="91440" marR="91440" marT="45720" marB="45720" anchor="ctr">
                    <a:solidFill>
                      <a:srgbClr val="102938"/>
                    </a:solidFill>
                  </a:tcPr>
                </a:tc>
                <a:tc>
                  <a:txBody>
                    <a:bodyPr lIns="114300" tIns="95250" rIns="114300" bIns="76200">
                      <a:noAutofit/>
                    </a:bodyPr>
                    <a:lstStyle/>
                    <a:p>
                      <a:r>
                        <a:rPr sz="1800" b="0">
                          <a:solidFill>
                            <a:srgbClr val="EAF1F5"/>
                          </a:solidFill>
                          <a:latin typeface="Helvetica Neue"/>
                          <a:ea typeface="Helvetica Neue"/>
                          <a:cs typeface="Helvetica Neue"/>
                        </a:rPr>
                        <a:t>Limited external MVP</a:t>
                      </a:r>
                    </a:p>
                  </a:txBody>
                  <a:tcPr marL="91440" marR="91440" marT="45720" marB="45720" anchor="ctr">
                    <a:solidFill>
                      <a:srgbClr val="102938"/>
                    </a:solidFill>
                  </a:tcPr>
                </a:tc>
                <a:tc>
                  <a:txBody>
                    <a:bodyPr lIns="114300" tIns="95250" rIns="114300" bIns="76200">
                      <a:noAutofit/>
                    </a:bodyPr>
                    <a:lstStyle/>
                    <a:p>
                      <a:r>
                        <a:rPr sz="1800" b="0">
                          <a:solidFill>
                            <a:srgbClr val="EAF1F5"/>
                          </a:solidFill>
                          <a:latin typeface="Helvetica Neue"/>
                          <a:ea typeface="Helvetica Neue"/>
                          <a:cs typeface="Helvetica Neue"/>
                        </a:rPr>
                        <a:t>Customer connections, account isolation, job tracking and delivery</a:t>
                      </a:r>
                    </a:p>
                  </a:txBody>
                  <a:tcPr marL="91440" marR="91440" marT="45720" marB="45720" anchor="ctr">
                    <a:solidFill>
                      <a:srgbClr val="102938"/>
                    </a:solidFill>
                  </a:tcPr>
                </a:tc>
              </a:tr>
              <a:tr h="723900">
                <a:tc>
                  <a:txBody>
                    <a:bodyPr lIns="114300" tIns="95250" rIns="114300" bIns="76200">
                      <a:noAutofit/>
                    </a:bodyPr>
                    <a:lstStyle/>
                    <a:p>
                      <a:r>
                        <a:rPr sz="1800" b="0">
                          <a:solidFill>
                            <a:srgbClr val="EAF1F5"/>
                          </a:solidFill>
                          <a:latin typeface="Helvetica Neue"/>
                          <a:ea typeface="Helvetica Neue"/>
                          <a:cs typeface="Helvetica Neue"/>
                        </a:rPr>
                        <a:t>Months 6–9</a:t>
                      </a:r>
                    </a:p>
                  </a:txBody>
                  <a:tcPr marL="91440" marR="91440" marT="45720" marB="45720" anchor="ctr">
                    <a:solidFill>
                      <a:srgbClr val="0E2230"/>
                    </a:solidFill>
                  </a:tcPr>
                </a:tc>
                <a:tc>
                  <a:txBody>
                    <a:bodyPr lIns="114300" tIns="95250" rIns="114300" bIns="76200">
                      <a:noAutofit/>
                    </a:bodyPr>
                    <a:lstStyle/>
                    <a:p>
                      <a:r>
                        <a:rPr sz="1800" b="0">
                          <a:solidFill>
                            <a:srgbClr val="EAF1F5"/>
                          </a:solidFill>
                          <a:latin typeface="Helvetica Neue"/>
                          <a:ea typeface="Helvetica Neue"/>
                          <a:cs typeface="Helvetica Neue"/>
                        </a:rPr>
                        <a:t>Limited public cloud beta</a:t>
                      </a:r>
                    </a:p>
                  </a:txBody>
                  <a:tcPr marL="91440" marR="91440" marT="45720" marB="45720" anchor="ctr">
                    <a:solidFill>
                      <a:srgbClr val="0E2230"/>
                    </a:solidFill>
                  </a:tcPr>
                </a:tc>
                <a:tc>
                  <a:txBody>
                    <a:bodyPr lIns="114300" tIns="95250" rIns="114300" bIns="76200">
                      <a:noAutofit/>
                    </a:bodyPr>
                    <a:lstStyle/>
                    <a:p>
                      <a:r>
                        <a:rPr sz="1800" b="0">
                          <a:solidFill>
                            <a:srgbClr val="EAF1F5"/>
                          </a:solidFill>
                          <a:latin typeface="Helvetica Neue"/>
                          <a:ea typeface="Helvetica Neue"/>
                          <a:cs typeface="Helvetica Neue"/>
                        </a:rPr>
                        <a:t>Load tests, usage controls, monitoring and first acquisition tests</a:t>
                      </a:r>
                    </a:p>
                  </a:txBody>
                  <a:tcPr marL="91440" marR="91440" marT="45720" marB="45720" anchor="ctr">
                    <a:solidFill>
                      <a:srgbClr val="0E2230"/>
                    </a:solidFill>
                  </a:tcPr>
                </a:tc>
              </a:tr>
              <a:tr h="723900">
                <a:tc>
                  <a:txBody>
                    <a:bodyPr lIns="114300" tIns="95250" rIns="114300" bIns="76200">
                      <a:noAutofit/>
                    </a:bodyPr>
                    <a:lstStyle/>
                    <a:p>
                      <a:r>
                        <a:rPr sz="1800" b="0">
                          <a:solidFill>
                            <a:srgbClr val="EAF1F5"/>
                          </a:solidFill>
                          <a:latin typeface="Helvetica Neue"/>
                          <a:ea typeface="Helvetica Neue"/>
                          <a:cs typeface="Helvetica Neue"/>
                        </a:rPr>
                        <a:t>Months 9–12</a:t>
                      </a:r>
                    </a:p>
                  </a:txBody>
                  <a:tcPr marL="91440" marR="91440" marT="45720" marB="45720" anchor="ctr">
                    <a:solidFill>
                      <a:srgbClr val="102938"/>
                    </a:solidFill>
                  </a:tcPr>
                </a:tc>
                <a:tc>
                  <a:txBody>
                    <a:bodyPr lIns="114300" tIns="95250" rIns="114300" bIns="76200">
                      <a:noAutofit/>
                    </a:bodyPr>
                    <a:lstStyle/>
                    <a:p>
                      <a:r>
                        <a:rPr sz="1800" b="0">
                          <a:solidFill>
                            <a:srgbClr val="EAF1F5"/>
                          </a:solidFill>
                          <a:latin typeface="Helvetica Neue"/>
                          <a:ea typeface="Helvetica Neue"/>
                          <a:cs typeface="Helvetica Neue"/>
                        </a:rPr>
                        <a:t>Reliability and initial expansion</a:t>
                      </a:r>
                    </a:p>
                  </a:txBody>
                  <a:tcPr marL="91440" marR="91440" marT="45720" marB="45720" anchor="ctr">
                    <a:solidFill>
                      <a:srgbClr val="102938"/>
                    </a:solidFill>
                  </a:tcPr>
                </a:tc>
                <a:tc>
                  <a:txBody>
                    <a:bodyPr lIns="114300" tIns="95250" rIns="114300" bIns="76200">
                      <a:noAutofit/>
                    </a:bodyPr>
                    <a:lstStyle/>
                    <a:p>
                      <a:r>
                        <a:rPr sz="1800" b="0">
                          <a:solidFill>
                            <a:srgbClr val="EAF1F5"/>
                          </a:solidFill>
                          <a:latin typeface="Helvetica Neue"/>
                          <a:ea typeface="Helvetica Neue"/>
                          <a:cs typeface="Helvetica Neue"/>
                        </a:rPr>
                        <a:t>Lower unit costs, user feedback and broader publishing coverage</a:t>
                      </a:r>
                    </a:p>
                  </a:txBody>
                  <a:tcPr marL="91440" marR="91440" marT="45720" marB="45720" anchor="ctr">
                    <a:solidFill>
                      <a:srgbClr val="102938"/>
                    </a:solidFill>
                  </a:tcPr>
                </a:tc>
              </a:tr>
            </a:tbl>
          </a:graphicData>
        </a:graphic>
      </p:graphicFrame>
      <p:sp>
        <p:nvSpPr>
          <p:cNvPr id="4" name="">
            <a:extLst xmlns:a="http://schemas.openxmlformats.org/drawingml/2006/main">
              <a:ext uri="{FF2B5EF4-FFF2-40B4-BE49-F238E27FC236}">
                <a16:creationId xmlns:a16="http://schemas.microsoft.com/office/drawing/2014/main" id="{F9FFBF85-E037-4D9C-B3FE-A19EDCDDE9DE}"/>
              </a:ext>
            </a:extLst>
          </p:cNvPr>
          <p:cNvSpPr>
            <a:spLocks xmlns:a="http://schemas.openxmlformats.org/drawingml/2006/main" noGrp="1"/>
          </p:cNvSpPr>
          <p:nvPr/>
        </p:nvSpPr>
        <p:spPr>
          <a:xfrm xmlns:a="http://schemas.openxmlformats.org/drawingml/2006/main">
            <a:off x="609600" y="55816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56DBD0"/>
                </a:solidFill>
                <a:latin typeface="Helvetica Neue"/>
                <a:ea typeface="Helvetica Neue"/>
                <a:cs typeface="Helvetica Neue"/>
              </a:defRPr>
            </a:pPr>
            <a:r>
              <a:rPr sz="1875" b="1">
                <a:solidFill>
                  <a:srgbClr val="56DBD0"/>
                </a:solidFill>
                <a:latin typeface="Helvetica Neue"/>
                <a:ea typeface="Helvetica Neue"/>
                <a:cs typeface="Helvetica Neue"/>
              </a:rPr>
              <a:t>Targets depend on validation. Broader social-platform coverage and business workflows follow the core release.</a:t>
            </a:r>
          </a:p>
        </p:txBody>
      </p:sp>
    </p:spTree>
    <p:extLst>
      <p:ext uri="{BB962C8B-B14F-4D97-AF65-F5344CB8AC3E}">
        <p14:creationId xmlns:p14="http://schemas.microsoft.com/office/powerpoint/2010/main" val="1725357092"/>
      </p:ext>
    </p:extLst>
  </p:cSld>
</p:sld>
</file>

<file path=ppt/slides/slide30.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BDBE565-DA3A-4010-A2D6-7DDCDC79DC3B}"/>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EAF1F5"/>
                </a:solidFill>
                <a:latin typeface="Helvetica Neue"/>
                <a:ea typeface="Helvetica Neue"/>
                <a:cs typeface="Helvetica Neue"/>
              </a:defRPr>
            </a:pPr>
            <a:r>
              <a:rPr sz="3300" b="1">
                <a:solidFill>
                  <a:srgbClr val="EAF1F5"/>
                </a:solidFill>
                <a:latin typeface="Helvetica Neue"/>
                <a:ea typeface="Helvetica Neue"/>
                <a:cs typeface="Helvetica Neue"/>
              </a:rPr>
              <a:t>US$90,000 for the first 12 months</a:t>
            </a:r>
          </a:p>
        </p:txBody>
      </p:sp>
      <p:sp>
        <p:nvSpPr>
          <p:cNvPr id="2" name="">
            <a:extLst xmlns:a="http://schemas.openxmlformats.org/drawingml/2006/main">
              <a:ext uri="{FF2B5EF4-FFF2-40B4-BE49-F238E27FC236}">
                <a16:creationId xmlns:a16="http://schemas.microsoft.com/office/drawing/2014/main" id="{99DE4284-E22F-4B26-8C16-AEAB50D07F84}"/>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A9BDC9"/>
                </a:solidFill>
                <a:latin typeface="Helvetica Neue"/>
                <a:ea typeface="Helvetica Neue"/>
                <a:cs typeface="Helvetica Neue"/>
              </a:defRPr>
            </a:pPr>
            <a:r>
              <a:rPr sz="1200" b="0">
                <a:solidFill>
                  <a:srgbClr val="A9BDC9"/>
                </a:solidFill>
                <a:latin typeface="Helvetica Neue"/>
                <a:ea typeface="Helvetica Neue"/>
                <a:cs typeface="Helvetica Neue"/>
              </a:rPr>
              <a:t>30</a:t>
            </a:r>
          </a:p>
        </p:txBody>
      </p:sp>
      <p:graphicFrame>
        <p:nvGraphicFramePr>
          <p:cNvPr id="9" name=""/>
          <p:cNvGraphicFramePr/>
          <p:nvPr/>
        </p:nvGraphicFramePr>
        <p:xfrm>
          <a:off xmlns:a="http://schemas.openxmlformats.org/drawingml/2006/main" x="609600" y="1514475"/>
          <a:ext xmlns:a="http://schemas.openxmlformats.org/drawingml/2006/main" cx="8334375" cy="4524375"/>
        </p:xfrm>
        <a:graphic xmlns:a="http://schemas.openxmlformats.org/drawingml/2006/main">
          <a:graphicData uri="http://schemas.openxmlformats.org/drawingml/2006/table">
            <a:tbl>
              <a:tblPr/>
              <a:tblGrid>
                <a:gridCol w="6572250"/>
                <a:gridCol w="1762125"/>
              </a:tblGrid>
              <a:tr h="411307">
                <a:tc>
                  <a:txBody>
                    <a:bodyPr lIns="114300" tIns="95250" rIns="114300" bIns="76200">
                      <a:noAutofit/>
                    </a:bodyPr>
                    <a:lstStyle/>
                    <a:p>
                      <a:r>
                        <a:rPr sz="1650" b="1">
                          <a:solidFill>
                            <a:srgbClr val="FFFFFF"/>
                          </a:solidFill>
                          <a:latin typeface="Helvetica Neue"/>
                          <a:ea typeface="Helvetica Neue"/>
                          <a:cs typeface="Helvetica Neue"/>
                        </a:rPr>
                        <a:t>Use of funds</a:t>
                      </a:r>
                    </a:p>
                  </a:txBody>
                  <a:tcPr marL="91440" marR="91440" marT="45720" marB="45720" anchor="ctr">
                    <a:solidFill>
                      <a:srgbClr val="12384C"/>
                    </a:solidFill>
                  </a:tcPr>
                </a:tc>
                <a:tc>
                  <a:txBody>
                    <a:bodyPr lIns="114300" tIns="95250" rIns="114300" bIns="76200">
                      <a:noAutofit/>
                    </a:bodyPr>
                    <a:lstStyle/>
                    <a:p>
                      <a:r>
                        <a:rPr sz="1650" b="1">
                          <a:solidFill>
                            <a:srgbClr val="FFFFFF"/>
                          </a:solidFill>
                          <a:latin typeface="Helvetica Neue"/>
                          <a:ea typeface="Helvetica Neue"/>
                          <a:cs typeface="Helvetica Neue"/>
                        </a:rPr>
                        <a:t>USD</a:t>
                      </a:r>
                    </a:p>
                  </a:txBody>
                  <a:tcPr marL="91440" marR="91440" marT="45720" marB="45720" anchor="ctr">
                    <a:solidFill>
                      <a:srgbClr val="12384C"/>
                    </a:solidFill>
                  </a:tcPr>
                </a:tc>
              </a:tr>
              <a:tr h="411307">
                <a:tc>
                  <a:txBody>
                    <a:bodyPr lIns="114300" tIns="95250" rIns="114300" bIns="76200">
                      <a:noAutofit/>
                    </a:bodyPr>
                    <a:lstStyle/>
                    <a:p>
                      <a:r>
                        <a:rPr sz="1650" b="0">
                          <a:solidFill>
                            <a:srgbClr val="EAF1F5"/>
                          </a:solidFill>
                          <a:latin typeface="Helvetica Neue"/>
                          <a:ea typeface="Helvetica Neue"/>
                          <a:cs typeface="Helvetica Neue"/>
                        </a:rPr>
                        <a:t>AI coding tools and development capacity</a:t>
                      </a:r>
                    </a:p>
                  </a:txBody>
                  <a:tcPr marL="91440" marR="91440" marT="45720" marB="45720" anchor="ctr">
                    <a:solidFill>
                      <a:srgbClr val="0E2230"/>
                    </a:solidFill>
                  </a:tcPr>
                </a:tc>
                <a:tc>
                  <a:txBody>
                    <a:bodyPr lIns="114300" tIns="95250" rIns="114300" bIns="76200">
                      <a:noAutofit/>
                    </a:bodyPr>
                    <a:lstStyle/>
                    <a:p>
                      <a:r>
                        <a:rPr sz="1650" b="0">
                          <a:solidFill>
                            <a:srgbClr val="EAF1F5"/>
                          </a:solidFill>
                          <a:latin typeface="Helvetica Neue"/>
                          <a:ea typeface="Helvetica Neue"/>
                          <a:cs typeface="Helvetica Neue"/>
                        </a:rPr>
                        <a:t>$24,000</a:t>
                      </a:r>
                    </a:p>
                  </a:txBody>
                  <a:tcPr marL="91440" marR="91440" marT="45720" marB="45720" anchor="ctr">
                    <a:solidFill>
                      <a:srgbClr val="0E2230"/>
                    </a:solidFill>
                  </a:tcPr>
                </a:tc>
              </a:tr>
              <a:tr h="411307">
                <a:tc>
                  <a:txBody>
                    <a:bodyPr lIns="114300" tIns="95250" rIns="114300" bIns="76200">
                      <a:noAutofit/>
                    </a:bodyPr>
                    <a:lstStyle/>
                    <a:p>
                      <a:r>
                        <a:rPr sz="1650" b="0">
                          <a:solidFill>
                            <a:srgbClr val="EAF1F5"/>
                          </a:solidFill>
                          <a:latin typeface="Helvetica Neue"/>
                          <a:ea typeface="Helvetica Neue"/>
                          <a:cs typeface="Helvetica Neue"/>
                        </a:rPr>
                        <a:t>Internal video generation and owned channels</a:t>
                      </a:r>
                    </a:p>
                  </a:txBody>
                  <a:tcPr marL="91440" marR="91440" marT="45720" marB="45720" anchor="ctr">
                    <a:solidFill>
                      <a:srgbClr val="102938"/>
                    </a:solidFill>
                  </a:tcPr>
                </a:tc>
                <a:tc>
                  <a:txBody>
                    <a:bodyPr lIns="114300" tIns="95250" rIns="114300" bIns="76200">
                      <a:noAutofit/>
                    </a:bodyPr>
                    <a:lstStyle/>
                    <a:p>
                      <a:r>
                        <a:rPr sz="1650" b="0">
                          <a:solidFill>
                            <a:srgbClr val="EAF1F5"/>
                          </a:solidFill>
                          <a:latin typeface="Helvetica Neue"/>
                          <a:ea typeface="Helvetica Neue"/>
                          <a:cs typeface="Helvetica Neue"/>
                        </a:rPr>
                        <a:t>$12,000</a:t>
                      </a:r>
                    </a:p>
                  </a:txBody>
                  <a:tcPr marL="91440" marR="91440" marT="45720" marB="45720" anchor="ctr">
                    <a:solidFill>
                      <a:srgbClr val="102938"/>
                    </a:solidFill>
                  </a:tcPr>
                </a:tc>
              </a:tr>
              <a:tr h="411307">
                <a:tc>
                  <a:txBody>
                    <a:bodyPr lIns="114300" tIns="95250" rIns="114300" bIns="76200">
                      <a:noAutofit/>
                    </a:bodyPr>
                    <a:lstStyle/>
                    <a:p>
                      <a:r>
                        <a:rPr sz="1650" b="0">
                          <a:solidFill>
                            <a:srgbClr val="EAF1F5"/>
                          </a:solidFill>
                          <a:latin typeface="Helvetica Neue"/>
                          <a:ea typeface="Helvetica Neue"/>
                          <a:cs typeface="Helvetica Neue"/>
                        </a:rPr>
                        <a:t>Image-generation tools and test assets</a:t>
                      </a:r>
                    </a:p>
                  </a:txBody>
                  <a:tcPr marL="91440" marR="91440" marT="45720" marB="45720" anchor="ctr">
                    <a:solidFill>
                      <a:srgbClr val="0E2230"/>
                    </a:solidFill>
                  </a:tcPr>
                </a:tc>
                <a:tc>
                  <a:txBody>
                    <a:bodyPr lIns="114300" tIns="95250" rIns="114300" bIns="76200">
                      <a:noAutofit/>
                    </a:bodyPr>
                    <a:lstStyle/>
                    <a:p>
                      <a:r>
                        <a:rPr sz="1650" b="0">
                          <a:solidFill>
                            <a:srgbClr val="EAF1F5"/>
                          </a:solidFill>
                          <a:latin typeface="Helvetica Neue"/>
                          <a:ea typeface="Helvetica Neue"/>
                          <a:cs typeface="Helvetica Neue"/>
                        </a:rPr>
                        <a:t>$1,200</a:t>
                      </a:r>
                    </a:p>
                  </a:txBody>
                  <a:tcPr marL="91440" marR="91440" marT="45720" marB="45720" anchor="ctr">
                    <a:solidFill>
                      <a:srgbClr val="0E2230"/>
                    </a:solidFill>
                  </a:tcPr>
                </a:tc>
              </a:tr>
              <a:tr h="411307">
                <a:tc>
                  <a:txBody>
                    <a:bodyPr lIns="114300" tIns="95250" rIns="114300" bIns="76200">
                      <a:noAutofit/>
                    </a:bodyPr>
                    <a:lstStyle/>
                    <a:p>
                      <a:r>
                        <a:rPr sz="1650" b="0">
                          <a:solidFill>
                            <a:srgbClr val="EAF1F5"/>
                          </a:solidFill>
                          <a:latin typeface="Helvetica Neue"/>
                          <a:ea typeface="Helvetica Neue"/>
                          <a:cs typeface="Helvetica Neue"/>
                        </a:rPr>
                        <a:t>Hosting, databases, storage and transfer</a:t>
                      </a:r>
                    </a:p>
                  </a:txBody>
                  <a:tcPr marL="91440" marR="91440" marT="45720" marB="45720" anchor="ctr">
                    <a:solidFill>
                      <a:srgbClr val="102938"/>
                    </a:solidFill>
                  </a:tcPr>
                </a:tc>
                <a:tc>
                  <a:txBody>
                    <a:bodyPr lIns="114300" tIns="95250" rIns="114300" bIns="76200">
                      <a:noAutofit/>
                    </a:bodyPr>
                    <a:lstStyle/>
                    <a:p>
                      <a:r>
                        <a:rPr sz="1650" b="0">
                          <a:solidFill>
                            <a:srgbClr val="EAF1F5"/>
                          </a:solidFill>
                          <a:latin typeface="Helvetica Neue"/>
                          <a:ea typeface="Helvetica Neue"/>
                          <a:cs typeface="Helvetica Neue"/>
                        </a:rPr>
                        <a:t>$12,000</a:t>
                      </a:r>
                    </a:p>
                  </a:txBody>
                  <a:tcPr marL="91440" marR="91440" marT="45720" marB="45720" anchor="ctr">
                    <a:solidFill>
                      <a:srgbClr val="102938"/>
                    </a:solidFill>
                  </a:tcPr>
                </a:tc>
              </a:tr>
              <a:tr h="411307">
                <a:tc>
                  <a:txBody>
                    <a:bodyPr lIns="114300" tIns="95250" rIns="114300" bIns="76200">
                      <a:noAutofit/>
                    </a:bodyPr>
                    <a:lstStyle/>
                    <a:p>
                      <a:r>
                        <a:rPr sz="1650" b="0">
                          <a:solidFill>
                            <a:srgbClr val="EAF1F5"/>
                          </a:solidFill>
                          <a:latin typeface="Helvetica Neue"/>
                          <a:ea typeface="Helvetica Neue"/>
                          <a:cs typeface="Helvetica Neue"/>
                        </a:rPr>
                        <a:t>Cloud CPU/GPU, rendering and runtime models</a:t>
                      </a:r>
                    </a:p>
                  </a:txBody>
                  <a:tcPr marL="91440" marR="91440" marT="45720" marB="45720" anchor="ctr">
                    <a:solidFill>
                      <a:srgbClr val="0E2230"/>
                    </a:solidFill>
                  </a:tcPr>
                </a:tc>
                <a:tc>
                  <a:txBody>
                    <a:bodyPr lIns="114300" tIns="95250" rIns="114300" bIns="76200">
                      <a:noAutofit/>
                    </a:bodyPr>
                    <a:lstStyle/>
                    <a:p>
                      <a:r>
                        <a:rPr sz="1650" b="0">
                          <a:solidFill>
                            <a:srgbClr val="EAF1F5"/>
                          </a:solidFill>
                          <a:latin typeface="Helvetica Neue"/>
                          <a:ea typeface="Helvetica Neue"/>
                          <a:cs typeface="Helvetica Neue"/>
                        </a:rPr>
                        <a:t>$18,000</a:t>
                      </a:r>
                    </a:p>
                  </a:txBody>
                  <a:tcPr marL="91440" marR="91440" marT="45720" marB="45720" anchor="ctr">
                    <a:solidFill>
                      <a:srgbClr val="0E2230"/>
                    </a:solidFill>
                  </a:tcPr>
                </a:tc>
              </a:tr>
              <a:tr h="411307">
                <a:tc>
                  <a:txBody>
                    <a:bodyPr lIns="114300" tIns="95250" rIns="114300" bIns="76200">
                      <a:noAutofit/>
                    </a:bodyPr>
                    <a:lstStyle/>
                    <a:p>
                      <a:r>
                        <a:rPr sz="1650" b="0">
                          <a:solidFill>
                            <a:srgbClr val="EAF1F5"/>
                          </a:solidFill>
                          <a:latin typeface="Helvetica Neue"/>
                          <a:ea typeface="Helvetica Neue"/>
                          <a:cs typeface="Helvetica Neue"/>
                        </a:rPr>
                        <a:t>Deployment, monitoring and targeted review</a:t>
                      </a:r>
                    </a:p>
                  </a:txBody>
                  <a:tcPr marL="91440" marR="91440" marT="45720" marB="45720" anchor="ctr">
                    <a:solidFill>
                      <a:srgbClr val="102938"/>
                    </a:solidFill>
                  </a:tcPr>
                </a:tc>
                <a:tc>
                  <a:txBody>
                    <a:bodyPr lIns="114300" tIns="95250" rIns="114300" bIns="76200">
                      <a:noAutofit/>
                    </a:bodyPr>
                    <a:lstStyle/>
                    <a:p>
                      <a:r>
                        <a:rPr sz="1650" b="0">
                          <a:solidFill>
                            <a:srgbClr val="EAF1F5"/>
                          </a:solidFill>
                          <a:latin typeface="Helvetica Neue"/>
                          <a:ea typeface="Helvetica Neue"/>
                          <a:cs typeface="Helvetica Neue"/>
                        </a:rPr>
                        <a:t>$3,600</a:t>
                      </a:r>
                    </a:p>
                  </a:txBody>
                  <a:tcPr marL="91440" marR="91440" marT="45720" marB="45720" anchor="ctr">
                    <a:solidFill>
                      <a:srgbClr val="102938"/>
                    </a:solidFill>
                  </a:tcPr>
                </a:tc>
              </a:tr>
              <a:tr h="411307">
                <a:tc>
                  <a:txBody>
                    <a:bodyPr lIns="114300" tIns="95250" rIns="114300" bIns="76200">
                      <a:noAutofit/>
                    </a:bodyPr>
                    <a:lstStyle/>
                    <a:p>
                      <a:r>
                        <a:rPr sz="1650" b="0">
                          <a:solidFill>
                            <a:srgbClr val="EAF1F5"/>
                          </a:solidFill>
                          <a:latin typeface="Helvetica Neue"/>
                          <a:ea typeface="Helvetica Neue"/>
                          <a:cs typeface="Helvetica Neue"/>
                        </a:rPr>
                        <a:t>Initial marketing and acquisition tests</a:t>
                      </a:r>
                    </a:p>
                  </a:txBody>
                  <a:tcPr marL="91440" marR="91440" marT="45720" marB="45720" anchor="ctr">
                    <a:solidFill>
                      <a:srgbClr val="0E2230"/>
                    </a:solidFill>
                  </a:tcPr>
                </a:tc>
                <a:tc>
                  <a:txBody>
                    <a:bodyPr lIns="114300" tIns="95250" rIns="114300" bIns="76200">
                      <a:noAutofit/>
                    </a:bodyPr>
                    <a:lstStyle/>
                    <a:p>
                      <a:r>
                        <a:rPr sz="1650" b="0">
                          <a:solidFill>
                            <a:srgbClr val="EAF1F5"/>
                          </a:solidFill>
                          <a:latin typeface="Helvetica Neue"/>
                          <a:ea typeface="Helvetica Neue"/>
                          <a:cs typeface="Helvetica Neue"/>
                        </a:rPr>
                        <a:t>$10,000</a:t>
                      </a:r>
                    </a:p>
                  </a:txBody>
                  <a:tcPr marL="91440" marR="91440" marT="45720" marB="45720" anchor="ctr">
                    <a:solidFill>
                      <a:srgbClr val="0E2230"/>
                    </a:solidFill>
                  </a:tcPr>
                </a:tc>
              </a:tr>
              <a:tr h="411307">
                <a:tc>
                  <a:txBody>
                    <a:bodyPr lIns="114300" tIns="95250" rIns="114300" bIns="76200">
                      <a:noAutofit/>
                    </a:bodyPr>
                    <a:lstStyle/>
                    <a:p>
                      <a:r>
                        <a:rPr sz="1650" b="0">
                          <a:solidFill>
                            <a:srgbClr val="EAF1F5"/>
                          </a:solidFill>
                          <a:latin typeface="Helvetica Neue"/>
                          <a:ea typeface="Helvetica Neue"/>
                          <a:cs typeface="Helvetica Neue"/>
                        </a:rPr>
                        <a:t>Existing workstation upgrades</a:t>
                      </a:r>
                    </a:p>
                  </a:txBody>
                  <a:tcPr marL="91440" marR="91440" marT="45720" marB="45720" anchor="ctr">
                    <a:solidFill>
                      <a:srgbClr val="102938"/>
                    </a:solidFill>
                  </a:tcPr>
                </a:tc>
                <a:tc>
                  <a:txBody>
                    <a:bodyPr lIns="114300" tIns="95250" rIns="114300" bIns="76200">
                      <a:noAutofit/>
                    </a:bodyPr>
                    <a:lstStyle/>
                    <a:p>
                      <a:r>
                        <a:rPr sz="1650" b="0">
                          <a:solidFill>
                            <a:srgbClr val="EAF1F5"/>
                          </a:solidFill>
                          <a:latin typeface="Helvetica Neue"/>
                          <a:ea typeface="Helvetica Neue"/>
                          <a:cs typeface="Helvetica Neue"/>
                        </a:rPr>
                        <a:t>$3,000</a:t>
                      </a:r>
                    </a:p>
                  </a:txBody>
                  <a:tcPr marL="91440" marR="91440" marT="45720" marB="45720" anchor="ctr">
                    <a:solidFill>
                      <a:srgbClr val="102938"/>
                    </a:solidFill>
                  </a:tcPr>
                </a:tc>
              </a:tr>
              <a:tr h="411307">
                <a:tc>
                  <a:txBody>
                    <a:bodyPr lIns="114300" tIns="95250" rIns="114300" bIns="76200">
                      <a:noAutofit/>
                    </a:bodyPr>
                    <a:lstStyle/>
                    <a:p>
                      <a:r>
                        <a:rPr sz="1650" b="0">
                          <a:solidFill>
                            <a:srgbClr val="EAF1F5"/>
                          </a:solidFill>
                          <a:latin typeface="Helvetica Neue"/>
                          <a:ea typeface="Helvetica Neue"/>
                          <a:cs typeface="Helvetica Neue"/>
                        </a:rPr>
                        <a:t>Contingency</a:t>
                      </a:r>
                    </a:p>
                  </a:txBody>
                  <a:tcPr marL="91440" marR="91440" marT="45720" marB="45720" anchor="ctr">
                    <a:solidFill>
                      <a:srgbClr val="0E2230"/>
                    </a:solidFill>
                  </a:tcPr>
                </a:tc>
                <a:tc>
                  <a:txBody>
                    <a:bodyPr lIns="114300" tIns="95250" rIns="114300" bIns="76200">
                      <a:noAutofit/>
                    </a:bodyPr>
                    <a:lstStyle/>
                    <a:p>
                      <a:r>
                        <a:rPr sz="1650" b="0">
                          <a:solidFill>
                            <a:srgbClr val="EAF1F5"/>
                          </a:solidFill>
                          <a:latin typeface="Helvetica Neue"/>
                          <a:ea typeface="Helvetica Neue"/>
                          <a:cs typeface="Helvetica Neue"/>
                        </a:rPr>
                        <a:t>$6,200</a:t>
                      </a:r>
                    </a:p>
                  </a:txBody>
                  <a:tcPr marL="91440" marR="91440" marT="45720" marB="45720" anchor="ctr">
                    <a:solidFill>
                      <a:srgbClr val="0E2230"/>
                    </a:solidFill>
                  </a:tcPr>
                </a:tc>
              </a:tr>
              <a:tr h="411307">
                <a:tc>
                  <a:txBody>
                    <a:bodyPr lIns="114300" tIns="76200" rIns="114300" bIns="76200">
                      <a:noAutofit/>
                    </a:bodyPr>
                    <a:lstStyle/>
                    <a:p>
                      <a:r>
                        <a:rPr sz="1800" b="1">
                          <a:solidFill>
                            <a:srgbClr val="FFFFFF"/>
                          </a:solidFill>
                          <a:latin typeface="Helvetica Neue"/>
                          <a:ea typeface="Helvetica Neue"/>
                          <a:cs typeface="Helvetica Neue"/>
                        </a:rPr>
                        <a:t>Total</a:t>
                      </a:r>
                    </a:p>
                  </a:txBody>
                  <a:tcPr marL="91440" marR="91440" marT="45720" marB="45720" anchor="ctr">
                    <a:solidFill>
                      <a:srgbClr val="12384C"/>
                    </a:solidFill>
                  </a:tcPr>
                </a:tc>
                <a:tc>
                  <a:txBody>
                    <a:bodyPr lIns="114300" tIns="76200" rIns="114300" bIns="76200">
                      <a:noAutofit/>
                    </a:bodyPr>
                    <a:lstStyle/>
                    <a:p>
                      <a:r>
                        <a:rPr sz="1800" b="1">
                          <a:solidFill>
                            <a:srgbClr val="FFFFFF"/>
                          </a:solidFill>
                          <a:latin typeface="Helvetica Neue"/>
                          <a:ea typeface="Helvetica Neue"/>
                          <a:cs typeface="Helvetica Neue"/>
                        </a:rPr>
                        <a:t>$90,000</a:t>
                      </a:r>
                    </a:p>
                  </a:txBody>
                  <a:tcPr marL="91440" marR="91440" marT="45720" marB="45720" anchor="ctr">
                    <a:solidFill>
                      <a:srgbClr val="12384C"/>
                    </a:solidFill>
                  </a:tcPr>
                </a:tc>
              </a:tr>
            </a:tbl>
          </a:graphicData>
        </a:graphic>
      </p:graphicFrame>
      <p:sp>
        <p:nvSpPr>
          <p:cNvPr id="4" name="">
            <a:extLst xmlns:a="http://schemas.openxmlformats.org/drawingml/2006/main">
              <a:ext uri="{FF2B5EF4-FFF2-40B4-BE49-F238E27FC236}">
                <a16:creationId xmlns:a16="http://schemas.microsoft.com/office/drawing/2014/main" id="{FAECC6B9-CDB6-4FEC-99BD-D87ADC607BFF}"/>
              </a:ext>
            </a:extLst>
          </p:cNvPr>
          <p:cNvSpPr>
            <a:spLocks xmlns:a="http://schemas.openxmlformats.org/drawingml/2006/main" noGrp="1"/>
          </p:cNvSpPr>
          <p:nvPr/>
        </p:nvSpPr>
        <p:spPr>
          <a:xfrm xmlns:a="http://schemas.openxmlformats.org/drawingml/2006/main">
            <a:off x="9344025" y="1733550"/>
            <a:ext cx="22574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56DBD0"/>
                </a:solidFill>
                <a:latin typeface="Helvetica Neue"/>
                <a:ea typeface="Helvetica Neue"/>
                <a:cs typeface="Helvetica Neue"/>
              </a:defRPr>
            </a:pPr>
            <a:r>
              <a:rPr sz="2250" b="1">
                <a:solidFill>
                  <a:srgbClr val="56DBD0"/>
                </a:solidFill>
                <a:latin typeface="Helvetica Neue"/>
                <a:ea typeface="Helvetica Neue"/>
                <a:cs typeface="Helvetica Neue"/>
              </a:rPr>
              <a:t>Phased spend</a:t>
            </a:r>
          </a:p>
        </p:txBody>
      </p:sp>
      <p:sp>
        <p:nvSpPr>
          <p:cNvPr id="5" name="">
            <a:extLst xmlns:a="http://schemas.openxmlformats.org/drawingml/2006/main">
              <a:ext uri="{FF2B5EF4-FFF2-40B4-BE49-F238E27FC236}">
                <a16:creationId xmlns:a16="http://schemas.microsoft.com/office/drawing/2014/main" id="{E0D63470-E973-43DD-AEC4-EAADDF9332E3}"/>
              </a:ext>
            </a:extLst>
          </p:cNvPr>
          <p:cNvSpPr>
            <a:spLocks xmlns:a="http://schemas.openxmlformats.org/drawingml/2006/main" noGrp="1"/>
          </p:cNvSpPr>
          <p:nvPr/>
        </p:nvSpPr>
        <p:spPr>
          <a:xfrm xmlns:a="http://schemas.openxmlformats.org/drawingml/2006/main">
            <a:off x="9344025" y="2381250"/>
            <a:ext cx="2238375" cy="3190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EAF1F5"/>
                </a:solidFill>
                <a:latin typeface="Helvetica Neue"/>
                <a:ea typeface="Helvetica Neue"/>
                <a:cs typeface="Helvetica Neue"/>
              </a:defRPr>
            </a:pPr>
            <a:r>
              <a:rPr sz="1875" b="0">
                <a:solidFill>
                  <a:srgbClr val="EAF1F5"/>
                </a:solidFill>
                <a:latin typeface="Helvetica Neue"/>
                <a:ea typeface="Helvetica Neue"/>
                <a:cs typeface="Helvetica Neue"/>
              </a:rPr>
              <a:t>Development first.</a:t>
            </a:r>
          </a:p>
          <a:p xmlns:a="http://schemas.openxmlformats.org/drawingml/2006/main">
            <a:r>
              <a:t/>
            </a:r>
          </a:p>
          <a:p xmlns:a="http://schemas.openxmlformats.org/drawingml/2006/main">
            <a:pPr algn="l">
              <a:defRPr sz="1875" b="0">
                <a:solidFill>
                  <a:srgbClr val="EAF1F5"/>
                </a:solidFill>
                <a:latin typeface="Helvetica Neue"/>
                <a:ea typeface="Helvetica Neue"/>
                <a:cs typeface="Helvetica Neue"/>
              </a:defRPr>
            </a:pPr>
            <a:r>
              <a:rPr sz="1875" b="0">
                <a:solidFill>
                  <a:srgbClr val="EAF1F5"/>
                </a:solidFill>
                <a:latin typeface="Helvetica Neue"/>
                <a:ea typeface="Helvetica Neue"/>
                <a:cs typeface="Helvetica Neue"/>
              </a:rPr>
              <a:t>Cloud capacity grows with measured load.</a:t>
            </a:r>
          </a:p>
          <a:p xmlns:a="http://schemas.openxmlformats.org/drawingml/2006/main">
            <a:r>
              <a:t/>
            </a:r>
          </a:p>
          <a:p xmlns:a="http://schemas.openxmlformats.org/drawingml/2006/main">
            <a:pPr algn="l">
              <a:defRPr sz="1875" b="0">
                <a:solidFill>
                  <a:srgbClr val="EAF1F5"/>
                </a:solidFill>
                <a:latin typeface="Helvetica Neue"/>
                <a:ea typeface="Helvetica Neue"/>
                <a:cs typeface="Helvetica Neue"/>
              </a:defRPr>
            </a:pPr>
            <a:r>
              <a:rPr sz="1875" b="0">
                <a:solidFill>
                  <a:srgbClr val="EAF1F5"/>
                </a:solidFill>
                <a:latin typeface="Helvetica Neue"/>
                <a:ea typeface="Helvetica Neue"/>
                <a:cs typeface="Helvetica Neue"/>
              </a:rPr>
              <a:t>Marketing starts with a usable MVP.</a:t>
            </a:r>
          </a:p>
        </p:txBody>
      </p:sp>
      <p:sp>
        <p:nvSpPr>
          <p:cNvPr id="6" name="">
            <a:extLst xmlns:a="http://schemas.openxmlformats.org/drawingml/2006/main">
              <a:ext uri="{FF2B5EF4-FFF2-40B4-BE49-F238E27FC236}">
                <a16:creationId xmlns:a16="http://schemas.microsoft.com/office/drawing/2014/main" id="{1D71825C-7719-43FB-AD1C-0480EDB15325}"/>
              </a:ext>
            </a:extLst>
          </p:cNvPr>
          <p:cNvSpPr>
            <a:spLocks xmlns:a="http://schemas.openxmlformats.org/drawingml/2006/main" noGrp="1"/>
          </p:cNvSpPr>
          <p:nvPr/>
        </p:nvSpPr>
        <p:spPr>
          <a:xfrm xmlns:a="http://schemas.openxmlformats.org/drawingml/2006/main">
            <a:off x="609600" y="6296025"/>
            <a:ext cx="10763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0">
                <a:solidFill>
                  <a:srgbClr val="A9BDC9"/>
                </a:solidFill>
                <a:latin typeface="Helvetica Neue"/>
                <a:ea typeface="Helvetica Neue"/>
                <a:cs typeface="Helvetica Neue"/>
              </a:defRPr>
            </a:pPr>
            <a:r>
              <a:rPr sz="1425" b="0">
                <a:solidFill>
                  <a:srgbClr val="A9BDC9"/>
                </a:solidFill>
                <a:latin typeface="Helvetica Neue"/>
                <a:ea typeface="Helvetica Neue"/>
                <a:cs typeface="Helvetica Neue"/>
              </a:rPr>
              <a:t>Planning allocations. Existing hardware remains in use. Founder living costs are excluded.</a:t>
            </a:r>
          </a:p>
        </p:txBody>
      </p:sp>
    </p:spTree>
    <p:extLst>
      <p:ext uri="{BB962C8B-B14F-4D97-AF65-F5344CB8AC3E}">
        <p14:creationId xmlns:p14="http://schemas.microsoft.com/office/powerpoint/2010/main" val="196272002"/>
      </p:ext>
    </p:extLst>
  </p:cSld>
</p:sld>
</file>

<file path=ppt/slides/slide31.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820C740-8A79-47C3-996C-E1417DAE2E81}"/>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EAF1F5"/>
                </a:solidFill>
                <a:latin typeface="Helvetica Neue"/>
                <a:ea typeface="Helvetica Neue"/>
                <a:cs typeface="Helvetica Neue"/>
              </a:defRPr>
            </a:pPr>
            <a:r>
              <a:rPr sz="3300" b="1">
                <a:solidFill>
                  <a:srgbClr val="EAF1F5"/>
                </a:solidFill>
                <a:latin typeface="Helvetica Neue"/>
                <a:ea typeface="Helvetica Neue"/>
                <a:cs typeface="Helvetica Neue"/>
              </a:rPr>
              <a:t>Local capacity and optional expansion</a:t>
            </a:r>
          </a:p>
        </p:txBody>
      </p:sp>
      <p:sp>
        <p:nvSpPr>
          <p:cNvPr id="2" name="">
            <a:extLst xmlns:a="http://schemas.openxmlformats.org/drawingml/2006/main">
              <a:ext uri="{FF2B5EF4-FFF2-40B4-BE49-F238E27FC236}">
                <a16:creationId xmlns:a16="http://schemas.microsoft.com/office/drawing/2014/main" id="{60872F4B-E7AE-4A12-96E6-06BBC7B9E044}"/>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A9BDC9"/>
                </a:solidFill>
                <a:latin typeface="Helvetica Neue"/>
                <a:ea typeface="Helvetica Neue"/>
                <a:cs typeface="Helvetica Neue"/>
              </a:defRPr>
            </a:pPr>
            <a:r>
              <a:rPr sz="1200" b="0">
                <a:solidFill>
                  <a:srgbClr val="A9BDC9"/>
                </a:solidFill>
                <a:latin typeface="Helvetica Neue"/>
                <a:ea typeface="Helvetica Neue"/>
                <a:cs typeface="Helvetica Neue"/>
              </a:rPr>
              <a:t>31</a:t>
            </a:r>
          </a:p>
        </p:txBody>
      </p:sp>
      <p:sp>
        <p:nvSpPr>
          <p:cNvPr id="3" name="">
            <a:extLst xmlns:a="http://schemas.openxmlformats.org/drawingml/2006/main">
              <a:ext uri="{FF2B5EF4-FFF2-40B4-BE49-F238E27FC236}">
                <a16:creationId xmlns:a16="http://schemas.microsoft.com/office/drawing/2014/main" id="{877B6DD3-03AC-441F-9AB9-AC03BCAF90E1}"/>
              </a:ext>
            </a:extLst>
          </p:cNvPr>
          <p:cNvSpPr>
            <a:spLocks xmlns:a="http://schemas.openxmlformats.org/drawingml/2006/main" noGrp="1"/>
          </p:cNvSpPr>
          <p:nvPr/>
        </p:nvSpPr>
        <p:spPr>
          <a:xfrm xmlns:a="http://schemas.openxmlformats.org/drawingml/2006/main">
            <a:off x="609600" y="173355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Core hardware requirement</a:t>
            </a:r>
          </a:p>
        </p:txBody>
      </p:sp>
      <p:sp>
        <p:nvSpPr>
          <p:cNvPr id="4" name="">
            <a:extLst xmlns:a="http://schemas.openxmlformats.org/drawingml/2006/main">
              <a:ext uri="{FF2B5EF4-FFF2-40B4-BE49-F238E27FC236}">
                <a16:creationId xmlns:a16="http://schemas.microsoft.com/office/drawing/2014/main" id="{927531AD-7077-4734-98C2-B79CA2635A14}"/>
              </a:ext>
            </a:extLst>
          </p:cNvPr>
          <p:cNvSpPr>
            <a:spLocks xmlns:a="http://schemas.openxmlformats.org/drawingml/2006/main" noGrp="1"/>
          </p:cNvSpPr>
          <p:nvPr/>
        </p:nvSpPr>
        <p:spPr>
          <a:xfrm xmlns:a="http://schemas.openxmlformats.org/drawingml/2006/main">
            <a:off x="609600" y="2228850"/>
            <a:ext cx="5191125"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EAF1F5"/>
                </a:solidFill>
                <a:latin typeface="Helvetica Neue"/>
                <a:ea typeface="Helvetica Neue"/>
                <a:cs typeface="Helvetica Neue"/>
              </a:defRPr>
            </a:pPr>
            <a:r>
              <a:rPr sz="2175" b="0">
                <a:solidFill>
                  <a:srgbClr val="EAF1F5"/>
                </a:solidFill>
                <a:latin typeface="Helvetica Neue"/>
                <a:ea typeface="Helvetica Neue"/>
                <a:cs typeface="Helvetica Neue"/>
              </a:rPr>
              <a:t>Upgrade the existing RTX 5070 Ti workstation to at least 96 GB RAM and add a 4 TB SSD.</a:t>
            </a:r>
          </a:p>
        </p:txBody>
      </p:sp>
      <p:sp>
        <p:nvSpPr>
          <p:cNvPr id="5" name="">
            <a:extLst xmlns:a="http://schemas.openxmlformats.org/drawingml/2006/main">
              <a:ext uri="{FF2B5EF4-FFF2-40B4-BE49-F238E27FC236}">
                <a16:creationId xmlns:a16="http://schemas.microsoft.com/office/drawing/2014/main" id="{142F28E3-F8E1-4C01-9E20-89DEB316F306}"/>
              </a:ext>
            </a:extLst>
          </p:cNvPr>
          <p:cNvSpPr>
            <a:spLocks xmlns:a="http://schemas.openxmlformats.org/drawingml/2006/main" noGrp="1"/>
          </p:cNvSpPr>
          <p:nvPr/>
        </p:nvSpPr>
        <p:spPr>
          <a:xfrm xmlns:a="http://schemas.openxmlformats.org/drawingml/2006/main">
            <a:off x="609600" y="3905250"/>
            <a:ext cx="51911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1">
                <a:solidFill>
                  <a:srgbClr val="56DBD0"/>
                </a:solidFill>
                <a:latin typeface="Helvetica Neue"/>
                <a:ea typeface="Helvetica Neue"/>
                <a:cs typeface="Helvetica Neue"/>
              </a:defRPr>
            </a:pPr>
            <a:r>
              <a:rPr sz="2025" b="1">
                <a:solidFill>
                  <a:srgbClr val="56DBD0"/>
                </a:solidFill>
                <a:latin typeface="Helvetica Neue"/>
                <a:ea typeface="Helvetica Neue"/>
                <a:cs typeface="Helvetica Neue"/>
              </a:rPr>
              <a:t>Within the US$3,000 equipment allocation</a:t>
            </a:r>
          </a:p>
        </p:txBody>
      </p:sp>
      <p:sp>
        <p:nvSpPr>
          <p:cNvPr id="6" name="">
            <a:extLst xmlns:a="http://schemas.openxmlformats.org/drawingml/2006/main">
              <a:ext uri="{FF2B5EF4-FFF2-40B4-BE49-F238E27FC236}">
                <a16:creationId xmlns:a16="http://schemas.microsoft.com/office/drawing/2014/main" id="{6E0CCC69-1B95-46B7-96AA-CC91828E9A4C}"/>
              </a:ext>
            </a:extLst>
          </p:cNvPr>
          <p:cNvSpPr>
            <a:spLocks xmlns:a="http://schemas.openxmlformats.org/drawingml/2006/main" noGrp="1"/>
          </p:cNvSpPr>
          <p:nvPr/>
        </p:nvSpPr>
        <p:spPr>
          <a:xfrm xmlns:a="http://schemas.openxmlformats.org/drawingml/2006/main">
            <a:off x="6429375" y="173355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Additional compute workstation</a:t>
            </a:r>
          </a:p>
        </p:txBody>
      </p:sp>
      <p:sp>
        <p:nvSpPr>
          <p:cNvPr id="7" name="">
            <a:extLst xmlns:a="http://schemas.openxmlformats.org/drawingml/2006/main">
              <a:ext uri="{FF2B5EF4-FFF2-40B4-BE49-F238E27FC236}">
                <a16:creationId xmlns:a16="http://schemas.microsoft.com/office/drawing/2014/main" id="{B33DDB01-BA01-4ADF-9264-DBAD8C3028A7}"/>
              </a:ext>
            </a:extLst>
          </p:cNvPr>
          <p:cNvSpPr>
            <a:spLocks xmlns:a="http://schemas.openxmlformats.org/drawingml/2006/main" noGrp="1"/>
          </p:cNvSpPr>
          <p:nvPr/>
        </p:nvSpPr>
        <p:spPr>
          <a:xfrm xmlns:a="http://schemas.openxmlformats.org/drawingml/2006/main">
            <a:off x="6429375" y="2228850"/>
            <a:ext cx="5191125"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EAF1F5"/>
                </a:solidFill>
                <a:latin typeface="Helvetica Neue"/>
                <a:ea typeface="Helvetica Neue"/>
                <a:cs typeface="Helvetica Neue"/>
              </a:defRPr>
            </a:pPr>
            <a:r>
              <a:rPr sz="2175" b="0">
                <a:solidFill>
                  <a:srgbClr val="EAF1F5"/>
                </a:solidFill>
                <a:latin typeface="Helvetica Neue"/>
                <a:ea typeface="Helvetica Neue"/>
                <a:cs typeface="Helvetica Neue"/>
              </a:rPr>
              <a:t>Desktop RTX 5090 with 32 GB VRAM, 128 GB system RAM and a 4 TB SSD.</a:t>
            </a:r>
          </a:p>
        </p:txBody>
      </p:sp>
      <p:sp>
        <p:nvSpPr>
          <p:cNvPr id="8" name="">
            <a:extLst xmlns:a="http://schemas.openxmlformats.org/drawingml/2006/main">
              <a:ext uri="{FF2B5EF4-FFF2-40B4-BE49-F238E27FC236}">
                <a16:creationId xmlns:a16="http://schemas.microsoft.com/office/drawing/2014/main" id="{01ADD7D0-9460-490C-91A0-4CA1010BA7C2}"/>
              </a:ext>
            </a:extLst>
          </p:cNvPr>
          <p:cNvSpPr>
            <a:spLocks xmlns:a="http://schemas.openxmlformats.org/drawingml/2006/main" noGrp="1"/>
          </p:cNvSpPr>
          <p:nvPr/>
        </p:nvSpPr>
        <p:spPr>
          <a:xfrm xmlns:a="http://schemas.openxmlformats.org/drawingml/2006/main">
            <a:off x="6429375" y="3905250"/>
            <a:ext cx="51911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1">
                <a:solidFill>
                  <a:srgbClr val="56DBD0"/>
                </a:solidFill>
                <a:latin typeface="Helvetica Neue"/>
                <a:ea typeface="Helvetica Neue"/>
                <a:cs typeface="Helvetica Neue"/>
              </a:defRPr>
            </a:pPr>
            <a:r>
              <a:rPr sz="2025" b="1">
                <a:solidFill>
                  <a:srgbClr val="56DBD0"/>
                </a:solidFill>
                <a:latin typeface="Helvetica Neue"/>
                <a:ea typeface="Helvetica Neue"/>
                <a:cs typeface="Helvetica Neue"/>
              </a:rPr>
              <a:t>Up to US$10,000 additional funding</a:t>
            </a:r>
          </a:p>
        </p:txBody>
      </p:sp>
      <p:sp>
        <p:nvSpPr>
          <p:cNvPr id="9" name="">
            <a:extLst xmlns:a="http://schemas.openxmlformats.org/drawingml/2006/main">
              <a:ext uri="{FF2B5EF4-FFF2-40B4-BE49-F238E27FC236}">
                <a16:creationId xmlns:a16="http://schemas.microsoft.com/office/drawing/2014/main" id="{73109515-7F43-43A7-A322-B130F57FBEC1}"/>
              </a:ext>
            </a:extLst>
          </p:cNvPr>
          <p:cNvSpPr>
            <a:spLocks xmlns:a="http://schemas.openxmlformats.org/drawingml/2006/main" noGrp="1"/>
          </p:cNvSpPr>
          <p:nvPr/>
        </p:nvSpPr>
        <p:spPr>
          <a:xfrm xmlns:a="http://schemas.openxmlformats.org/drawingml/2006/main">
            <a:off x="609600" y="51625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61A3FF"/>
                </a:solidFill>
                <a:latin typeface="Helvetica Neue"/>
                <a:ea typeface="Helvetica Neue"/>
                <a:cs typeface="Helvetica Neue"/>
              </a:defRPr>
            </a:pPr>
            <a:r>
              <a:rPr sz="3000" b="1">
                <a:solidFill>
                  <a:srgbClr val="61A3FF"/>
                </a:solidFill>
                <a:latin typeface="Helvetica Neue"/>
                <a:ea typeface="Helvetica Neue"/>
                <a:cs typeface="Helvetica Neue"/>
              </a:rPr>
              <a:t>Expanded funding target: up to US$100,000</a:t>
            </a:r>
          </a:p>
        </p:txBody>
      </p:sp>
      <p:sp>
        <p:nvSpPr>
          <p:cNvPr id="10" name="">
            <a:extLst xmlns:a="http://schemas.openxmlformats.org/drawingml/2006/main">
              <a:ext uri="{FF2B5EF4-FFF2-40B4-BE49-F238E27FC236}">
                <a16:creationId xmlns:a16="http://schemas.microsoft.com/office/drawing/2014/main" id="{4E13B7C6-69D3-4BDF-9427-ED25AC541DC3}"/>
              </a:ext>
            </a:extLst>
          </p:cNvPr>
          <p:cNvSpPr>
            <a:spLocks xmlns:a="http://schemas.openxmlformats.org/drawingml/2006/main" noGrp="1"/>
          </p:cNvSpPr>
          <p:nvPr/>
        </p:nvSpPr>
        <p:spPr>
          <a:xfrm xmlns:a="http://schemas.openxmlformats.org/drawingml/2006/main">
            <a:off x="609600" y="592455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EAF1F5"/>
                </a:solidFill>
                <a:latin typeface="Helvetica Neue"/>
                <a:ea typeface="Helvetica Neue"/>
                <a:cs typeface="Helvetica Neue"/>
              </a:defRPr>
            </a:pPr>
            <a:r>
              <a:rPr sz="1800" b="0">
                <a:solidFill>
                  <a:srgbClr val="EAF1F5"/>
                </a:solidFill>
                <a:latin typeface="Helvetica Neue"/>
                <a:ea typeface="Helvetica Neue"/>
                <a:cs typeface="Helvetica Neue"/>
              </a:rPr>
              <a:t>The additional worker would support local inference, rendering and parallel tests under the existing orchestrator.</a:t>
            </a:r>
          </a:p>
        </p:txBody>
      </p:sp>
    </p:spTree>
    <p:extLst>
      <p:ext uri="{BB962C8B-B14F-4D97-AF65-F5344CB8AC3E}">
        <p14:creationId xmlns:p14="http://schemas.microsoft.com/office/powerpoint/2010/main" val="1724489238"/>
      </p:ext>
    </p:extLst>
  </p:cSld>
</p:sld>
</file>

<file path=ppt/slides/slide32.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2A8E81C-6060-4822-85B8-A7A3A3D49250}"/>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FFFFFF"/>
                </a:solidFill>
                <a:latin typeface="Helvetica Neue"/>
                <a:ea typeface="Helvetica Neue"/>
                <a:cs typeface="Helvetica Neue"/>
              </a:defRPr>
            </a:pPr>
            <a:r>
              <a:rPr sz="3300" b="1">
                <a:solidFill>
                  <a:srgbClr val="FFFFFF"/>
                </a:solidFill>
                <a:latin typeface="Helvetica Neue"/>
                <a:ea typeface="Helvetica Neue"/>
                <a:cs typeface="Helvetica Neue"/>
              </a:rPr>
              <a:t>Founder, ownership and funding request</a:t>
            </a:r>
          </a:p>
        </p:txBody>
      </p:sp>
      <p:sp>
        <p:nvSpPr>
          <p:cNvPr id="2" name="">
            <a:extLst xmlns:a="http://schemas.openxmlformats.org/drawingml/2006/main">
              <a:ext uri="{FF2B5EF4-FFF2-40B4-BE49-F238E27FC236}">
                <a16:creationId xmlns:a16="http://schemas.microsoft.com/office/drawing/2014/main" id="{20CADD99-1B76-4971-932D-30DE50AA8125}"/>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B5C4CD"/>
                </a:solidFill>
                <a:latin typeface="Helvetica Neue"/>
                <a:ea typeface="Helvetica Neue"/>
                <a:cs typeface="Helvetica Neue"/>
              </a:defRPr>
            </a:pPr>
            <a:r>
              <a:rPr sz="1200" b="0">
                <a:solidFill>
                  <a:srgbClr val="B5C4CD"/>
                </a:solidFill>
                <a:latin typeface="Helvetica Neue"/>
                <a:ea typeface="Helvetica Neue"/>
                <a:cs typeface="Helvetica Neue"/>
              </a:rPr>
              <a:t>32</a:t>
            </a:r>
          </a:p>
        </p:txBody>
      </p:sp>
      <p:sp>
        <p:nvSpPr>
          <p:cNvPr id="3" name="">
            <a:extLst xmlns:a="http://schemas.openxmlformats.org/drawingml/2006/main">
              <a:ext uri="{FF2B5EF4-FFF2-40B4-BE49-F238E27FC236}">
                <a16:creationId xmlns:a16="http://schemas.microsoft.com/office/drawing/2014/main" id="{786E0CD3-D57E-4A08-8C34-CECFA176AAAB}"/>
              </a:ext>
            </a:extLst>
          </p:cNvPr>
          <p:cNvSpPr>
            <a:spLocks xmlns:a="http://schemas.openxmlformats.org/drawingml/2006/main" noGrp="1"/>
          </p:cNvSpPr>
          <p:nvPr/>
        </p:nvSpPr>
        <p:spPr>
          <a:xfrm xmlns:a="http://schemas.openxmlformats.org/drawingml/2006/main">
            <a:off x="609600" y="167640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Vitalii Pavlichuk</a:t>
            </a:r>
          </a:p>
        </p:txBody>
      </p:sp>
      <p:sp>
        <p:nvSpPr>
          <p:cNvPr id="4" name="">
            <a:extLst xmlns:a="http://schemas.openxmlformats.org/drawingml/2006/main">
              <a:ext uri="{FF2B5EF4-FFF2-40B4-BE49-F238E27FC236}">
                <a16:creationId xmlns:a16="http://schemas.microsoft.com/office/drawing/2014/main" id="{ED404E50-231C-4C99-9406-ACC84E0DC24F}"/>
              </a:ext>
            </a:extLst>
          </p:cNvPr>
          <p:cNvSpPr>
            <a:spLocks xmlns:a="http://schemas.openxmlformats.org/drawingml/2006/main" noGrp="1"/>
          </p:cNvSpPr>
          <p:nvPr/>
        </p:nvSpPr>
        <p:spPr>
          <a:xfrm xmlns:a="http://schemas.openxmlformats.org/drawingml/2006/main">
            <a:off x="609600" y="2171700"/>
            <a:ext cx="5191125"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FFFFFF"/>
                </a:solidFill>
                <a:latin typeface="Helvetica Neue"/>
                <a:ea typeface="Helvetica Neue"/>
                <a:cs typeface="Helvetica Neue"/>
              </a:defRPr>
            </a:pPr>
            <a:r>
              <a:rPr sz="2025" b="0">
                <a:solidFill>
                  <a:srgbClr val="FFFFFF"/>
                </a:solidFill>
                <a:latin typeface="Helvetica Neue"/>
                <a:ea typeface="Helvetica Neue"/>
                <a:cs typeface="Helvetica Neue"/>
              </a:rPr>
              <a:t>Solo founder and product architect. Created the concept, system logic and development plan. First software venture, approximately four months of active development.</a:t>
            </a:r>
          </a:p>
        </p:txBody>
      </p:sp>
      <p:sp>
        <p:nvSpPr>
          <p:cNvPr id="5" name="">
            <a:extLst xmlns:a="http://schemas.openxmlformats.org/drawingml/2006/main">
              <a:ext uri="{FF2B5EF4-FFF2-40B4-BE49-F238E27FC236}">
                <a16:creationId xmlns:a16="http://schemas.microsoft.com/office/drawing/2014/main" id="{1A7147D2-47AD-43E3-98A6-0AFF436304E0}"/>
              </a:ext>
            </a:extLst>
          </p:cNvPr>
          <p:cNvSpPr>
            <a:spLocks xmlns:a="http://schemas.openxmlformats.org/drawingml/2006/main" noGrp="1"/>
          </p:cNvSpPr>
          <p:nvPr/>
        </p:nvSpPr>
        <p:spPr>
          <a:xfrm xmlns:a="http://schemas.openxmlformats.org/drawingml/2006/main">
            <a:off x="6429375" y="167640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Funding request</a:t>
            </a:r>
          </a:p>
        </p:txBody>
      </p:sp>
      <p:sp>
        <p:nvSpPr>
          <p:cNvPr id="6" name="">
            <a:extLst xmlns:a="http://schemas.openxmlformats.org/drawingml/2006/main">
              <a:ext uri="{FF2B5EF4-FFF2-40B4-BE49-F238E27FC236}">
                <a16:creationId xmlns:a16="http://schemas.microsoft.com/office/drawing/2014/main" id="{44259482-1437-4468-BFCD-A4648920BABC}"/>
              </a:ext>
            </a:extLst>
          </p:cNvPr>
          <p:cNvSpPr>
            <a:spLocks xmlns:a="http://schemas.openxmlformats.org/drawingml/2006/main" noGrp="1"/>
          </p:cNvSpPr>
          <p:nvPr/>
        </p:nvSpPr>
        <p:spPr>
          <a:xfrm xmlns:a="http://schemas.openxmlformats.org/drawingml/2006/main">
            <a:off x="6429375" y="2171700"/>
            <a:ext cx="5191125"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FFFFFF"/>
                </a:solidFill>
                <a:latin typeface="Helvetica Neue"/>
                <a:ea typeface="Helvetica Neue"/>
                <a:cs typeface="Helvetica Neue"/>
              </a:defRPr>
            </a:pPr>
            <a:r>
              <a:rPr sz="2025" b="0">
                <a:solidFill>
                  <a:srgbClr val="FFFFFF"/>
                </a:solidFill>
                <a:latin typeface="Helvetica Neue"/>
                <a:ea typeface="Helvetica Neue"/>
                <a:cs typeface="Helvetica Neue"/>
              </a:rPr>
              <a:t>US$90,000 for 12 months of intensive development, testing, cloud deployment and initial marketing. Optional expansion to US$100,000 for additional local compute.</a:t>
            </a:r>
          </a:p>
        </p:txBody>
      </p:sp>
      <p:sp>
        <p:nvSpPr>
          <p:cNvPr id="7" name="">
            <a:extLst xmlns:a="http://schemas.openxmlformats.org/drawingml/2006/main">
              <a:ext uri="{FF2B5EF4-FFF2-40B4-BE49-F238E27FC236}">
                <a16:creationId xmlns:a16="http://schemas.microsoft.com/office/drawing/2014/main" id="{97B32A14-0EB2-4F65-B43B-920A28C6999F}"/>
              </a:ext>
            </a:extLst>
          </p:cNvPr>
          <p:cNvSpPr>
            <a:spLocks xmlns:a="http://schemas.openxmlformats.org/drawingml/2006/main" noGrp="1"/>
          </p:cNvSpPr>
          <p:nvPr/>
        </p:nvSpPr>
        <p:spPr>
          <a:xfrm xmlns:a="http://schemas.openxmlformats.org/drawingml/2006/main">
            <a:off x="609600" y="4124325"/>
            <a:ext cx="108585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FFFFFF"/>
                </a:solidFill>
                <a:latin typeface="Helvetica Neue"/>
                <a:ea typeface="Helvetica Neue"/>
                <a:cs typeface="Helvetica Neue"/>
              </a:defRPr>
            </a:pPr>
            <a:r>
              <a:rPr sz="2025" b="0">
                <a:solidFill>
                  <a:srgbClr val="FFFFFF"/>
                </a:solidFill>
                <a:latin typeface="Helvetica Neue"/>
                <a:ea typeface="Helvetica Neue"/>
                <a:cs typeface="Helvetica Neue"/>
              </a:rPr>
              <a:t>Implementation uses Codex and Claude Code, guided by the founder’s architecture and acceptance requirements.</a:t>
            </a:r>
          </a:p>
        </p:txBody>
      </p:sp>
      <p:sp>
        <p:nvSpPr>
          <p:cNvPr id="8" name="">
            <a:extLst xmlns:a="http://schemas.openxmlformats.org/drawingml/2006/main">
              <a:ext uri="{FF2B5EF4-FFF2-40B4-BE49-F238E27FC236}">
                <a16:creationId xmlns:a16="http://schemas.microsoft.com/office/drawing/2014/main" id="{CC497AF4-2339-4B22-9625-99F79E163BDE}"/>
              </a:ext>
            </a:extLst>
          </p:cNvPr>
          <p:cNvSpPr>
            <a:spLocks xmlns:a="http://schemas.openxmlformats.org/drawingml/2006/main" noGrp="1"/>
          </p:cNvSpPr>
          <p:nvPr/>
        </p:nvSpPr>
        <p:spPr>
          <a:xfrm xmlns:a="http://schemas.openxmlformats.org/drawingml/2006/main">
            <a:off x="609600" y="5362575"/>
            <a:ext cx="5334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56DBD0"/>
                </a:solidFill>
                <a:latin typeface="Helvetica Neue"/>
                <a:ea typeface="Helvetica Neue"/>
                <a:cs typeface="Helvetica Neue"/>
              </a:defRPr>
            </a:pPr>
            <a:r>
              <a:rPr sz="1875" b="0">
                <a:solidFill>
                  <a:srgbClr val="56DBD0"/>
                </a:solidFill>
                <a:latin typeface="Helvetica Neue"/>
                <a:ea typeface="Helvetica Neue"/>
                <a:cs typeface="Helvetica Neue"/>
                <a:hlinkClick xmlns:r="http://schemas.openxmlformats.org/officeDocument/2006/relationships" r:id="R3452694e163c47ac"/>
              </a:rPr>
              <a:t>Public source and demo evidence</a:t>
            </a:r>
          </a:p>
        </p:txBody>
      </p:sp>
      <p:sp>
        <p:nvSpPr>
          <p:cNvPr id="9" name="">
            <a:extLst xmlns:a="http://schemas.openxmlformats.org/drawingml/2006/main">
              <a:ext uri="{FF2B5EF4-FFF2-40B4-BE49-F238E27FC236}">
                <a16:creationId xmlns:a16="http://schemas.microsoft.com/office/drawing/2014/main" id="{70B89B30-6923-456A-A8ED-F82F0837F25B}"/>
              </a:ext>
            </a:extLst>
          </p:cNvPr>
          <p:cNvSpPr>
            <a:spLocks xmlns:a="http://schemas.openxmlformats.org/drawingml/2006/main" noGrp="1"/>
          </p:cNvSpPr>
          <p:nvPr/>
        </p:nvSpPr>
        <p:spPr>
          <a:xfrm xmlns:a="http://schemas.openxmlformats.org/drawingml/2006/main">
            <a:off x="6429375" y="5362575"/>
            <a:ext cx="50958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56DBD0"/>
                </a:solidFill>
                <a:latin typeface="Helvetica Neue"/>
                <a:ea typeface="Helvetica Neue"/>
                <a:cs typeface="Helvetica Neue"/>
              </a:defRPr>
            </a:pPr>
            <a:r>
              <a:rPr sz="1875" b="0">
                <a:solidFill>
                  <a:srgbClr val="56DBD0"/>
                </a:solidFill>
                <a:latin typeface="Helvetica Neue"/>
                <a:ea typeface="Helvetica Neue"/>
                <a:cs typeface="Helvetica Neue"/>
                <a:hlinkClick xmlns:r="http://schemas.openxmlformats.org/officeDocument/2006/relationships" r:id="Rfa68a6a8922e455c"/>
              </a:rPr>
              <a:t>Founder LinkedIn</a:t>
            </a:r>
          </a:p>
        </p:txBody>
      </p:sp>
      <p:sp>
        <p:nvSpPr>
          <p:cNvPr id="10" name="">
            <a:extLst xmlns:a="http://schemas.openxmlformats.org/drawingml/2006/main">
              <a:ext uri="{FF2B5EF4-FFF2-40B4-BE49-F238E27FC236}">
                <a16:creationId xmlns:a16="http://schemas.microsoft.com/office/drawing/2014/main" id="{2758E1FF-9B16-4D1F-89FA-FF43AF99E15E}"/>
              </a:ext>
            </a:extLst>
          </p:cNvPr>
          <p:cNvSpPr>
            <a:spLocks xmlns:a="http://schemas.openxmlformats.org/drawingml/2006/main" noGrp="1"/>
          </p:cNvSpPr>
          <p:nvPr/>
        </p:nvSpPr>
        <p:spPr>
          <a:xfrm xmlns:a="http://schemas.openxmlformats.org/drawingml/2006/main">
            <a:off x="609600" y="6029325"/>
            <a:ext cx="1085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B5C4CD"/>
                </a:solidFill>
                <a:latin typeface="Helvetica Neue"/>
                <a:ea typeface="Helvetica Neue"/>
                <a:cs typeface="Helvetica Neue"/>
              </a:defRPr>
            </a:pPr>
            <a:r>
              <a:rPr sz="1725" b="0">
                <a:solidFill>
                  <a:srgbClr val="B5C4CD"/>
                </a:solidFill>
                <a:latin typeface="Helvetica Neue"/>
                <a:ea typeface="Helvetica Neue"/>
                <a:cs typeface="Helvetica Neue"/>
              </a:rPr>
              <a:t>Private studio source is available for controlled technical review.</a:t>
            </a:r>
          </a:p>
        </p:txBody>
      </p:sp>
    </p:spTree>
    <p:extLst>
      <p:ext uri="{BB962C8B-B14F-4D97-AF65-F5344CB8AC3E}">
        <p14:creationId xmlns:p14="http://schemas.microsoft.com/office/powerpoint/2010/main" val="827599543"/>
      </p:ext>
    </p:extLst>
  </p:cSld>
</p:sld>
</file>

<file path=ppt/slides/slide33.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A2EA53C-3F0C-4E26-BEA1-6AE89F79D768}"/>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EAF1F5"/>
                </a:solidFill>
                <a:latin typeface="Helvetica Neue"/>
                <a:ea typeface="Helvetica Neue"/>
                <a:cs typeface="Helvetica Neue"/>
              </a:defRPr>
            </a:pPr>
            <a:r>
              <a:rPr sz="3300" b="1">
                <a:solidFill>
                  <a:srgbClr val="EAF1F5"/>
                </a:solidFill>
                <a:latin typeface="Helvetica Neue"/>
                <a:ea typeface="Helvetica Neue"/>
                <a:cs typeface="Helvetica Neue"/>
              </a:rPr>
              <a:t>Evidence and review links</a:t>
            </a:r>
          </a:p>
        </p:txBody>
      </p:sp>
      <p:sp>
        <p:nvSpPr>
          <p:cNvPr id="2" name="">
            <a:extLst xmlns:a="http://schemas.openxmlformats.org/drawingml/2006/main">
              <a:ext uri="{FF2B5EF4-FFF2-40B4-BE49-F238E27FC236}">
                <a16:creationId xmlns:a16="http://schemas.microsoft.com/office/drawing/2014/main" id="{0D362B9C-3F35-41EB-B2BB-DC26F3081875}"/>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A9BDC9"/>
                </a:solidFill>
                <a:latin typeface="Helvetica Neue"/>
                <a:ea typeface="Helvetica Neue"/>
                <a:cs typeface="Helvetica Neue"/>
              </a:defRPr>
            </a:pPr>
            <a:r>
              <a:rPr sz="1200" b="0">
                <a:solidFill>
                  <a:srgbClr val="A9BDC9"/>
                </a:solidFill>
                <a:latin typeface="Helvetica Neue"/>
                <a:ea typeface="Helvetica Neue"/>
                <a:cs typeface="Helvetica Neue"/>
              </a:rPr>
              <a:t>33</a:t>
            </a:r>
          </a:p>
        </p:txBody>
      </p:sp>
      <p:sp>
        <p:nvSpPr>
          <p:cNvPr id="3" name="">
            <a:extLst xmlns:a="http://schemas.openxmlformats.org/drawingml/2006/main">
              <a:ext uri="{FF2B5EF4-FFF2-40B4-BE49-F238E27FC236}">
                <a16:creationId xmlns:a16="http://schemas.microsoft.com/office/drawing/2014/main" id="{93F5F785-D861-47E3-969E-4FF13B276435}"/>
              </a:ext>
            </a:extLst>
          </p:cNvPr>
          <p:cNvSpPr>
            <a:spLocks xmlns:a="http://schemas.openxmlformats.org/drawingml/2006/main" noGrp="1"/>
          </p:cNvSpPr>
          <p:nvPr/>
        </p:nvSpPr>
        <p:spPr>
          <a:xfrm xmlns:a="http://schemas.openxmlformats.org/drawingml/2006/main">
            <a:off x="609600" y="1714500"/>
            <a:ext cx="1095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61A3FF"/>
                </a:solidFill>
                <a:latin typeface="Helvetica Neue"/>
                <a:ea typeface="Helvetica Neue"/>
                <a:cs typeface="Helvetica Neue"/>
              </a:defRPr>
            </a:pPr>
            <a:r>
              <a:rPr sz="2175" b="0">
                <a:solidFill>
                  <a:srgbClr val="61A3FF"/>
                </a:solidFill>
                <a:latin typeface="Helvetica Neue"/>
                <a:ea typeface="Helvetica Neue"/>
                <a:cs typeface="Helvetica Neue"/>
                <a:hlinkClick xmlns:r="http://schemas.openxmlformats.org/officeDocument/2006/relationships" r:id="Rd8adf1cc712d4513"/>
              </a:rPr>
              <a:t>Public blockchain source and marketplace</a:t>
            </a:r>
          </a:p>
        </p:txBody>
      </p:sp>
      <p:sp>
        <p:nvSpPr>
          <p:cNvPr id="4" name="">
            <a:extLst xmlns:a="http://schemas.openxmlformats.org/drawingml/2006/main">
              <a:ext uri="{FF2B5EF4-FFF2-40B4-BE49-F238E27FC236}">
                <a16:creationId xmlns:a16="http://schemas.microsoft.com/office/drawing/2014/main" id="{4199323A-0C42-4C45-84C8-2A4321BEC85B}"/>
              </a:ext>
            </a:extLst>
          </p:cNvPr>
          <p:cNvSpPr>
            <a:spLocks xmlns:a="http://schemas.openxmlformats.org/drawingml/2006/main" noGrp="1"/>
          </p:cNvSpPr>
          <p:nvPr/>
        </p:nvSpPr>
        <p:spPr>
          <a:xfrm xmlns:a="http://schemas.openxmlformats.org/drawingml/2006/main">
            <a:off x="609600" y="2457450"/>
            <a:ext cx="1095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61A3FF"/>
                </a:solidFill>
                <a:latin typeface="Helvetica Neue"/>
                <a:ea typeface="Helvetica Neue"/>
                <a:cs typeface="Helvetica Neue"/>
              </a:defRPr>
            </a:pPr>
            <a:r>
              <a:rPr sz="2175" b="0">
                <a:solidFill>
                  <a:srgbClr val="61A3FF"/>
                </a:solidFill>
                <a:latin typeface="Helvetica Neue"/>
                <a:ea typeface="Helvetica Neue"/>
                <a:cs typeface="Helvetica Neue"/>
                <a:hlinkClick xmlns:r="http://schemas.openxmlformats.org/officeDocument/2006/relationships" r:id="R9c553504503846b8"/>
              </a:rPr>
              <a:t>Verification: 176 passing tests</a:t>
            </a:r>
          </a:p>
        </p:txBody>
      </p:sp>
      <p:sp>
        <p:nvSpPr>
          <p:cNvPr id="5" name="">
            <a:extLst xmlns:a="http://schemas.openxmlformats.org/drawingml/2006/main">
              <a:ext uri="{FF2B5EF4-FFF2-40B4-BE49-F238E27FC236}">
                <a16:creationId xmlns:a16="http://schemas.microsoft.com/office/drawing/2014/main" id="{5D774795-9036-4701-94AD-6AD3AF4DF9E7}"/>
              </a:ext>
            </a:extLst>
          </p:cNvPr>
          <p:cNvSpPr>
            <a:spLocks xmlns:a="http://schemas.openxmlformats.org/drawingml/2006/main" noGrp="1"/>
          </p:cNvSpPr>
          <p:nvPr/>
        </p:nvSpPr>
        <p:spPr>
          <a:xfrm xmlns:a="http://schemas.openxmlformats.org/drawingml/2006/main">
            <a:off x="609600" y="3200400"/>
            <a:ext cx="1095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61A3FF"/>
                </a:solidFill>
                <a:latin typeface="Helvetica Neue"/>
                <a:ea typeface="Helvetica Neue"/>
                <a:cs typeface="Helvetica Neue"/>
              </a:defRPr>
            </a:pPr>
            <a:r>
              <a:rPr sz="2175" b="0">
                <a:solidFill>
                  <a:srgbClr val="61A3FF"/>
                </a:solidFill>
                <a:latin typeface="Helvetica Neue"/>
                <a:ea typeface="Helvetica Neue"/>
                <a:cs typeface="Helvetica Neue"/>
                <a:hlinkClick xmlns:r="http://schemas.openxmlformats.org/officeDocument/2006/relationships" r:id="Re7564abb8a8e48d6"/>
              </a:rPr>
              <a:t>Demo record and transaction references</a:t>
            </a:r>
          </a:p>
        </p:txBody>
      </p:sp>
      <p:sp>
        <p:nvSpPr>
          <p:cNvPr id="6" name="">
            <a:extLst xmlns:a="http://schemas.openxmlformats.org/drawingml/2006/main">
              <a:ext uri="{FF2B5EF4-FFF2-40B4-BE49-F238E27FC236}">
                <a16:creationId xmlns:a16="http://schemas.microsoft.com/office/drawing/2014/main" id="{A9C39B0F-BD45-45F7-84CC-FBA889CF0426}"/>
              </a:ext>
            </a:extLst>
          </p:cNvPr>
          <p:cNvSpPr>
            <a:spLocks xmlns:a="http://schemas.openxmlformats.org/drawingml/2006/main" noGrp="1"/>
          </p:cNvSpPr>
          <p:nvPr/>
        </p:nvSpPr>
        <p:spPr>
          <a:xfrm xmlns:a="http://schemas.openxmlformats.org/drawingml/2006/main">
            <a:off x="609600" y="3943350"/>
            <a:ext cx="1095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61A3FF"/>
                </a:solidFill>
                <a:latin typeface="Helvetica Neue"/>
                <a:ea typeface="Helvetica Neue"/>
                <a:cs typeface="Helvetica Neue"/>
              </a:defRPr>
            </a:pPr>
            <a:r>
              <a:rPr sz="2175" b="0">
                <a:solidFill>
                  <a:srgbClr val="61A3FF"/>
                </a:solidFill>
                <a:latin typeface="Helvetica Neue"/>
                <a:ea typeface="Helvetica Neue"/>
                <a:cs typeface="Helvetica Neue"/>
                <a:hlinkClick xmlns:r="http://schemas.openxmlformats.org/officeDocument/2006/relationships" r:id="Rf12a5d1e3f7e4c98"/>
              </a:rPr>
              <a:t>Recorded MetaMask purchase and digital delivery</a:t>
            </a:r>
          </a:p>
        </p:txBody>
      </p:sp>
      <p:sp>
        <p:nvSpPr>
          <p:cNvPr id="7" name="">
            <a:extLst xmlns:a="http://schemas.openxmlformats.org/drawingml/2006/main">
              <a:ext uri="{FF2B5EF4-FFF2-40B4-BE49-F238E27FC236}">
                <a16:creationId xmlns:a16="http://schemas.microsoft.com/office/drawing/2014/main" id="{DFE87916-D2E3-4BCD-A0A5-DC0C1DE2C18D}"/>
              </a:ext>
            </a:extLst>
          </p:cNvPr>
          <p:cNvSpPr>
            <a:spLocks xmlns:a="http://schemas.openxmlformats.org/drawingml/2006/main" noGrp="1"/>
          </p:cNvSpPr>
          <p:nvPr/>
        </p:nvSpPr>
        <p:spPr>
          <a:xfrm xmlns:a="http://schemas.openxmlformats.org/drawingml/2006/main">
            <a:off x="609600" y="4686300"/>
            <a:ext cx="1095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61A3FF"/>
                </a:solidFill>
                <a:latin typeface="Helvetica Neue"/>
                <a:ea typeface="Helvetica Neue"/>
                <a:cs typeface="Helvetica Neue"/>
              </a:defRPr>
            </a:pPr>
            <a:r>
              <a:rPr sz="2175" b="0">
                <a:solidFill>
                  <a:srgbClr val="61A3FF"/>
                </a:solidFill>
                <a:latin typeface="Helvetica Neue"/>
                <a:ea typeface="Helvetica Neue"/>
                <a:cs typeface="Helvetica Neue"/>
                <a:hlinkClick xmlns:r="http://schemas.openxmlformats.org/officeDocument/2006/relationships" r:id="Rb0fa3612b8284e42"/>
              </a:rPr>
              <a:t>Founder: Vitalii Pavlichuk</a:t>
            </a:r>
          </a:p>
        </p:txBody>
      </p:sp>
      <p:sp>
        <p:nvSpPr>
          <p:cNvPr id="8" name="">
            <a:extLst xmlns:a="http://schemas.openxmlformats.org/drawingml/2006/main">
              <a:ext uri="{FF2B5EF4-FFF2-40B4-BE49-F238E27FC236}">
                <a16:creationId xmlns:a16="http://schemas.microsoft.com/office/drawing/2014/main" id="{BD6CADB8-453A-439B-930C-637E5D89CD03}"/>
              </a:ext>
            </a:extLst>
          </p:cNvPr>
          <p:cNvSpPr>
            <a:spLocks xmlns:a="http://schemas.openxmlformats.org/drawingml/2006/main" noGrp="1"/>
          </p:cNvSpPr>
          <p:nvPr/>
        </p:nvSpPr>
        <p:spPr>
          <a:xfrm xmlns:a="http://schemas.openxmlformats.org/drawingml/2006/main">
            <a:off x="609600" y="5648325"/>
            <a:ext cx="10953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1">
                <a:solidFill>
                  <a:srgbClr val="56DBD0"/>
                </a:solidFill>
                <a:latin typeface="Helvetica Neue"/>
                <a:ea typeface="Helvetica Neue"/>
                <a:cs typeface="Helvetica Neue"/>
              </a:defRPr>
            </a:pPr>
            <a:r>
              <a:rPr sz="2025" b="1">
                <a:solidFill>
                  <a:srgbClr val="56DBD0"/>
                </a:solidFill>
                <a:latin typeface="Helvetica Neue"/>
                <a:ea typeface="Helvetica Neue"/>
                <a:cs typeface="Helvetica Neue"/>
              </a:rPr>
              <a:t>The AI studio remains private. Controlled access can be arranged for technical review.</a:t>
            </a:r>
          </a:p>
        </p:txBody>
      </p:sp>
    </p:spTree>
    <p:extLst>
      <p:ext uri="{BB962C8B-B14F-4D97-AF65-F5344CB8AC3E}">
        <p14:creationId xmlns:p14="http://schemas.microsoft.com/office/powerpoint/2010/main" val="103545851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2026-10-05T07:49:43.6490000Z</dcterms:created>
  <dcterms:modified xsi:type="dcterms:W3CDTF">2026-10-05T07:49:43.6490000Z</dcterms:modified>
</coreProperties>
</file>