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13ceb4e0b94fb8" /><Relationship Type="http://schemas.openxmlformats.org/officeDocument/2006/relationships/extended-properties" Target="/docProps/app.xml" Id="R7c7cb7342ac046ff" /><Relationship Type="http://schemas.openxmlformats.org/officeDocument/2006/relationships/officeDocument" Target="/ppt/presentation.xml" Id="R70812529be254dfb" /></Relationships>
</file>

<file path=ppt/presentation.xml><?xml version="1.0" encoding="utf-8"?>
<p:presentation xmlns:p="http://schemas.openxmlformats.org/presentationml/2006/main">
  <p:sldMasterIdLst>
    <p:sldMasterId xmlns:r="http://schemas.openxmlformats.org/officeDocument/2006/relationships" id="2147483648" r:id="Ra58e8055cdf2430e"/>
  </p:sldMasterIdLst>
  <p:notesMasterIdLst>
    <p:notesMasterId xmlns:r="http://schemas.openxmlformats.org/officeDocument/2006/relationships" r:id="Rfa1f0989d3d94240"/>
  </p:notesMasterIdLst>
  <p:sldIdLst>
    <p:sldId xmlns:r="http://schemas.openxmlformats.org/officeDocument/2006/relationships" id="256" r:id="R7050fe802d4848e4"/>
    <p:sldId xmlns:r="http://schemas.openxmlformats.org/officeDocument/2006/relationships" id="257" r:id="R014c97d0cb37435d"/>
    <p:sldId xmlns:r="http://schemas.openxmlformats.org/officeDocument/2006/relationships" id="258" r:id="Rfedce23157e84234"/>
    <p:sldId xmlns:r="http://schemas.openxmlformats.org/officeDocument/2006/relationships" id="259" r:id="Rf0bef8f3921a4b9d"/>
    <p:sldId xmlns:r="http://schemas.openxmlformats.org/officeDocument/2006/relationships" id="260" r:id="Rb9f02c00a0f5460c"/>
    <p:sldId xmlns:r="http://schemas.openxmlformats.org/officeDocument/2006/relationships" id="261" r:id="Rb9c5ed71bf254e02"/>
    <p:sldId xmlns:r="http://schemas.openxmlformats.org/officeDocument/2006/relationships" id="262" r:id="R2873b37e0a2944d4"/>
    <p:sldId xmlns:r="http://schemas.openxmlformats.org/officeDocument/2006/relationships" id="263" r:id="Rc14613a0394c4680"/>
    <p:sldId xmlns:r="http://schemas.openxmlformats.org/officeDocument/2006/relationships" id="264" r:id="R5ac7e0df54334f1c"/>
    <p:sldId xmlns:r="http://schemas.openxmlformats.org/officeDocument/2006/relationships" id="265" r:id="R5d6a8167bf714872"/>
    <p:sldId xmlns:r="http://schemas.openxmlformats.org/officeDocument/2006/relationships" id="266" r:id="R32725d24e5c24981"/>
    <p:sldId xmlns:r="http://schemas.openxmlformats.org/officeDocument/2006/relationships" id="267" r:id="R1400731e71da4074"/>
    <p:sldId xmlns:r="http://schemas.openxmlformats.org/officeDocument/2006/relationships" id="268" r:id="Rca57b10689f44090"/>
    <p:sldId xmlns:r="http://schemas.openxmlformats.org/officeDocument/2006/relationships" id="269" r:id="R0a537648d15b4880"/>
    <p:sldId xmlns:r="http://schemas.openxmlformats.org/officeDocument/2006/relationships" id="270" r:id="R6600fb83f467404c"/>
    <p:sldId xmlns:r="http://schemas.openxmlformats.org/officeDocument/2006/relationships" id="271" r:id="Rbf4e19e15fe14e58"/>
    <p:sldId xmlns:r="http://schemas.openxmlformats.org/officeDocument/2006/relationships" id="272" r:id="Re8bd9439e2fb4b0b"/>
    <p:sldId xmlns:r="http://schemas.openxmlformats.org/officeDocument/2006/relationships" id="273" r:id="Rf3a64aa0c5934e23"/>
    <p:sldId xmlns:r="http://schemas.openxmlformats.org/officeDocument/2006/relationships" id="274" r:id="R6a3c679b6b594f9f"/>
    <p:sldId xmlns:r="http://schemas.openxmlformats.org/officeDocument/2006/relationships" id="275" r:id="Re7d052a46b224b9d"/>
    <p:sldId xmlns:r="http://schemas.openxmlformats.org/officeDocument/2006/relationships" id="276" r:id="Re28bc33389a14805"/>
    <p:sldId xmlns:r="http://schemas.openxmlformats.org/officeDocument/2006/relationships" id="277" r:id="Ra0e8c6bfc9a54cf7"/>
    <p:sldId xmlns:r="http://schemas.openxmlformats.org/officeDocument/2006/relationships" id="278" r:id="R45af4ac33cc24154"/>
    <p:sldId xmlns:r="http://schemas.openxmlformats.org/officeDocument/2006/relationships" id="279" r:id="Rb92e232d7b4d4621"/>
    <p:sldId xmlns:r="http://schemas.openxmlformats.org/officeDocument/2006/relationships" id="280" r:id="Rb437d2323ab94ca5"/>
    <p:sldId xmlns:r="http://schemas.openxmlformats.org/officeDocument/2006/relationships" id="281" r:id="R40c6969726834569"/>
    <p:sldId xmlns:r="http://schemas.openxmlformats.org/officeDocument/2006/relationships" id="282" r:id="R893968dbd3d24dff"/>
    <p:sldId xmlns:r="http://schemas.openxmlformats.org/officeDocument/2006/relationships" id="283" r:id="R0c5b577361724d68"/>
    <p:sldId xmlns:r="http://schemas.openxmlformats.org/officeDocument/2006/relationships" id="284" r:id="R7c66e195023643f6"/>
    <p:sldId xmlns:r="http://schemas.openxmlformats.org/officeDocument/2006/relationships" id="285" r:id="R8f0611ad1a1948fb"/>
    <p:sldId xmlns:r="http://schemas.openxmlformats.org/officeDocument/2006/relationships" id="286" r:id="R0056fd77af934eaa"/>
    <p:sldId xmlns:r="http://schemas.openxmlformats.org/officeDocument/2006/relationships" id="287" r:id="Rc97c8fc968a845da"/>
    <p:sldId xmlns:r="http://schemas.openxmlformats.org/officeDocument/2006/relationships" id="288" r:id="R9d1025bc07ba44ce"/>
    <p:sldId xmlns:r="http://schemas.openxmlformats.org/officeDocument/2006/relationships" id="289" r:id="R7492909b44fa40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0e83f3d5094fdf" /><Relationship Type="http://schemas.openxmlformats.org/officeDocument/2006/relationships/slideMaster" Target="/ppt/slideMasters/slideMaster1.xml" Id="Ra58e8055cdf2430e" /><Relationship Type="http://schemas.openxmlformats.org/officeDocument/2006/relationships/notesMaster" Target="/ppt/notesMasters/notesMaster1.xml" Id="Rfa1f0989d3d94240" /><Relationship Type="http://schemas.openxmlformats.org/officeDocument/2006/relationships/presProps" Target="/ppt/presProps.xml" Id="R733337af954a419d" /><Relationship Type="http://schemas.openxmlformats.org/officeDocument/2006/relationships/tableStyles" Target="/ppt/tableStyles.xml" Id="Rca4d459750d44ac8" /><Relationship Type="http://schemas.openxmlformats.org/officeDocument/2006/relationships/slide" Target="/ppt/slides/slide1.xml" Id="R7050fe802d4848e4" /><Relationship Type="http://schemas.openxmlformats.org/officeDocument/2006/relationships/slide" Target="/ppt/slides/slide2.xml" Id="R014c97d0cb37435d" /><Relationship Type="http://schemas.openxmlformats.org/officeDocument/2006/relationships/slide" Target="/ppt/slides/slide3.xml" Id="Rfedce23157e84234" /><Relationship Type="http://schemas.openxmlformats.org/officeDocument/2006/relationships/slide" Target="/ppt/slides/slide4.xml" Id="Rf0bef8f3921a4b9d" /><Relationship Type="http://schemas.openxmlformats.org/officeDocument/2006/relationships/slide" Target="/ppt/slides/slide5.xml" Id="Rb9f02c00a0f5460c" /><Relationship Type="http://schemas.openxmlformats.org/officeDocument/2006/relationships/slide" Target="/ppt/slides/slide6.xml" Id="Rb9c5ed71bf254e02" /><Relationship Type="http://schemas.openxmlformats.org/officeDocument/2006/relationships/slide" Target="/ppt/slides/slide7.xml" Id="R2873b37e0a2944d4" /><Relationship Type="http://schemas.openxmlformats.org/officeDocument/2006/relationships/slide" Target="/ppt/slides/slide8.xml" Id="Rc14613a0394c4680" /><Relationship Type="http://schemas.openxmlformats.org/officeDocument/2006/relationships/slide" Target="/ppt/slides/slide9.xml" Id="R5ac7e0df54334f1c" /><Relationship Type="http://schemas.openxmlformats.org/officeDocument/2006/relationships/slide" Target="/ppt/slides/slide10.xml" Id="R5d6a8167bf714872" /><Relationship Type="http://schemas.openxmlformats.org/officeDocument/2006/relationships/slide" Target="/ppt/slides/slide11.xml" Id="R32725d24e5c24981" /><Relationship Type="http://schemas.openxmlformats.org/officeDocument/2006/relationships/slide" Target="/ppt/slides/slide12.xml" Id="R1400731e71da4074" /><Relationship Type="http://schemas.openxmlformats.org/officeDocument/2006/relationships/slide" Target="/ppt/slides/slide13.xml" Id="Rca57b10689f44090" /><Relationship Type="http://schemas.openxmlformats.org/officeDocument/2006/relationships/slide" Target="/ppt/slides/slide14.xml" Id="R0a537648d15b4880" /><Relationship Type="http://schemas.openxmlformats.org/officeDocument/2006/relationships/slide" Target="/ppt/slides/slide15.xml" Id="R6600fb83f467404c" /><Relationship Type="http://schemas.openxmlformats.org/officeDocument/2006/relationships/slide" Target="/ppt/slides/slide16.xml" Id="Rbf4e19e15fe14e58" /><Relationship Type="http://schemas.openxmlformats.org/officeDocument/2006/relationships/slide" Target="/ppt/slides/slide17.xml" Id="Re8bd9439e2fb4b0b" /><Relationship Type="http://schemas.openxmlformats.org/officeDocument/2006/relationships/slide" Target="/ppt/slides/slide18.xml" Id="Rf3a64aa0c5934e23" /><Relationship Type="http://schemas.openxmlformats.org/officeDocument/2006/relationships/slide" Target="/ppt/slides/slide19.xml" Id="R6a3c679b6b594f9f" /><Relationship Type="http://schemas.openxmlformats.org/officeDocument/2006/relationships/slide" Target="/ppt/slides/slide20.xml" Id="Re7d052a46b224b9d" /><Relationship Type="http://schemas.openxmlformats.org/officeDocument/2006/relationships/slide" Target="/ppt/slides/slide21.xml" Id="Re28bc33389a14805" /><Relationship Type="http://schemas.openxmlformats.org/officeDocument/2006/relationships/slide" Target="/ppt/slides/slide22.xml" Id="Ra0e8c6bfc9a54cf7" /><Relationship Type="http://schemas.openxmlformats.org/officeDocument/2006/relationships/slide" Target="/ppt/slides/slide23.xml" Id="R45af4ac33cc24154" /><Relationship Type="http://schemas.openxmlformats.org/officeDocument/2006/relationships/slide" Target="/ppt/slides/slide24.xml" Id="Rb92e232d7b4d4621" /><Relationship Type="http://schemas.openxmlformats.org/officeDocument/2006/relationships/slide" Target="/ppt/slides/slide25.xml" Id="Rb437d2323ab94ca5" /><Relationship Type="http://schemas.openxmlformats.org/officeDocument/2006/relationships/slide" Target="/ppt/slides/slide26.xml" Id="R40c6969726834569" /><Relationship Type="http://schemas.openxmlformats.org/officeDocument/2006/relationships/slide" Target="/ppt/slides/slide27.xml" Id="R893968dbd3d24dff" /><Relationship Type="http://schemas.openxmlformats.org/officeDocument/2006/relationships/slide" Target="/ppt/slides/slide28.xml" Id="R0c5b577361724d68" /><Relationship Type="http://schemas.openxmlformats.org/officeDocument/2006/relationships/slide" Target="/ppt/slides/slide29.xml" Id="R7c66e195023643f6" /><Relationship Type="http://schemas.openxmlformats.org/officeDocument/2006/relationships/slide" Target="/ppt/slides/slide30.xml" Id="R8f0611ad1a1948fb" /><Relationship Type="http://schemas.openxmlformats.org/officeDocument/2006/relationships/slide" Target="/ppt/slides/slide31.xml" Id="R0056fd77af934eaa" /><Relationship Type="http://schemas.openxmlformats.org/officeDocument/2006/relationships/slide" Target="/ppt/slides/slide32.xml" Id="Rc97c8fc968a845da" /><Relationship Type="http://schemas.openxmlformats.org/officeDocument/2006/relationships/slide" Target="/ppt/slides/slide33.xml" Id="R9d1025bc07ba44ce" /><Relationship Type="http://schemas.openxmlformats.org/officeDocument/2006/relationships/slide" Target="/ppt/slides/slide34.xml" Id="R7492909b44fa40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9a801a05cb54b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2abb39ed274e5e" /><Relationship Type="http://schemas.openxmlformats.org/officeDocument/2006/relationships/notesMaster" Target="/ppt/notesMasters/notesMaster1.xml" Id="R29598914a36d41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57cd32de4b4086" /><Relationship Type="http://schemas.openxmlformats.org/officeDocument/2006/relationships/notesMaster" Target="/ppt/notesMasters/notesMaster1.xml" Id="R214f752c9e5847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a95f35e1dc4285" /><Relationship Type="http://schemas.openxmlformats.org/officeDocument/2006/relationships/notesMaster" Target="/ppt/notesMasters/notesMaster1.xml" Id="Redee41736a4c40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db13989ea244f4f" /><Relationship Type="http://schemas.openxmlformats.org/officeDocument/2006/relationships/notesMaster" Target="/ppt/notesMasters/notesMaster1.xml" Id="R1953ffa07b304b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b4a27306ff4879" /><Relationship Type="http://schemas.openxmlformats.org/officeDocument/2006/relationships/notesMaster" Target="/ppt/notesMasters/notesMaster1.xml" Id="R0a12bb04964848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d62481276b45e7" /><Relationship Type="http://schemas.openxmlformats.org/officeDocument/2006/relationships/notesMaster" Target="/ppt/notesMasters/notesMaster1.xml" Id="R60b33e18615b49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73fa2e47854d32" /><Relationship Type="http://schemas.openxmlformats.org/officeDocument/2006/relationships/notesMaster" Target="/ppt/notesMasters/notesMaster1.xml" Id="R67f7ad425abf4a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c8fa1342fe430d" /><Relationship Type="http://schemas.openxmlformats.org/officeDocument/2006/relationships/notesMaster" Target="/ppt/notesMasters/notesMaster1.xml" Id="R055ac2c7a28d48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8d08a9b96b4bce" /><Relationship Type="http://schemas.openxmlformats.org/officeDocument/2006/relationships/notesMaster" Target="/ppt/notesMasters/notesMaster1.xml" Id="R0ac2997b8eac4f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04f65150f04d5e" /><Relationship Type="http://schemas.openxmlformats.org/officeDocument/2006/relationships/notesMaster" Target="/ppt/notesMasters/notesMaster1.xml" Id="R240bec844e3445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8d8ea850e74b61" /><Relationship Type="http://schemas.openxmlformats.org/officeDocument/2006/relationships/notesMaster" Target="/ppt/notesMasters/notesMaster1.xml" Id="R1a860c53f82e4a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b4e93439d84796" /><Relationship Type="http://schemas.openxmlformats.org/officeDocument/2006/relationships/notesMaster" Target="/ppt/notesMasters/notesMaster1.xml" Id="R537f0aa854b64b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d7ca5761ae4b92" /><Relationship Type="http://schemas.openxmlformats.org/officeDocument/2006/relationships/notesMaster" Target="/ppt/notesMasters/notesMaster1.xml" Id="R632cc97083e3417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a3650326d748d2" /><Relationship Type="http://schemas.openxmlformats.org/officeDocument/2006/relationships/notesMaster" Target="/ppt/notesMasters/notesMaster1.xml" Id="Re1d08307dff8407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4a7739af3824e4f" /><Relationship Type="http://schemas.openxmlformats.org/officeDocument/2006/relationships/notesMaster" Target="/ppt/notesMasters/notesMaster1.xml" Id="Rf96f7fc0fa1849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203820800e466e" /><Relationship Type="http://schemas.openxmlformats.org/officeDocument/2006/relationships/notesMaster" Target="/ppt/notesMasters/notesMaster1.xml" Id="R246c83e3ce58449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59c2a20ae5c4085" /><Relationship Type="http://schemas.openxmlformats.org/officeDocument/2006/relationships/notesMaster" Target="/ppt/notesMasters/notesMaster1.xml" Id="Ra9e4ab986dfc497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34e694112b54bd9" /><Relationship Type="http://schemas.openxmlformats.org/officeDocument/2006/relationships/notesMaster" Target="/ppt/notesMasters/notesMaster1.xml" Id="Ra3fc2e187564419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5d8028a3cf6422b" /><Relationship Type="http://schemas.openxmlformats.org/officeDocument/2006/relationships/notesMaster" Target="/ppt/notesMasters/notesMaster1.xml" Id="R6d43387a53b44f1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03f99ee3b9b458e" /><Relationship Type="http://schemas.openxmlformats.org/officeDocument/2006/relationships/notesMaster" Target="/ppt/notesMasters/notesMaster1.xml" Id="R038310b302e74ba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b894233f0ab4ef3" /><Relationship Type="http://schemas.openxmlformats.org/officeDocument/2006/relationships/notesMaster" Target="/ppt/notesMasters/notesMaster1.xml" Id="Rb3d0b282f00948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3e3fccbb3ad4d86" /><Relationship Type="http://schemas.openxmlformats.org/officeDocument/2006/relationships/notesMaster" Target="/ppt/notesMasters/notesMaster1.xml" Id="Re613cebf52f54c9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1c133832704b74" /><Relationship Type="http://schemas.openxmlformats.org/officeDocument/2006/relationships/notesMaster" Target="/ppt/notesMasters/notesMaster1.xml" Id="R741b87b6d8e04dd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19baac6508c420c" /><Relationship Type="http://schemas.openxmlformats.org/officeDocument/2006/relationships/notesMaster" Target="/ppt/notesMasters/notesMaster1.xml" Id="R4d44415fc1fe4ac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0a78919eae4108" /><Relationship Type="http://schemas.openxmlformats.org/officeDocument/2006/relationships/notesMaster" Target="/ppt/notesMasters/notesMaster1.xml" Id="Rbeffc4314c9843a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c6eb030c3394dec" /><Relationship Type="http://schemas.openxmlformats.org/officeDocument/2006/relationships/notesMaster" Target="/ppt/notesMasters/notesMaster1.xml" Id="Rbf970fbb13f1486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97d836ee64f472e" /><Relationship Type="http://schemas.openxmlformats.org/officeDocument/2006/relationships/notesMaster" Target="/ppt/notesMasters/notesMaster1.xml" Id="R4759254ce0e74bc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9440a043ed44c57" /><Relationship Type="http://schemas.openxmlformats.org/officeDocument/2006/relationships/notesMaster" Target="/ppt/notesMasters/notesMaster1.xml" Id="R6f0994118bf4418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f1507ca00404508" /><Relationship Type="http://schemas.openxmlformats.org/officeDocument/2006/relationships/notesMaster" Target="/ppt/notesMasters/notesMaster1.xml" Id="Rb7d54ddc12f8487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7adbcb300584ab5" /><Relationship Type="http://schemas.openxmlformats.org/officeDocument/2006/relationships/notesMaster" Target="/ppt/notesMasters/notesMaster1.xml" Id="R70a47c55b5c6476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7d3a505e4954c5f" /><Relationship Type="http://schemas.openxmlformats.org/officeDocument/2006/relationships/notesMaster" Target="/ppt/notesMasters/notesMaster1.xml" Id="R873ac95ee22e4e9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63d139861d54906" /><Relationship Type="http://schemas.openxmlformats.org/officeDocument/2006/relationships/notesMaster" Target="/ppt/notesMasters/notesMaster1.xml" Id="Re9e8d7081338412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061fc1f34934761" /><Relationship Type="http://schemas.openxmlformats.org/officeDocument/2006/relationships/notesMaster" Target="/ppt/notesMasters/notesMaster1.xml" Id="R97b8d9847bff411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00fd4d6bfb84f63" /><Relationship Type="http://schemas.openxmlformats.org/officeDocument/2006/relationships/notesMaster" Target="/ppt/notesMasters/notesMaster1.xml" Id="Ra900e5ed668e44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project description. Concept artwork generated with ImageGen. It does not depict a released product. Core funding request USD 90,000, optional expansion to USD 100,000.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product strategy, October 2026. Boson Market is the Vantemio marketplace built using Boson Protocol, not an assertion that Vantemio operates the protocol itself.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reflects the founder’s experience operating content channels and the intended customer workflows. No quantified market-size or productivity claim is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post read directly in the founder’s Chrome on 5 October 2026. Author reports a 12-hour run after supplying a prompt, Midjourney and a moodboard. This does not establish 12 hours of human labor, 100 prompts, an 18-hour duration, or a comparable benchmark. The minutes-to-hours target is founder-defined and unvalidated. Manual prompting and repeated corrections are a separate problem from elapsed autonomous runtime. Source: https://x.com/anabology/status/2103534482930491441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rationale based on the existing orchestration, matrix, repair and distributed-execution design. Speedup is a hypothesis to validate, not a current measured result. Provider latency, media generation and rendering remain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integrated lifecycle. Research, production and quality components exist; full publishing and feedback integration is in development. The return arrow represents recorded feedback informing the next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synthesized from founder description and indexed orchestration/brain modules. Python core, JavaScript graphics, Node.js and Solidity commerce. The public developer API is a future product interface; internal routes already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founder-provided technical descriptions and recorded engineering evidence. Python orchestrates the engine, JavaScript supports graphics. Component implementation does not establish readiness of the entire production workflow.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Founder-reported implemented matrices and production logic. Current engineering evidence supports component work, not completed acceptance of every integrated audio/video output. No proprietary source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memory and repair mechanisms described by founder and current engineering work. This is not a claim of autonomous foundation-model training, guaranteed continuous improvement or uncontrolled code modification.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architecture instructions and current engineering status, October 2026. Three actual machines are registered. Full fleet readiness and legacy queue handoff are still under validation. No network addresses, credentials or private source are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mature operating mode. Existing engine components are still being integrated. Initial configuration does not eliminate all maintenance, exceptions or provider/platform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founder plan as of 5 October 2026: connect first YouTube channel as early as the next day; test full management within days to two weeks. Timing is an estimate, not a completed integration or external launch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Platform list and future scope supplied by founder. Posting and analytics depend on supported platform interfaces, permissions and connection validation. No claim that all listed platforms are integrated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model. Customer connections are in development and must be supported by each provider. MCP does not imply universal access to arbitrary subscription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commercial formats, not currently launched offers. Public developer API has not yet been implemented. Pricing, licensing and service terms remain to be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marketing-agency use case. SEO and full campaign automation are planned extensions, not claimed current functions. Customer-level permissions, context isolation and outcome validation are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Long-term product thesis: open-ended extensibility, not a claim that arbitrary business functions can be automated without engineering or validation. Each domain requires its own integration, permissions and acceptance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Tokenization checks existing passports to prevent duplicate publication of an accepted release. Content provenance and declared attribution do not independently establish legal authorship. Token ownership does not automatically transfer copyright. Usage rights follow the associated terms.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https://github.com/pavlichuckcrypt-maker/Vantemio/blob/main/docs/DEMO_EVIDENCE.md . Base Sepolia integration. Content passport is distinct from Boson redeemable NFT. Terms govern licensed rights; no legal guarantee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Founder-requested roadmap addition, 5 October 2026. These screening, evidence-review and enforcement integrations are not implemented or validated. Intended for original content and authorized supporting assets, including customer-created videos produced outside Vantemio. No YouTube Content ID approval, provider agreement or universal pre-upload scanning API is claimed. Content ID access is restricted to qualifying rights holders and approved partners. A match is evidence to review, not a legal ownership decision, and no match does not prove clearance. Automated and manual checks reduce risk but cannot guarantee detection of every infringement. Sources: https://support.google.com/youtube/answer/1311402?hl=en and https://support.google.com/youtube/answer/2797370?hl=en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strategy: Boson Market develops as a full standalone marketplace alongside the private studio engine. Existing source includes account separation, tokenization and testnet commerce. Independent multi-provider commercial operation is a future milestone.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Diagram summarizes intended complete service flow. Recorded testnet purchase/delivery and studio callback tests do not prove a complete production run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https://github.com/pavlichuckcrypt-maker/Vantemio/blob/main/docs/VERIFICATION.json and https://github.com/pavlichuckcrypt-maker/Vantemio/blob/main/docs/DEMO_EVIDENCE.md . Actual recorded offer 138 and exchange 261 used 25 DEMO test credits. Screenshot taken from the public recording at 25 seconds. Original recording retains earlier VidRa branding. These checks are not an independent security audit or proof of complete AI-film production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synthesized from founder statements and current engineering evidence as of October 2026. Verification record dated 4 October 2026: https://github.com/pavlichuckcrypt-maker/Vantemio/blob/main/docs/VERIFICATION.json . Tests are not an independent security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objective, not a financial forecast. Profitability depends on audience growth, monetization eligibility, demand, quality and operating costs. Current revenue is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prospective business model. All streams are planned, with no current revenue. Marketplace fees are an option for future design, not a claim that fee collection is already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proposed go-to-market plan. Customer profiles and willingness to pay remain hypotheses. The project currently has no live customer product or revenue. No invented TAM, conversion rate or acquisition-cost forecast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 official program: https://www.base.org/ecosystem-fund . The request is early-stage product funding; no grant amount, investment or acceptance is assumed. Project evidence: https://github.com/pavlichuckcrypt-maker/Vantemio/blob/main/docs/DEMO_EVIDENCE.md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planning estimate refined against current engineering work. These dates are relative to funding and are not promised completion dates. Full automation of all proposed platforms or agency types is outside the bounded first-year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Budget supplied and refined with the founder in this application workflow. USD amounts sum to 90,000. No customer video-generation expense is included. Targeted external review does not represent a full independent security audit. Allocations are preliminary budgets, not supplier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minimum requirement: existing workstation to 96 GB RAM plus 4 TB SSD. Optional additional workstation: desktop RTX 5090, 128 GB system RAM, 4 TB SSD. Additional USD 10,000 is an allowance subject to supplier quotations and workload validation. The new system is a bounded compute worker. Source for RTX 5090 32 GB VRAM: https://www.nvidia.com/en-us/geforce/graphics-cards/50-series/rtx-5090/ . Cost reference: https://www.corsair.com/us/en/c/gaming-computers/nvidia/rtx-5090 . Current cloud allowance may be rebalanced after a rent-versus-buy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biography. No previous software-development career is claimed. The founder designs the product and uses AI coding tools for implementation. BEF description: https://www.base.org/ecosystem-fund . Public source: https://github.com/pavlichuckcrypt-maker/Vantemio . Founder: https://www.linkedin.com/in/vitalii-pavlichuk-98206122a/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links verified against the public repository. No private studio code, internal machine addresses, credentials or customer data are published in this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20e87ad39947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2ecb19608b4830" /><Relationship Type="http://schemas.openxmlformats.org/officeDocument/2006/relationships/slideLayout" Target="/ppt/slideLayouts/slideLayout1.xml" Id="R1d8824b1cc07490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8824b1cc07490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c49251fd874538" /><Relationship Type="http://schemas.openxmlformats.org/officeDocument/2006/relationships/image" Target="/ppt/media/image.png" Id="Rb34eebb86e8f4e5f" /><Relationship Type="http://schemas.openxmlformats.org/officeDocument/2006/relationships/notesSlide" Target="/ppt/notesSlides/notesSlide1.xml" Id="R5f889a7e25844a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5e8390af31494d" /><Relationship Type="http://schemas.openxmlformats.org/officeDocument/2006/relationships/notesSlide" Target="/ppt/notesSlides/notesSlide2.xml" Id="Ref7c2f64dffc45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67d945cd84b4d0e" /><Relationship Type="http://schemas.openxmlformats.org/officeDocument/2006/relationships/notesSlide" Target="/ppt/notesSlides/notesSlide3.xml" Id="Rf524e70b1d7e4e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c5962ae6af4c76" /><Relationship Type="http://schemas.openxmlformats.org/officeDocument/2006/relationships/hyperlink" Target="https://x.com/anabology/status/2103534482930491441" TargetMode="External" Id="Rb7e50a4910b448ae" /><Relationship Type="http://schemas.openxmlformats.org/officeDocument/2006/relationships/notesSlide" Target="/ppt/notesSlides/notesSlide4.xml" Id="Rbc12e47152fb41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e4f1651727045a1" /><Relationship Type="http://schemas.openxmlformats.org/officeDocument/2006/relationships/notesSlide" Target="/ppt/notesSlides/notesSlide5.xml" Id="Rc80c56daf7b049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522a0f994cb45df" /><Relationship Type="http://schemas.openxmlformats.org/officeDocument/2006/relationships/notesSlide" Target="/ppt/notesSlides/notesSlide6.xml" Id="R144fa8f5e3ef48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ac3e9ae138b419e" /><Relationship Type="http://schemas.openxmlformats.org/officeDocument/2006/relationships/notesSlide" Target="/ppt/notesSlides/notesSlide7.xml" Id="R46926c616ecb46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621eb0748d34e12" /><Relationship Type="http://schemas.openxmlformats.org/officeDocument/2006/relationships/notesSlide" Target="/ppt/notesSlides/notesSlide8.xml" Id="Ra79afaf4043042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ed6751b57bf4b1c" /><Relationship Type="http://schemas.openxmlformats.org/officeDocument/2006/relationships/notesSlide" Target="/ppt/notesSlides/notesSlide9.xml" Id="R0223f60e1ef740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db9c0c55be246b5" /><Relationship Type="http://schemas.openxmlformats.org/officeDocument/2006/relationships/notesSlide" Target="/ppt/notesSlides/notesSlide10.xml" Id="R2f87356374bd453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1af1237dbb04f6b" /><Relationship Type="http://schemas.openxmlformats.org/officeDocument/2006/relationships/notesSlide" Target="/ppt/notesSlides/notesSlide11.xml" Id="R7b7db63dc37340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6e80b56c556414a" /><Relationship Type="http://schemas.openxmlformats.org/officeDocument/2006/relationships/notesSlide" Target="/ppt/notesSlides/notesSlide12.xml" Id="Re8f60d34136348b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f02cd51510c423f" /><Relationship Type="http://schemas.openxmlformats.org/officeDocument/2006/relationships/notesSlide" Target="/ppt/notesSlides/notesSlide13.xml" Id="R02f605f2e52f4e7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249c718bd744bbf" /><Relationship Type="http://schemas.openxmlformats.org/officeDocument/2006/relationships/notesSlide" Target="/ppt/notesSlides/notesSlide14.xml" Id="R9174e066f0ef4c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15b1a51ece9449e" /><Relationship Type="http://schemas.openxmlformats.org/officeDocument/2006/relationships/notesSlide" Target="/ppt/notesSlides/notesSlide15.xml" Id="R7e8aec3c95aa4ab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f8e08601e384666" /><Relationship Type="http://schemas.openxmlformats.org/officeDocument/2006/relationships/notesSlide" Target="/ppt/notesSlides/notesSlide16.xml" Id="R418f55ccf0634d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d8addaf28dc48d5" /><Relationship Type="http://schemas.openxmlformats.org/officeDocument/2006/relationships/notesSlide" Target="/ppt/notesSlides/notesSlide17.xml" Id="R1aed57701b4f4a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695d1fc70684734" /><Relationship Type="http://schemas.openxmlformats.org/officeDocument/2006/relationships/notesSlide" Target="/ppt/notesSlides/notesSlide18.xml" Id="Ra6d02d785a2b44f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69a48a6027a435b" /><Relationship Type="http://schemas.openxmlformats.org/officeDocument/2006/relationships/notesSlide" Target="/ppt/notesSlides/notesSlide19.xml" Id="R9d325931b8e847e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db28a5c50a84bfa" /><Relationship Type="http://schemas.openxmlformats.org/officeDocument/2006/relationships/notesSlide" Target="/ppt/notesSlides/notesSlide20.xml" Id="R64ca5226556247a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788f5f8268c4f7c" /><Relationship Type="http://schemas.openxmlformats.org/officeDocument/2006/relationships/notesSlide" Target="/ppt/notesSlides/notesSlide21.xml" Id="R589381b5b842423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8ad662bde7f4369" /><Relationship Type="http://schemas.openxmlformats.org/officeDocument/2006/relationships/notesSlide" Target="/ppt/notesSlides/notesSlide22.xml" Id="R4527c529d76f4b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2676ce614234066" /><Relationship Type="http://schemas.openxmlformats.org/officeDocument/2006/relationships/notesSlide" Target="/ppt/notesSlides/notesSlide23.xml" Id="R72c6e57003e0448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f6d4b0f16eb4501" /><Relationship Type="http://schemas.openxmlformats.org/officeDocument/2006/relationships/hyperlink" Target="https://github.com/pavlichuckcrypt-maker/Vantemio/blob/main/docs/VERIFICATION.json" TargetMode="External" Id="Rfc030446d66949c3" /><Relationship Type="http://schemas.openxmlformats.org/officeDocument/2006/relationships/image" Target="/ppt/media/image2.png" Id="R9fd5192c1f324c8d" /><Relationship Type="http://schemas.openxmlformats.org/officeDocument/2006/relationships/notesSlide" Target="/ppt/notesSlides/notesSlide24.xml" Id="R79780631f43046f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254753e635b4f61" /><Relationship Type="http://schemas.openxmlformats.org/officeDocument/2006/relationships/notesSlide" Target="/ppt/notesSlides/notesSlide25.xml" Id="Rcbbd3fb4307a4f5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d0e492309ca4139" /><Relationship Type="http://schemas.openxmlformats.org/officeDocument/2006/relationships/notesSlide" Target="/ppt/notesSlides/notesSlide26.xml" Id="Rffc901caea274a9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a501d3150da4f5c" /><Relationship Type="http://schemas.openxmlformats.org/officeDocument/2006/relationships/notesSlide" Target="/ppt/notesSlides/notesSlide27.xml" Id="Rc9adf9f56d1a409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29c5e640f2f4469" /><Relationship Type="http://schemas.openxmlformats.org/officeDocument/2006/relationships/notesSlide" Target="/ppt/notesSlides/notesSlide28.xml" Id="R6bfc83ace656447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21858db7d01405d" /><Relationship Type="http://schemas.openxmlformats.org/officeDocument/2006/relationships/notesSlide" Target="/ppt/notesSlides/notesSlide29.xml" Id="Rf08454b6b6514f2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f890970ff054ed2" /><Relationship Type="http://schemas.openxmlformats.org/officeDocument/2006/relationships/notesSlide" Target="/ppt/notesSlides/notesSlide30.xml" Id="R2f82787d9ca54c0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c69052b55cb427f" /><Relationship Type="http://schemas.openxmlformats.org/officeDocument/2006/relationships/notesSlide" Target="/ppt/notesSlides/notesSlide31.xml" Id="R614f0fe42ed9404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c4f0e7ae57a4df5" /><Relationship Type="http://schemas.openxmlformats.org/officeDocument/2006/relationships/notesSlide" Target="/ppt/notesSlides/notesSlide32.xml" Id="Rb34462bec259482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7135299785644ec" /><Relationship Type="http://schemas.openxmlformats.org/officeDocument/2006/relationships/hyperlink" Target="https://github.com/pavlichuckcrypt-maker/Vantemio" TargetMode="External" Id="Rdc9432ee56414c09" /><Relationship Type="http://schemas.openxmlformats.org/officeDocument/2006/relationships/hyperlink" Target="https://www.linkedin.com/in/vitalii-pavlichuk-98206122a/" TargetMode="External" Id="Rc4923a5a20cb40ba" /><Relationship Type="http://schemas.openxmlformats.org/officeDocument/2006/relationships/notesSlide" Target="/ppt/notesSlides/notesSlide33.xml" Id="Rfcfd0a86af634d5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0d451a466f1458d" /><Relationship Type="http://schemas.openxmlformats.org/officeDocument/2006/relationships/hyperlink" Target="https://github.com/pavlichuckcrypt-maker/Vantemio" TargetMode="External" Id="Rc077acb878344209" /><Relationship Type="http://schemas.openxmlformats.org/officeDocument/2006/relationships/hyperlink" Target="https://github.com/pavlichuckcrypt-maker/Vantemio/blob/main/docs/VERIFICATION.json" TargetMode="External" Id="R7a06df5ca45e4040" /><Relationship Type="http://schemas.openxmlformats.org/officeDocument/2006/relationships/hyperlink" Target="https://github.com/pavlichuckcrypt-maker/Vantemio/blob/main/docs/DEMO_EVIDENCE.md" TargetMode="External" Id="R820f80b23e004e48" /><Relationship Type="http://schemas.openxmlformats.org/officeDocument/2006/relationships/hyperlink" Target="https://github.com/pavlichuckcrypt-maker/Vantemio/blob/main/demo/VIDRA_METAMASK_BOSON_DEMO_EN.mp4" TargetMode="External" Id="R6e58ccbbe20f459a" /><Relationship Type="http://schemas.openxmlformats.org/officeDocument/2006/relationships/hyperlink" Target="https://www.linkedin.com/in/vitalii-pavlichuk-98206122a/" TargetMode="External" Id="R2f7c5a567ca74be3" /><Relationship Type="http://schemas.openxmlformats.org/officeDocument/2006/relationships/notesSlide" Target="/ppt/notesSlides/notesSlide34.xml" Id="R1851d30f36f14b0b" /></Relationships>
</file>

<file path=ppt/slides/slide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34eebb86e8f4e5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EBC634B-5696-402D-9189-0442660AE9F8}"/>
              </a:ext>
            </a:extLst>
          </p:cNvPr>
          <p:cNvSpPr>
            <a:spLocks xmlns:a="http://schemas.openxmlformats.org/drawingml/2006/main" noGrp="1"/>
          </p:cNvSpPr>
          <p:nvPr/>
        </p:nvSpPr>
        <p:spPr>
          <a:xfrm xmlns:a="http://schemas.openxmlformats.org/drawingml/2006/main">
            <a:off x="609600" y="1000125"/>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FFFFFF"/>
                </a:solidFill>
                <a:latin typeface="Helvetica Neue"/>
                <a:ea typeface="Helvetica Neue"/>
                <a:cs typeface="Helvetica Neue"/>
              </a:defRPr>
            </a:pPr>
            <a:r>
              <a:rPr sz="6600" b="1">
                <a:solidFill>
                  <a:srgbClr val="FFFFFF"/>
                </a:solidFill>
                <a:latin typeface="Helvetica Neue"/>
                <a:ea typeface="Helvetica Neue"/>
                <a:cs typeface="Helvetica Neue"/>
              </a:rPr>
              <a:t>Vantemio</a:t>
            </a:r>
          </a:p>
        </p:txBody>
      </p:sp>
      <p:sp>
        <p:nvSpPr>
          <p:cNvPr id="3" name="">
            <a:extLst xmlns:a="http://schemas.openxmlformats.org/drawingml/2006/main">
              <a:ext uri="{FF2B5EF4-FFF2-40B4-BE49-F238E27FC236}">
                <a16:creationId xmlns:a16="http://schemas.microsoft.com/office/drawing/2014/main" id="{8347E96B-6CFD-48E2-9DA6-6DF6AF6B9CBE}"/>
              </a:ext>
            </a:extLst>
          </p:cNvPr>
          <p:cNvSpPr>
            <a:spLocks xmlns:a="http://schemas.openxmlformats.org/drawingml/2006/main" noGrp="1"/>
          </p:cNvSpPr>
          <p:nvPr/>
        </p:nvSpPr>
        <p:spPr>
          <a:xfrm xmlns:a="http://schemas.openxmlformats.org/drawingml/2006/main">
            <a:off x="647700" y="2333625"/>
            <a:ext cx="7810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 software engine for automated</a:t>
            </a:r>
          </a:p>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digital services</a:t>
            </a:r>
          </a:p>
        </p:txBody>
      </p:sp>
      <p:sp>
        <p:nvSpPr>
          <p:cNvPr id="4" name="">
            <a:extLst xmlns:a="http://schemas.openxmlformats.org/drawingml/2006/main">
              <a:ext uri="{FF2B5EF4-FFF2-40B4-BE49-F238E27FC236}">
                <a16:creationId xmlns:a16="http://schemas.microsoft.com/office/drawing/2014/main" id="{9D7FE813-E030-425C-945B-65F94CD7A3E6}"/>
              </a:ext>
            </a:extLst>
          </p:cNvPr>
          <p:cNvSpPr>
            <a:spLocks xmlns:a="http://schemas.openxmlformats.org/drawingml/2006/main" noGrp="1"/>
          </p:cNvSpPr>
          <p:nvPr/>
        </p:nvSpPr>
        <p:spPr>
          <a:xfrm xmlns:a="http://schemas.openxmlformats.org/drawingml/2006/main">
            <a:off x="647700" y="4905375"/>
            <a:ext cx="4572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Pre-seed proposal</a:t>
            </a:r>
          </a:p>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October 2026</a:t>
            </a:r>
          </a:p>
        </p:txBody>
      </p:sp>
      <p:sp>
        <p:nvSpPr>
          <p:cNvPr id="5" name="">
            <a:extLst xmlns:a="http://schemas.openxmlformats.org/drawingml/2006/main">
              <a:ext uri="{FF2B5EF4-FFF2-40B4-BE49-F238E27FC236}">
                <a16:creationId xmlns:a16="http://schemas.microsoft.com/office/drawing/2014/main" id="{40E911CC-7628-4740-8BFE-7B39F72A3A16}"/>
              </a:ext>
            </a:extLst>
          </p:cNvPr>
          <p:cNvSpPr>
            <a:spLocks xmlns:a="http://schemas.openxmlformats.org/drawingml/2006/main" noGrp="1"/>
          </p:cNvSpPr>
          <p:nvPr/>
        </p:nvSpPr>
        <p:spPr>
          <a:xfrm xmlns:a="http://schemas.openxmlformats.org/drawingml/2006/main">
            <a:off x="647700" y="58293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Vitalii Pavlichuk</a:t>
            </a:r>
          </a:p>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Founder and Product Architect</a:t>
            </a:r>
          </a:p>
        </p:txBody>
      </p:sp>
    </p:spTree>
    <p:extLst>
      <p:ext uri="{BB962C8B-B14F-4D97-AF65-F5344CB8AC3E}">
        <p14:creationId xmlns:p14="http://schemas.microsoft.com/office/powerpoint/2010/main" val="657668598"/>
      </p:ext>
    </p:extLst>
  </p:cSld>
</p:sld>
</file>

<file path=ppt/slides/slide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842F0A-D4F4-4406-A04F-778F9685D52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One engine. Two product lines.</a:t>
            </a:r>
          </a:p>
        </p:txBody>
      </p:sp>
      <p:sp>
        <p:nvSpPr>
          <p:cNvPr id="2" name="">
            <a:extLst xmlns:a="http://schemas.openxmlformats.org/drawingml/2006/main">
              <a:ext uri="{FF2B5EF4-FFF2-40B4-BE49-F238E27FC236}">
                <a16:creationId xmlns:a16="http://schemas.microsoft.com/office/drawing/2014/main" id="{F14F20FC-9B92-4C00-A631-1933F725A63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3221A7B1-DF05-4617-8A79-461F0AEC7478}"/>
              </a:ext>
            </a:extLst>
          </p:cNvPr>
          <p:cNvSpPr>
            <a:spLocks xmlns:a="http://schemas.openxmlformats.org/drawingml/2006/main" noGrp="1"/>
          </p:cNvSpPr>
          <p:nvPr/>
        </p:nvSpPr>
        <p:spPr>
          <a:xfrm xmlns:a="http://schemas.openxmlformats.org/drawingml/2006/main">
            <a:off x="609600" y="16002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56DBD0"/>
                </a:solidFill>
                <a:latin typeface="Helvetica Neue"/>
                <a:ea typeface="Helvetica Neue"/>
                <a:cs typeface="Helvetica Neue"/>
              </a:defRPr>
            </a:pPr>
            <a:r>
              <a:rPr sz="2850" b="1">
                <a:solidFill>
                  <a:srgbClr val="56DBD0"/>
                </a:solidFill>
                <a:latin typeface="Helvetica Neue"/>
                <a:ea typeface="Helvetica Neue"/>
                <a:cs typeface="Helvetica Neue"/>
              </a:rPr>
              <a:t>Reusable orchestration and execution core</a:t>
            </a:r>
          </a:p>
        </p:txBody>
      </p:sp>
      <p:sp>
        <p:nvSpPr>
          <p:cNvPr id="4" name="">
            <a:extLst xmlns:a="http://schemas.openxmlformats.org/drawingml/2006/main">
              <a:ext uri="{FF2B5EF4-FFF2-40B4-BE49-F238E27FC236}">
                <a16:creationId xmlns:a16="http://schemas.microsoft.com/office/drawing/2014/main" id="{D74D4782-E7AF-41B7-BEFE-8B5B2F3E46E6}"/>
              </a:ext>
            </a:extLst>
          </p:cNvPr>
          <p:cNvSpPr>
            <a:spLocks xmlns:a="http://schemas.openxmlformats.org/drawingml/2006/main" noGrp="1"/>
          </p:cNvSpPr>
          <p:nvPr/>
        </p:nvSpPr>
        <p:spPr>
          <a:xfrm xmlns:a="http://schemas.openxmlformats.org/drawingml/2006/main">
            <a:off x="609600" y="233362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Coordinates work, preserves context, validates results and connects outputs to delivery and commerce.</a:t>
            </a:r>
          </a:p>
        </p:txBody>
      </p:sp>
      <p:sp>
        <p:nvSpPr>
          <p:cNvPr id="5" name="">
            <a:extLst xmlns:a="http://schemas.openxmlformats.org/drawingml/2006/main">
              <a:ext uri="{FF2B5EF4-FFF2-40B4-BE49-F238E27FC236}">
                <a16:creationId xmlns:a16="http://schemas.microsoft.com/office/drawing/2014/main" id="{182B4112-15F5-4FC0-BEBF-14EDB9BA07F8}"/>
              </a:ext>
            </a:extLst>
          </p:cNvPr>
          <p:cNvSpPr>
            <a:spLocks xmlns:a="http://schemas.openxmlformats.org/drawingml/2006/main" noGrp="1"/>
          </p:cNvSpPr>
          <p:nvPr/>
        </p:nvSpPr>
        <p:spPr>
          <a:xfrm xmlns:a="http://schemas.openxmlformats.org/drawingml/2006/main">
            <a:off x="609600"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Studio</a:t>
            </a:r>
          </a:p>
        </p:txBody>
      </p:sp>
      <p:sp>
        <p:nvSpPr>
          <p:cNvPr id="6" name="">
            <a:extLst xmlns:a="http://schemas.openxmlformats.org/drawingml/2006/main">
              <a:ext uri="{FF2B5EF4-FFF2-40B4-BE49-F238E27FC236}">
                <a16:creationId xmlns:a16="http://schemas.microsoft.com/office/drawing/2014/main" id="{712EB368-69E9-487C-8455-8C66A1E8EB71}"/>
              </a:ext>
            </a:extLst>
          </p:cNvPr>
          <p:cNvSpPr>
            <a:spLocks xmlns:a="http://schemas.openxmlformats.org/drawingml/2006/main" noGrp="1"/>
          </p:cNvSpPr>
          <p:nvPr/>
        </p:nvSpPr>
        <p:spPr>
          <a:xfrm xmlns:a="http://schemas.openxmlformats.org/drawingml/2006/main">
            <a:off x="609600"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Video production is the first application. Social-media operations and business-specific automation expand the same engine.</a:t>
            </a:r>
          </a:p>
        </p:txBody>
      </p:sp>
      <p:sp>
        <p:nvSpPr>
          <p:cNvPr id="7" name="">
            <a:extLst xmlns:a="http://schemas.openxmlformats.org/drawingml/2006/main">
              <a:ext uri="{FF2B5EF4-FFF2-40B4-BE49-F238E27FC236}">
                <a16:creationId xmlns:a16="http://schemas.microsoft.com/office/drawing/2014/main" id="{8599C0EB-E4AE-4B65-AF7C-627E5119D085}"/>
              </a:ext>
            </a:extLst>
          </p:cNvPr>
          <p:cNvSpPr>
            <a:spLocks xmlns:a="http://schemas.openxmlformats.org/drawingml/2006/main" noGrp="1"/>
          </p:cNvSpPr>
          <p:nvPr/>
        </p:nvSpPr>
        <p:spPr>
          <a:xfrm xmlns:a="http://schemas.openxmlformats.org/drawingml/2006/main">
            <a:off x="6429375"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Boson Market</a:t>
            </a:r>
          </a:p>
        </p:txBody>
      </p:sp>
      <p:sp>
        <p:nvSpPr>
          <p:cNvPr id="8" name="">
            <a:extLst xmlns:a="http://schemas.openxmlformats.org/drawingml/2006/main">
              <a:ext uri="{FF2B5EF4-FFF2-40B4-BE49-F238E27FC236}">
                <a16:creationId xmlns:a16="http://schemas.microsoft.com/office/drawing/2014/main" id="{2CC3315B-6EDD-4DEE-A1C5-5991B465FAB5}"/>
              </a:ext>
            </a:extLst>
          </p:cNvPr>
          <p:cNvSpPr>
            <a:spLocks xmlns:a="http://schemas.openxmlformats.org/drawingml/2006/main" noGrp="1"/>
          </p:cNvSpPr>
          <p:nvPr/>
        </p:nvSpPr>
        <p:spPr>
          <a:xfrm xmlns:a="http://schemas.openxmlformats.org/drawingml/2006/main">
            <a:off x="6429375"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marketplace for studio services and digital assets, with its own roadmap toward an independent multi-provider platform.</a:t>
            </a:r>
          </a:p>
        </p:txBody>
      </p:sp>
      <p:sp>
        <p:nvSpPr>
          <p:cNvPr id="9" name="">
            <a:extLst xmlns:a="http://schemas.openxmlformats.org/drawingml/2006/main">
              <a:ext uri="{FF2B5EF4-FFF2-40B4-BE49-F238E27FC236}">
                <a16:creationId xmlns:a16="http://schemas.microsoft.com/office/drawing/2014/main" id="{D3357436-1EF3-4A22-B340-D15605D3B100}"/>
              </a:ext>
            </a:extLst>
          </p:cNvPr>
          <p:cNvSpPr>
            <a:spLocks xmlns:a="http://schemas.openxmlformats.org/drawingml/2006/main" noGrp="1"/>
          </p:cNvSpPr>
          <p:nvPr/>
        </p:nvSpPr>
        <p:spPr>
          <a:xfrm xmlns:a="http://schemas.openxmlformats.org/drawingml/2006/main">
            <a:off x="609600" y="59721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Current stage: implemented components and testnet demos; integrated product under development.</a:t>
            </a:r>
          </a:p>
        </p:txBody>
      </p:sp>
    </p:spTree>
    <p:extLst>
      <p:ext uri="{BB962C8B-B14F-4D97-AF65-F5344CB8AC3E}">
        <p14:creationId xmlns:p14="http://schemas.microsoft.com/office/powerpoint/2010/main" val="1671854558"/>
      </p:ext>
    </p:extLst>
  </p:cSld>
</p:sld>
</file>

<file path=ppt/slides/slide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7E034-A74A-4D60-B5F2-309AE91CB72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production problem</a:t>
            </a:r>
          </a:p>
        </p:txBody>
      </p:sp>
      <p:sp>
        <p:nvSpPr>
          <p:cNvPr id="2" name="">
            <a:extLst xmlns:a="http://schemas.openxmlformats.org/drawingml/2006/main">
              <a:ext uri="{FF2B5EF4-FFF2-40B4-BE49-F238E27FC236}">
                <a16:creationId xmlns:a16="http://schemas.microsoft.com/office/drawing/2014/main" id="{6DDD670E-F2D8-42F8-AC3D-753424B3530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DCAE91B3-86DC-433A-9A1F-780B62DCE014}"/>
              </a:ext>
            </a:extLst>
          </p:cNvPr>
          <p:cNvSpPr>
            <a:spLocks xmlns:a="http://schemas.openxmlformats.org/drawingml/2006/main" noGrp="1"/>
          </p:cNvSpPr>
          <p:nvPr/>
        </p:nvSpPr>
        <p:spPr>
          <a:xfrm xmlns:a="http://schemas.openxmlformats.org/drawingml/2006/main">
            <a:off x="609600" y="161925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Manual handoffs</a:t>
            </a:r>
          </a:p>
        </p:txBody>
      </p:sp>
      <p:sp>
        <p:nvSpPr>
          <p:cNvPr id="4" name="">
            <a:extLst xmlns:a="http://schemas.openxmlformats.org/drawingml/2006/main">
              <a:ext uri="{FF2B5EF4-FFF2-40B4-BE49-F238E27FC236}">
                <a16:creationId xmlns:a16="http://schemas.microsoft.com/office/drawing/2014/main" id="{26E54E8E-20BA-46C2-98D6-6D6F79121A0A}"/>
              </a:ext>
            </a:extLst>
          </p:cNvPr>
          <p:cNvSpPr>
            <a:spLocks xmlns:a="http://schemas.openxmlformats.org/drawingml/2006/main" noGrp="1"/>
          </p:cNvSpPr>
          <p:nvPr/>
        </p:nvSpPr>
        <p:spPr>
          <a:xfrm xmlns:a="http://schemas.openxmlformats.org/drawingml/2006/main">
            <a:off x="609600" y="211455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Creators move research, scripts, assets and editing instructions between disconnected tools.</a:t>
            </a:r>
          </a:p>
        </p:txBody>
      </p:sp>
      <p:sp>
        <p:nvSpPr>
          <p:cNvPr id="5" name="">
            <a:extLst xmlns:a="http://schemas.openxmlformats.org/drawingml/2006/main">
              <a:ext uri="{FF2B5EF4-FFF2-40B4-BE49-F238E27FC236}">
                <a16:creationId xmlns:a16="http://schemas.microsoft.com/office/drawing/2014/main" id="{1835E219-C93D-4C3A-A750-1BABCA30DAD9}"/>
              </a:ext>
            </a:extLst>
          </p:cNvPr>
          <p:cNvSpPr>
            <a:spLocks xmlns:a="http://schemas.openxmlformats.org/drawingml/2006/main" noGrp="1"/>
          </p:cNvSpPr>
          <p:nvPr/>
        </p:nvSpPr>
        <p:spPr>
          <a:xfrm xmlns:a="http://schemas.openxmlformats.org/drawingml/2006/main">
            <a:off x="609600" y="30956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Feedback gets lost</a:t>
            </a:r>
          </a:p>
        </p:txBody>
      </p:sp>
      <p:sp>
        <p:nvSpPr>
          <p:cNvPr id="6" name="">
            <a:extLst xmlns:a="http://schemas.openxmlformats.org/drawingml/2006/main">
              <a:ext uri="{FF2B5EF4-FFF2-40B4-BE49-F238E27FC236}">
                <a16:creationId xmlns:a16="http://schemas.microsoft.com/office/drawing/2014/main" id="{A7572D76-0098-4B19-BAB1-4F50C63D14C8}"/>
              </a:ext>
            </a:extLst>
          </p:cNvPr>
          <p:cNvSpPr>
            <a:spLocks xmlns:a="http://schemas.openxmlformats.org/drawingml/2006/main" noGrp="1"/>
          </p:cNvSpPr>
          <p:nvPr/>
        </p:nvSpPr>
        <p:spPr>
          <a:xfrm xmlns:a="http://schemas.openxmlformats.org/drawingml/2006/main">
            <a:off x="609600" y="3590925"/>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Audience response and production failures rarely become reusable instructions for the next project.</a:t>
            </a:r>
          </a:p>
        </p:txBody>
      </p:sp>
      <p:sp>
        <p:nvSpPr>
          <p:cNvPr id="7" name="">
            <a:extLst xmlns:a="http://schemas.openxmlformats.org/drawingml/2006/main">
              <a:ext uri="{FF2B5EF4-FFF2-40B4-BE49-F238E27FC236}">
                <a16:creationId xmlns:a16="http://schemas.microsoft.com/office/drawing/2014/main" id="{86E198E1-90C2-47EA-BC14-F5061E7A56DD}"/>
              </a:ext>
            </a:extLst>
          </p:cNvPr>
          <p:cNvSpPr>
            <a:spLocks xmlns:a="http://schemas.openxmlformats.org/drawingml/2006/main" noGrp="1"/>
          </p:cNvSpPr>
          <p:nvPr/>
        </p:nvSpPr>
        <p:spPr>
          <a:xfrm xmlns:a="http://schemas.openxmlformats.org/drawingml/2006/main">
            <a:off x="609600" y="468630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Delivery adds another workflow</a:t>
            </a:r>
          </a:p>
        </p:txBody>
      </p:sp>
      <p:sp>
        <p:nvSpPr>
          <p:cNvPr id="8" name="">
            <a:extLst xmlns:a="http://schemas.openxmlformats.org/drawingml/2006/main">
              <a:ext uri="{FF2B5EF4-FFF2-40B4-BE49-F238E27FC236}">
                <a16:creationId xmlns:a16="http://schemas.microsoft.com/office/drawing/2014/main" id="{922D2F28-3F5C-4BB1-BF86-B57D4D23B187}"/>
              </a:ext>
            </a:extLst>
          </p:cNvPr>
          <p:cNvSpPr>
            <a:spLocks xmlns:a="http://schemas.openxmlformats.org/drawingml/2006/main" noGrp="1"/>
          </p:cNvSpPr>
          <p:nvPr/>
        </p:nvSpPr>
        <p:spPr>
          <a:xfrm xmlns:a="http://schemas.openxmlformats.org/drawingml/2006/main">
            <a:off x="609600" y="5181600"/>
            <a:ext cx="7620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An order must connect to the accepted version, buyer entitlement and the correct delivered file.</a:t>
            </a:r>
          </a:p>
        </p:txBody>
      </p:sp>
      <p:sp>
        <p:nvSpPr>
          <p:cNvPr id="9" name="">
            <a:extLst xmlns:a="http://schemas.openxmlformats.org/drawingml/2006/main">
              <a:ext uri="{FF2B5EF4-FFF2-40B4-BE49-F238E27FC236}">
                <a16:creationId xmlns:a16="http://schemas.microsoft.com/office/drawing/2014/main" id="{8E3320FD-C866-437F-92B3-C67408F5F003}"/>
              </a:ext>
            </a:extLst>
          </p:cNvPr>
          <p:cNvSpPr>
            <a:spLocks xmlns:a="http://schemas.openxmlformats.org/drawingml/2006/main" noGrp="1"/>
          </p:cNvSpPr>
          <p:nvPr/>
        </p:nvSpPr>
        <p:spPr>
          <a:xfrm xmlns:a="http://schemas.openxmlformats.org/drawingml/2006/main">
            <a:off x="9048750" y="1952625"/>
            <a:ext cx="257175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Creators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Small studios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Agencies</a:t>
            </a:r>
          </a:p>
        </p:txBody>
      </p:sp>
    </p:spTree>
    <p:extLst>
      <p:ext uri="{BB962C8B-B14F-4D97-AF65-F5344CB8AC3E}">
        <p14:creationId xmlns:p14="http://schemas.microsoft.com/office/powerpoint/2010/main" val="42476684"/>
      </p:ext>
    </p:extLst>
  </p:cSld>
</p:sld>
</file>

<file path=ppt/slides/slide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04A3CE-2C80-48D8-8CD7-731DB3B3630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Short videos can still require long production runs</a:t>
            </a:r>
          </a:p>
        </p:txBody>
      </p:sp>
      <p:sp>
        <p:nvSpPr>
          <p:cNvPr id="2" name="">
            <a:extLst xmlns:a="http://schemas.openxmlformats.org/drawingml/2006/main">
              <a:ext uri="{FF2B5EF4-FFF2-40B4-BE49-F238E27FC236}">
                <a16:creationId xmlns:a16="http://schemas.microsoft.com/office/drawing/2014/main" id="{8338C570-D288-41BF-BD9A-B77B408436E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5E788DDB-C1F7-44CE-AADB-8D5676B25739}"/>
              </a:ext>
            </a:extLst>
          </p:cNvPr>
          <p:cNvSpPr>
            <a:spLocks xmlns:a="http://schemas.openxmlformats.org/drawingml/2006/main" noGrp="1"/>
          </p:cNvSpPr>
          <p:nvPr/>
        </p:nvSpPr>
        <p:spPr>
          <a:xfrm xmlns:a="http://schemas.openxmlformats.org/drawingml/2006/main">
            <a:off x="609600"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025" b="1">
                <a:solidFill>
                  <a:srgbClr val="61A3FF"/>
                </a:solidFill>
                <a:latin typeface="Helvetica Neue"/>
                <a:ea typeface="Helvetica Neue"/>
                <a:cs typeface="Helvetica Neue"/>
              </a:defRPr>
            </a:pPr>
            <a:r>
              <a:rPr sz="5025" b="1">
                <a:solidFill>
                  <a:srgbClr val="61A3FF"/>
                </a:solidFill>
                <a:latin typeface="Helvetica Neue"/>
                <a:ea typeface="Helvetica Neue"/>
                <a:cs typeface="Helvetica Neue"/>
              </a:rPr>
              <a:t>12 hours</a:t>
            </a:r>
          </a:p>
        </p:txBody>
      </p:sp>
      <p:sp>
        <p:nvSpPr>
          <p:cNvPr id="4" name="">
            <a:extLst xmlns:a="http://schemas.openxmlformats.org/drawingml/2006/main">
              <a:ext uri="{FF2B5EF4-FFF2-40B4-BE49-F238E27FC236}">
                <a16:creationId xmlns:a16="http://schemas.microsoft.com/office/drawing/2014/main" id="{010DF9D6-24D9-44A3-8BDD-925A7493C888}"/>
              </a:ext>
            </a:extLst>
          </p:cNvPr>
          <p:cNvSpPr>
            <a:spLocks xmlns:a="http://schemas.openxmlformats.org/drawingml/2006/main" noGrp="1"/>
          </p:cNvSpPr>
          <p:nvPr/>
        </p:nvSpPr>
        <p:spPr>
          <a:xfrm xmlns:a="http://schemas.openxmlformats.org/drawingml/2006/main">
            <a:off x="609600" y="2819400"/>
            <a:ext cx="509587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Reported by @anabology for an AI-directed video produced from a prompt, tools and a moodboard.</a:t>
            </a:r>
          </a:p>
        </p:txBody>
      </p:sp>
      <p:sp>
        <p:nvSpPr>
          <p:cNvPr id="5" name="">
            <a:extLst xmlns:a="http://schemas.openxmlformats.org/drawingml/2006/main">
              <a:ext uri="{FF2B5EF4-FFF2-40B4-BE49-F238E27FC236}">
                <a16:creationId xmlns:a16="http://schemas.microsoft.com/office/drawing/2014/main" id="{BBA2B1A5-3B8A-416E-86FA-4C82FE8D4F94}"/>
              </a:ext>
            </a:extLst>
          </p:cNvPr>
          <p:cNvSpPr>
            <a:spLocks xmlns:a="http://schemas.openxmlformats.org/drawingml/2006/main" noGrp="1"/>
          </p:cNvSpPr>
          <p:nvPr/>
        </p:nvSpPr>
        <p:spPr>
          <a:xfrm xmlns:a="http://schemas.openxmlformats.org/drawingml/2006/main">
            <a:off x="6429375"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56DBD0"/>
                </a:solidFill>
                <a:latin typeface="Helvetica Neue"/>
                <a:ea typeface="Helvetica Neue"/>
                <a:cs typeface="Helvetica Neue"/>
              </a:defRPr>
            </a:pPr>
            <a:r>
              <a:rPr sz="3975" b="1">
                <a:solidFill>
                  <a:srgbClr val="56DBD0"/>
                </a:solidFill>
                <a:latin typeface="Helvetica Neue"/>
                <a:ea typeface="Helvetica Neue"/>
                <a:cs typeface="Helvetica Neue"/>
              </a:rPr>
              <a:t>Minutes to hours</a:t>
            </a:r>
          </a:p>
        </p:txBody>
      </p:sp>
      <p:sp>
        <p:nvSpPr>
          <p:cNvPr id="6" name="">
            <a:extLst xmlns:a="http://schemas.openxmlformats.org/drawingml/2006/main">
              <a:ext uri="{FF2B5EF4-FFF2-40B4-BE49-F238E27FC236}">
                <a16:creationId xmlns:a16="http://schemas.microsoft.com/office/drawing/2014/main" id="{7AF5144D-5B69-4E71-9E0F-3A7A1FAA6DCD}"/>
              </a:ext>
            </a:extLst>
          </p:cNvPr>
          <p:cNvSpPr>
            <a:spLocks xmlns:a="http://schemas.openxmlformats.org/drawingml/2006/main" noGrp="1"/>
          </p:cNvSpPr>
          <p:nvPr/>
        </p:nvSpPr>
        <p:spPr>
          <a:xfrm xmlns:a="http://schemas.openxmlformats.org/drawingml/2006/main">
            <a:off x="6429375" y="2819400"/>
            <a:ext cx="5095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Vantemio target: tens of minutes for simpler work and a few hours for more complex productions, depending on assets, hardware and rendering.</a:t>
            </a:r>
          </a:p>
        </p:txBody>
      </p:sp>
      <p:sp>
        <p:nvSpPr>
          <p:cNvPr id="7" name="">
            <a:extLst xmlns:a="http://schemas.openxmlformats.org/drawingml/2006/main">
              <a:ext uri="{FF2B5EF4-FFF2-40B4-BE49-F238E27FC236}">
                <a16:creationId xmlns:a16="http://schemas.microsoft.com/office/drawing/2014/main" id="{C19009B6-5983-49EA-AC38-C41E66167CB2}"/>
              </a:ext>
            </a:extLst>
          </p:cNvPr>
          <p:cNvSpPr>
            <a:spLocks xmlns:a="http://schemas.openxmlformats.org/drawingml/2006/main" noGrp="1"/>
          </p:cNvSpPr>
          <p:nvPr/>
        </p:nvSpPr>
        <p:spPr>
          <a:xfrm xmlns:a="http://schemas.openxmlformats.org/drawingml/2006/main">
            <a:off x="609600" y="490537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EAF1F5"/>
                </a:solidFill>
                <a:latin typeface="Helvetica Neue"/>
                <a:ea typeface="Helvetica Neue"/>
                <a:cs typeface="Helvetica Neue"/>
              </a:defRPr>
            </a:pPr>
            <a:r>
              <a:rPr sz="2175" b="1">
                <a:solidFill>
                  <a:srgbClr val="EAF1F5"/>
                </a:solidFill>
                <a:latin typeface="Helvetica Neue"/>
                <a:ea typeface="Helvetica Neue"/>
                <a:cs typeface="Helvetica Neue"/>
              </a:rPr>
              <a:t>Reduce manual prompting, repeated corrections and avoidable rework; measure graphics and final-render time separately.</a:t>
            </a:r>
          </a:p>
        </p:txBody>
      </p:sp>
      <p:sp>
        <p:nvSpPr>
          <p:cNvPr id="8" name="">
            <a:extLst xmlns:a="http://schemas.openxmlformats.org/drawingml/2006/main">
              <a:ext uri="{FF2B5EF4-FFF2-40B4-BE49-F238E27FC236}">
                <a16:creationId xmlns:a16="http://schemas.microsoft.com/office/drawing/2014/main" id="{2E764D06-77E7-4857-8D78-225CD736FA24}"/>
              </a:ext>
            </a:extLst>
          </p:cNvPr>
          <p:cNvSpPr>
            <a:spLocks xmlns:a="http://schemas.openxmlformats.org/drawingml/2006/main" noGrp="1"/>
          </p:cNvSpPr>
          <p:nvPr/>
        </p:nvSpPr>
        <p:spPr>
          <a:xfrm xmlns:a="http://schemas.openxmlformats.org/drawingml/2006/main">
            <a:off x="609600" y="600075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61A3FF"/>
                </a:solidFill>
                <a:latin typeface="Helvetica Neue"/>
                <a:ea typeface="Helvetica Neue"/>
                <a:cs typeface="Helvetica Neue"/>
              </a:defRPr>
            </a:pPr>
            <a:r>
              <a:rPr sz="1650" b="0">
                <a:solidFill>
                  <a:srgbClr val="61A3FF"/>
                </a:solidFill>
                <a:latin typeface="Helvetica Neue"/>
                <a:ea typeface="Helvetica Neue"/>
                <a:cs typeface="Helvetica Neue"/>
                <a:hlinkClick xmlns:r="http://schemas.openxmlformats.org/officeDocument/2006/relationships" r:id="Rb7e50a4910b448ae"/>
              </a:rPr>
              <a:t>Reference: @anabology’s production example</a:t>
            </a:r>
          </a:p>
        </p:txBody>
      </p:sp>
    </p:spTree>
    <p:extLst>
      <p:ext uri="{BB962C8B-B14F-4D97-AF65-F5344CB8AC3E}">
        <p14:creationId xmlns:p14="http://schemas.microsoft.com/office/powerpoint/2010/main" val="1166809416"/>
      </p:ext>
    </p:extLst>
  </p:cSld>
</p:sld>
</file>

<file path=ppt/slides/slide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5B7C60-2205-44F6-A5FF-28A02532A54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How production time should decrease</a:t>
            </a:r>
          </a:p>
        </p:txBody>
      </p:sp>
      <p:sp>
        <p:nvSpPr>
          <p:cNvPr id="2" name="">
            <a:extLst xmlns:a="http://schemas.openxmlformats.org/drawingml/2006/main">
              <a:ext uri="{FF2B5EF4-FFF2-40B4-BE49-F238E27FC236}">
                <a16:creationId xmlns:a16="http://schemas.microsoft.com/office/drawing/2014/main" id="{049FCD03-3436-46E5-89C8-5ADED9355BA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59C163DE-37B1-446B-84C5-89D080FE624A}"/>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Plan before execution</a:t>
            </a:r>
          </a:p>
        </p:txBody>
      </p:sp>
      <p:sp>
        <p:nvSpPr>
          <p:cNvPr id="4" name="">
            <a:extLst xmlns:a="http://schemas.openxmlformats.org/drawingml/2006/main">
              <a:ext uri="{FF2B5EF4-FFF2-40B4-BE49-F238E27FC236}">
                <a16:creationId xmlns:a16="http://schemas.microsoft.com/office/drawing/2014/main" id="{77F1A77B-717C-431D-B532-96FFFBD29D55}"/>
              </a:ext>
            </a:extLst>
          </p:cNvPr>
          <p:cNvSpPr>
            <a:spLocks xmlns:a="http://schemas.openxmlformats.org/drawingml/2006/main" noGrp="1"/>
          </p:cNvSpPr>
          <p:nvPr/>
        </p:nvSpPr>
        <p:spPr>
          <a:xfrm xmlns:a="http://schemas.openxmlformats.org/drawingml/2006/main">
            <a:off x="609600"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structured scene and sound plans so downstream tasks receive consistent requirements and asset identities.</a:t>
            </a:r>
          </a:p>
        </p:txBody>
      </p:sp>
      <p:sp>
        <p:nvSpPr>
          <p:cNvPr id="5" name="">
            <a:extLst xmlns:a="http://schemas.openxmlformats.org/drawingml/2006/main">
              <a:ext uri="{FF2B5EF4-FFF2-40B4-BE49-F238E27FC236}">
                <a16:creationId xmlns:a16="http://schemas.microsoft.com/office/drawing/2014/main" id="{4EEBD00F-8791-4820-866F-E4B09FD37D20}"/>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Repair only failed work</a:t>
            </a:r>
          </a:p>
        </p:txBody>
      </p:sp>
      <p:sp>
        <p:nvSpPr>
          <p:cNvPr id="6" name="">
            <a:extLst xmlns:a="http://schemas.openxmlformats.org/drawingml/2006/main">
              <a:ext uri="{FF2B5EF4-FFF2-40B4-BE49-F238E27FC236}">
                <a16:creationId xmlns:a16="http://schemas.microsoft.com/office/drawing/2014/main" id="{72581098-2490-4F12-98CA-8312F8CE5A9D}"/>
              </a:ext>
            </a:extLst>
          </p:cNvPr>
          <p:cNvSpPr>
            <a:spLocks xmlns:a="http://schemas.openxmlformats.org/drawingml/2006/main" noGrp="1"/>
          </p:cNvSpPr>
          <p:nvPr/>
        </p:nvSpPr>
        <p:spPr>
          <a:xfrm xmlns:a="http://schemas.openxmlformats.org/drawingml/2006/main">
            <a:off x="6429375"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Validate each stage, preserve accepted results and generate targeted corrections instead of repeating a whole production.</a:t>
            </a:r>
          </a:p>
        </p:txBody>
      </p:sp>
      <p:sp>
        <p:nvSpPr>
          <p:cNvPr id="7" name="">
            <a:extLst xmlns:a="http://schemas.openxmlformats.org/drawingml/2006/main">
              <a:ext uri="{FF2B5EF4-FFF2-40B4-BE49-F238E27FC236}">
                <a16:creationId xmlns:a16="http://schemas.microsoft.com/office/drawing/2014/main" id="{EC6FF535-3C69-4F2B-A02B-B2E61A404F6B}"/>
              </a:ext>
            </a:extLst>
          </p:cNvPr>
          <p:cNvSpPr>
            <a:spLocks xmlns:a="http://schemas.openxmlformats.org/drawingml/2006/main" noGrp="1"/>
          </p:cNvSpPr>
          <p:nvPr/>
        </p:nvSpPr>
        <p:spPr>
          <a:xfrm xmlns:a="http://schemas.openxmlformats.org/drawingml/2006/main">
            <a:off x="609600"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Use available machines</a:t>
            </a:r>
          </a:p>
        </p:txBody>
      </p:sp>
      <p:sp>
        <p:nvSpPr>
          <p:cNvPr id="8" name="">
            <a:extLst xmlns:a="http://schemas.openxmlformats.org/drawingml/2006/main">
              <a:ext uri="{FF2B5EF4-FFF2-40B4-BE49-F238E27FC236}">
                <a16:creationId xmlns:a16="http://schemas.microsoft.com/office/drawing/2014/main" id="{A66DBC66-14CB-401B-B915-0D5CFEECB6CD}"/>
              </a:ext>
            </a:extLst>
          </p:cNvPr>
          <p:cNvSpPr>
            <a:spLocks xmlns:a="http://schemas.openxmlformats.org/drawingml/2006/main" noGrp="1"/>
          </p:cNvSpPr>
          <p:nvPr/>
        </p:nvSpPr>
        <p:spPr>
          <a:xfrm xmlns:a="http://schemas.openxmlformats.org/drawingml/2006/main">
            <a:off x="609600"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Distribute independent admitted jobs and graphics work across bounded workers under Station control.</a:t>
            </a:r>
          </a:p>
        </p:txBody>
      </p:sp>
      <p:sp>
        <p:nvSpPr>
          <p:cNvPr id="9" name="">
            <a:extLst xmlns:a="http://schemas.openxmlformats.org/drawingml/2006/main">
              <a:ext uri="{FF2B5EF4-FFF2-40B4-BE49-F238E27FC236}">
                <a16:creationId xmlns:a16="http://schemas.microsoft.com/office/drawing/2014/main" id="{8E25DD6E-D155-45C5-B907-BCF20E522DD8}"/>
              </a:ext>
            </a:extLst>
          </p:cNvPr>
          <p:cNvSpPr>
            <a:spLocks xmlns:a="http://schemas.openxmlformats.org/drawingml/2006/main" noGrp="1"/>
          </p:cNvSpPr>
          <p:nvPr/>
        </p:nvSpPr>
        <p:spPr>
          <a:xfrm xmlns:a="http://schemas.openxmlformats.org/drawingml/2006/main">
            <a:off x="6429375"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Benchmark the complete job</a:t>
            </a:r>
          </a:p>
        </p:txBody>
      </p:sp>
      <p:sp>
        <p:nvSpPr>
          <p:cNvPr id="10" name="">
            <a:extLst xmlns:a="http://schemas.openxmlformats.org/drawingml/2006/main">
              <a:ext uri="{FF2B5EF4-FFF2-40B4-BE49-F238E27FC236}">
                <a16:creationId xmlns:a16="http://schemas.microsoft.com/office/drawing/2014/main" id="{1E5A2402-DDF7-4BC7-8230-3EC294CCD79F}"/>
              </a:ext>
            </a:extLst>
          </p:cNvPr>
          <p:cNvSpPr>
            <a:spLocks xmlns:a="http://schemas.openxmlformats.org/drawingml/2006/main" noGrp="1"/>
          </p:cNvSpPr>
          <p:nvPr/>
        </p:nvSpPr>
        <p:spPr>
          <a:xfrm xmlns:a="http://schemas.openxmlformats.org/drawingml/2006/main">
            <a:off x="6429375"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Track elapsed time, render time, cost, output quality and human interventions on equivalent briefs.</a:t>
            </a:r>
          </a:p>
        </p:txBody>
      </p:sp>
    </p:spTree>
    <p:extLst>
      <p:ext uri="{BB962C8B-B14F-4D97-AF65-F5344CB8AC3E}">
        <p14:creationId xmlns:p14="http://schemas.microsoft.com/office/powerpoint/2010/main" val="119093888"/>
      </p:ext>
    </p:extLst>
  </p:cSld>
</p:sld>
</file>

<file path=ppt/slides/slide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CA6898E-3EFA-4107-9ECA-AECD7A0EB84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intended end-to-end service cycle</a:t>
            </a:r>
          </a:p>
        </p:txBody>
      </p:sp>
      <p:sp>
        <p:nvSpPr>
          <p:cNvPr id="2" name="">
            <a:extLst xmlns:a="http://schemas.openxmlformats.org/drawingml/2006/main">
              <a:ext uri="{FF2B5EF4-FFF2-40B4-BE49-F238E27FC236}">
                <a16:creationId xmlns:a16="http://schemas.microsoft.com/office/drawing/2014/main" id="{76877A28-FD5B-4481-A7AC-06A45D8CAC7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6964B149-EA68-4DDF-B67C-D997312ADFFB}"/>
              </a:ext>
            </a:extLst>
          </p:cNvPr>
          <p:cNvSpPr>
            <a:spLocks xmlns:a="http://schemas.openxmlformats.org/drawingml/2006/main" noGrp="1"/>
          </p:cNvSpPr>
          <p:nvPr/>
        </p:nvSpPr>
        <p:spPr>
          <a:xfrm xmlns:a="http://schemas.openxmlformats.org/drawingml/2006/main">
            <a:off x="6096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Idea or order</a:t>
            </a:r>
          </a:p>
        </p:txBody>
      </p:sp>
      <p:sp>
        <p:nvSpPr>
          <p:cNvPr id="4" name="">
            <a:extLst xmlns:a="http://schemas.openxmlformats.org/drawingml/2006/main">
              <a:ext uri="{FF2B5EF4-FFF2-40B4-BE49-F238E27FC236}">
                <a16:creationId xmlns:a16="http://schemas.microsoft.com/office/drawing/2014/main" id="{373E947B-AB38-4FC4-A65F-18BFD3FAAF7F}"/>
              </a:ext>
            </a:extLst>
          </p:cNvPr>
          <p:cNvSpPr>
            <a:spLocks xmlns:a="http://schemas.openxmlformats.org/drawingml/2006/main" noGrp="1"/>
          </p:cNvSpPr>
          <p:nvPr/>
        </p:nvSpPr>
        <p:spPr>
          <a:xfrm xmlns:a="http://schemas.openxmlformats.org/drawingml/2006/main">
            <a:off x="443865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Research and plan</a:t>
            </a:r>
          </a:p>
        </p:txBody>
      </p:sp>
      <p:sp>
        <p:nvSpPr>
          <p:cNvPr id="5" name="">
            <a:extLst xmlns:a="http://schemas.openxmlformats.org/drawingml/2006/main">
              <a:ext uri="{FF2B5EF4-FFF2-40B4-BE49-F238E27FC236}">
                <a16:creationId xmlns:a16="http://schemas.microsoft.com/office/drawing/2014/main" id="{A46ACA4F-5A67-42AD-B5F6-8D62777C0691}"/>
              </a:ext>
            </a:extLst>
          </p:cNvPr>
          <p:cNvSpPr>
            <a:spLocks xmlns:a="http://schemas.openxmlformats.org/drawingml/2006/main" noGrp="1"/>
          </p:cNvSpPr>
          <p:nvPr/>
        </p:nvSpPr>
        <p:spPr>
          <a:xfrm xmlns:a="http://schemas.openxmlformats.org/drawingml/2006/main">
            <a:off x="82677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Create and execute</a:t>
            </a:r>
          </a:p>
        </p:txBody>
      </p:sp>
      <p:sp>
        <p:nvSpPr>
          <p:cNvPr id="6" name="">
            <a:extLst xmlns:a="http://schemas.openxmlformats.org/drawingml/2006/main">
              <a:ext uri="{FF2B5EF4-FFF2-40B4-BE49-F238E27FC236}">
                <a16:creationId xmlns:a16="http://schemas.microsoft.com/office/drawing/2014/main" id="{3A62DC07-538E-46B9-9150-D6DD1FDA3DE2}"/>
              </a:ext>
            </a:extLst>
          </p:cNvPr>
          <p:cNvSpPr>
            <a:spLocks xmlns:a="http://schemas.openxmlformats.org/drawingml/2006/main" noGrp="1"/>
          </p:cNvSpPr>
          <p:nvPr/>
        </p:nvSpPr>
        <p:spPr>
          <a:xfrm xmlns:a="http://schemas.openxmlformats.org/drawingml/2006/main">
            <a:off x="82677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Validate results</a:t>
            </a:r>
          </a:p>
        </p:txBody>
      </p:sp>
      <p:sp>
        <p:nvSpPr>
          <p:cNvPr id="7" name="">
            <a:extLst xmlns:a="http://schemas.openxmlformats.org/drawingml/2006/main">
              <a:ext uri="{FF2B5EF4-FFF2-40B4-BE49-F238E27FC236}">
                <a16:creationId xmlns:a16="http://schemas.microsoft.com/office/drawing/2014/main" id="{54F3DA87-6B73-4E31-8900-1D9F7DBE7446}"/>
              </a:ext>
            </a:extLst>
          </p:cNvPr>
          <p:cNvSpPr>
            <a:spLocks xmlns:a="http://schemas.openxmlformats.org/drawingml/2006/main" noGrp="1"/>
          </p:cNvSpPr>
          <p:nvPr/>
        </p:nvSpPr>
        <p:spPr>
          <a:xfrm xmlns:a="http://schemas.openxmlformats.org/drawingml/2006/main">
            <a:off x="443865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Publish or deliver</a:t>
            </a:r>
          </a:p>
        </p:txBody>
      </p:sp>
      <p:sp>
        <p:nvSpPr>
          <p:cNvPr id="8" name="">
            <a:extLst xmlns:a="http://schemas.openxmlformats.org/drawingml/2006/main">
              <a:ext uri="{FF2B5EF4-FFF2-40B4-BE49-F238E27FC236}">
                <a16:creationId xmlns:a16="http://schemas.microsoft.com/office/drawing/2014/main" id="{BBD5133D-E367-48E6-AC97-79137F838DC6}"/>
              </a:ext>
            </a:extLst>
          </p:cNvPr>
          <p:cNvSpPr>
            <a:spLocks xmlns:a="http://schemas.openxmlformats.org/drawingml/2006/main" noGrp="1"/>
          </p:cNvSpPr>
          <p:nvPr/>
        </p:nvSpPr>
        <p:spPr>
          <a:xfrm xmlns:a="http://schemas.openxmlformats.org/drawingml/2006/main">
            <a:off x="6096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Learn from outcomes</a:t>
            </a:r>
          </a:p>
        </p:txBody>
      </p: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392430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775335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5" idx="2"/>
            <a:endCxn xmlns:a="http://schemas.openxmlformats.org/drawingml/2006/main" id="6" idx="0"/>
          </p:cNvCxnSpPr>
          <p:nvPr/>
        </p:nvCxnSpPr>
        <p:spPr>
          <a:xfrm xmlns:a="http://schemas.openxmlformats.org/drawingml/2006/main">
            <a:off x="99250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6" idx="1"/>
            <a:endCxn xmlns:a="http://schemas.openxmlformats.org/drawingml/2006/main" id="7" idx="3"/>
          </p:cNvCxnSpPr>
          <p:nvPr/>
        </p:nvCxnSpPr>
        <p:spPr>
          <a:xfrm xmlns:a="http://schemas.openxmlformats.org/drawingml/2006/main" flipH="1">
            <a:off x="775335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8" name=""/>
          <p:cNvCxnSpPr>
            <a:stCxn xmlns:a="http://schemas.openxmlformats.org/drawingml/2006/main" id="7" idx="1"/>
            <a:endCxn xmlns:a="http://schemas.openxmlformats.org/drawingml/2006/main" id="8" idx="3"/>
          </p:cNvCxnSpPr>
          <p:nvPr/>
        </p:nvCxnSpPr>
        <p:spPr>
          <a:xfrm xmlns:a="http://schemas.openxmlformats.org/drawingml/2006/main" flipH="1">
            <a:off x="392430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9" name=""/>
          <p:cNvCxnSpPr>
            <a:stCxn xmlns:a="http://schemas.openxmlformats.org/drawingml/2006/main" id="8" idx="0"/>
            <a:endCxn xmlns:a="http://schemas.openxmlformats.org/drawingml/2006/main" id="3" idx="2"/>
          </p:cNvCxnSpPr>
          <p:nvPr/>
        </p:nvCxnSpPr>
        <p:spPr>
          <a:xfrm xmlns:a="http://schemas.openxmlformats.org/drawingml/2006/main" flipV="1">
            <a:off x="22669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5" name="">
            <a:extLst xmlns:a="http://schemas.openxmlformats.org/drawingml/2006/main">
              <a:ext uri="{FF2B5EF4-FFF2-40B4-BE49-F238E27FC236}">
                <a16:creationId xmlns:a16="http://schemas.microsoft.com/office/drawing/2014/main" id="{0D478BAE-FD5B-491C-811C-621603C7E1B2}"/>
              </a:ext>
            </a:extLst>
          </p:cNvPr>
          <p:cNvSpPr>
            <a:spLocks xmlns:a="http://schemas.openxmlformats.org/drawingml/2006/main" noGrp="1"/>
          </p:cNvSpPr>
          <p:nvPr/>
        </p:nvSpPr>
        <p:spPr>
          <a:xfrm xmlns:a="http://schemas.openxmlformats.org/drawingml/2006/main">
            <a:off x="609600" y="53340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56DBD0"/>
                </a:solidFill>
                <a:latin typeface="Helvetica Neue"/>
                <a:ea typeface="Helvetica Neue"/>
                <a:cs typeface="Helvetica Neue"/>
              </a:defRPr>
            </a:pPr>
            <a:r>
              <a:rPr sz="2100" b="1">
                <a:solidFill>
                  <a:srgbClr val="56DBD0"/>
                </a:solidFill>
                <a:latin typeface="Helvetica Neue"/>
                <a:ea typeface="Helvetica Neue"/>
                <a:cs typeface="Helvetica Neue"/>
              </a:rPr>
              <a:t>One recorded workflow carries task context, accepted assets and execution history between stages.</a:t>
            </a:r>
          </a:p>
        </p:txBody>
      </p:sp>
    </p:spTree>
    <p:extLst>
      <p:ext uri="{BB962C8B-B14F-4D97-AF65-F5344CB8AC3E}">
        <p14:creationId xmlns:p14="http://schemas.microsoft.com/office/powerpoint/2010/main" val="1091376390"/>
      </p:ext>
    </p:extLst>
  </p:cSld>
</p:sld>
</file>

<file path=ppt/slides/slide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60A2939-3678-4990-9C7C-4CCF74AF8CF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The reusable technical core</a:t>
            </a:r>
          </a:p>
        </p:txBody>
      </p:sp>
      <p:sp>
        <p:nvSpPr>
          <p:cNvPr id="2" name="">
            <a:extLst xmlns:a="http://schemas.openxmlformats.org/drawingml/2006/main">
              <a:ext uri="{FF2B5EF4-FFF2-40B4-BE49-F238E27FC236}">
                <a16:creationId xmlns:a16="http://schemas.microsoft.com/office/drawing/2014/main" id="{68341088-5DE3-4CEA-B691-DE16E2EFBEF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7928D4A8-E7E3-4721-9947-10D714B57109}"/>
              </a:ext>
            </a:extLst>
          </p:cNvPr>
          <p:cNvSpPr>
            <a:spLocks xmlns:a="http://schemas.openxmlformats.org/drawingml/2006/main" noGrp="1"/>
          </p:cNvSpPr>
          <p:nvPr/>
        </p:nvSpPr>
        <p:spPr>
          <a:xfrm xmlns:a="http://schemas.openxmlformats.org/drawingml/2006/main">
            <a:off x="1714500" y="1514475"/>
            <a:ext cx="8763000" cy="6477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Workflows: studio • social channels • business services</a:t>
            </a:r>
          </a:p>
        </p:txBody>
      </p:sp>
      <p:sp>
        <p:nvSpPr>
          <p:cNvPr id="4" name="">
            <a:extLst xmlns:a="http://schemas.openxmlformats.org/drawingml/2006/main">
              <a:ext uri="{FF2B5EF4-FFF2-40B4-BE49-F238E27FC236}">
                <a16:creationId xmlns:a16="http://schemas.microsoft.com/office/drawing/2014/main" id="{B8F61AAE-0CEF-4260-AE82-9E030C36D3D7}"/>
              </a:ext>
            </a:extLst>
          </p:cNvPr>
          <p:cNvSpPr>
            <a:spLocks xmlns:a="http://schemas.openxmlformats.org/drawingml/2006/main" noGrp="1"/>
          </p:cNvSpPr>
          <p:nvPr/>
        </p:nvSpPr>
        <p:spPr>
          <a:xfrm xmlns:a="http://schemas.openxmlformats.org/drawingml/2006/main">
            <a:off x="1714500" y="2686050"/>
            <a:ext cx="8763000" cy="742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2025" b="1">
                <a:solidFill>
                  <a:srgbClr val="FFFFFF"/>
                </a:solidFill>
                <a:latin typeface="Helvetica Neue"/>
                <a:ea typeface="Helvetica Neue"/>
                <a:cs typeface="Helvetica Neue"/>
              </a:defRPr>
            </a:pPr>
            <a:r>
              <a:rPr sz="2025" b="1">
                <a:solidFill>
                  <a:srgbClr val="FFFFFF"/>
                </a:solidFill>
                <a:latin typeface="Helvetica Neue"/>
                <a:ea typeface="Helvetica Neue"/>
                <a:cs typeface="Helvetica Neue"/>
              </a:rPr>
              <a:t>Station orchestrator: admission • planning • queues • recovery</a:t>
            </a:r>
          </a:p>
        </p:txBody>
      </p:sp>
      <p:sp>
        <p:nvSpPr>
          <p:cNvPr id="5" name="">
            <a:extLst xmlns:a="http://schemas.openxmlformats.org/drawingml/2006/main">
              <a:ext uri="{FF2B5EF4-FFF2-40B4-BE49-F238E27FC236}">
                <a16:creationId xmlns:a16="http://schemas.microsoft.com/office/drawing/2014/main" id="{19BDEF85-0527-4765-B798-31FA3CB55762}"/>
              </a:ext>
            </a:extLst>
          </p:cNvPr>
          <p:cNvSpPr>
            <a:spLocks xmlns:a="http://schemas.openxmlformats.org/drawingml/2006/main" noGrp="1"/>
          </p:cNvSpPr>
          <p:nvPr/>
        </p:nvSpPr>
        <p:spPr>
          <a:xfrm xmlns:a="http://schemas.openxmlformats.org/drawingml/2006/main">
            <a:off x="6096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Agents and structured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task outputs</a:t>
            </a:r>
          </a:p>
        </p:txBody>
      </p:sp>
      <p:sp>
        <p:nvSpPr>
          <p:cNvPr id="6" name="">
            <a:extLst xmlns:a="http://schemas.openxmlformats.org/drawingml/2006/main">
              <a:ext uri="{FF2B5EF4-FFF2-40B4-BE49-F238E27FC236}">
                <a16:creationId xmlns:a16="http://schemas.microsoft.com/office/drawing/2014/main" id="{06FE0AD3-13B4-48AC-8A97-FED6D0F8D7AA}"/>
              </a:ext>
            </a:extLst>
          </p:cNvPr>
          <p:cNvSpPr>
            <a:spLocks xmlns:a="http://schemas.openxmlformats.org/drawingml/2006/main" noGrp="1"/>
          </p:cNvSpPr>
          <p:nvPr/>
        </p:nvSpPr>
        <p:spPr>
          <a:xfrm xmlns:a="http://schemas.openxmlformats.org/drawingml/2006/main">
            <a:off x="443865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Code-enforced validation</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and execution rules</a:t>
            </a:r>
          </a:p>
        </p:txBody>
      </p:sp>
      <p:sp>
        <p:nvSpPr>
          <p:cNvPr id="7" name="">
            <a:extLst xmlns:a="http://schemas.openxmlformats.org/drawingml/2006/main">
              <a:ext uri="{FF2B5EF4-FFF2-40B4-BE49-F238E27FC236}">
                <a16:creationId xmlns:a16="http://schemas.microsoft.com/office/drawing/2014/main" id="{11F6A0BC-2290-4E45-A195-F9DBD7B79A45}"/>
              </a:ext>
            </a:extLst>
          </p:cNvPr>
          <p:cNvSpPr>
            <a:spLocks xmlns:a="http://schemas.openxmlformats.org/drawingml/2006/main" noGrp="1"/>
          </p:cNvSpPr>
          <p:nvPr/>
        </p:nvSpPr>
        <p:spPr>
          <a:xfrm xmlns:a="http://schemas.openxmlformats.org/drawingml/2006/main">
            <a:off x="82677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Memory, graph and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execution registries</a:t>
            </a:r>
          </a:p>
        </p:txBody>
      </p:sp>
      <p:cxnSp>
        <p:nvCxnSpPr>
          <p:cNvPr id="21" name=""/>
          <p:cNvCxnSpPr>
            <a:stCxn xmlns:a="http://schemas.openxmlformats.org/drawingml/2006/main" id="3" idx="2"/>
            <a:endCxn xmlns:a="http://schemas.openxmlformats.org/drawingml/2006/main" id="4" idx="0"/>
          </p:cNvCxnSpPr>
          <p:nvPr/>
        </p:nvCxnSpPr>
        <p:spPr>
          <a:xfrm xmlns:a="http://schemas.openxmlformats.org/drawingml/2006/main">
            <a:off x="6096000" y="2162175"/>
            <a:ext cx="0" cy="52387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2"/>
            <a:endCxn xmlns:a="http://schemas.openxmlformats.org/drawingml/2006/main" id="5" idx="0"/>
          </p:cNvCxnSpPr>
          <p:nvPr/>
        </p:nvCxnSpPr>
        <p:spPr>
          <a:xfrm xmlns:a="http://schemas.openxmlformats.org/drawingml/2006/main" flipH="1">
            <a:off x="226695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cxnSp>
        <p:nvCxnSpPr>
          <p:cNvPr id="23" name=""/>
          <p:cNvCxnSpPr>
            <a:stCxn xmlns:a="http://schemas.openxmlformats.org/drawingml/2006/main" id="4" idx="2"/>
            <a:endCxn xmlns:a="http://schemas.openxmlformats.org/drawingml/2006/main" id="6" idx="0"/>
          </p:cNvCxnSpPr>
          <p:nvPr/>
        </p:nvCxnSpPr>
        <p:spPr>
          <a:xfrm xmlns:a="http://schemas.openxmlformats.org/drawingml/2006/main">
            <a:off x="6096000" y="3429000"/>
            <a:ext cx="0" cy="6191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2"/>
            <a:endCxn xmlns:a="http://schemas.openxmlformats.org/drawingml/2006/main" id="7" idx="0"/>
          </p:cNvCxnSpPr>
          <p:nvPr/>
        </p:nvCxnSpPr>
        <p:spPr>
          <a:xfrm xmlns:a="http://schemas.openxmlformats.org/drawingml/2006/main">
            <a:off x="609600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sp>
        <p:nvSpPr>
          <p:cNvPr id="12" name="">
            <a:extLst xmlns:a="http://schemas.openxmlformats.org/drawingml/2006/main">
              <a:ext uri="{FF2B5EF4-FFF2-40B4-BE49-F238E27FC236}">
                <a16:creationId xmlns:a16="http://schemas.microsoft.com/office/drawing/2014/main" id="{AE5DD32C-77D7-4C8F-9C5A-5E7319F1658F}"/>
              </a:ext>
            </a:extLst>
          </p:cNvPr>
          <p:cNvSpPr>
            <a:spLocks xmlns:a="http://schemas.openxmlformats.org/drawingml/2006/main" noGrp="1"/>
          </p:cNvSpPr>
          <p:nvPr/>
        </p:nvSpPr>
        <p:spPr>
          <a:xfrm xmlns:a="http://schemas.openxmlformats.org/drawingml/2006/main">
            <a:off x="609600" y="55245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5C4CD"/>
                </a:solidFill>
                <a:latin typeface="Helvetica Neue"/>
                <a:ea typeface="Helvetica Neue"/>
                <a:cs typeface="Helvetica Neue"/>
              </a:defRPr>
            </a:pPr>
            <a:r>
              <a:rPr sz="2025" b="0">
                <a:solidFill>
                  <a:srgbClr val="B5C4CD"/>
                </a:solidFill>
                <a:latin typeface="Helvetica Neue"/>
                <a:ea typeface="Helvetica Neue"/>
                <a:cs typeface="Helvetica Neue"/>
              </a:rPr>
              <a:t>Bounded executors and service adapters perform the admitted work and return results.</a:t>
            </a:r>
          </a:p>
        </p:txBody>
      </p:sp>
      <p:sp>
        <p:nvSpPr>
          <p:cNvPr id="13" name="">
            <a:extLst xmlns:a="http://schemas.openxmlformats.org/drawingml/2006/main">
              <a:ext uri="{FF2B5EF4-FFF2-40B4-BE49-F238E27FC236}">
                <a16:creationId xmlns:a16="http://schemas.microsoft.com/office/drawing/2014/main" id="{6196ADFC-0EB2-4792-A021-8491B0487FFD}"/>
              </a:ext>
            </a:extLst>
          </p:cNvPr>
          <p:cNvSpPr>
            <a:spLocks xmlns:a="http://schemas.openxmlformats.org/drawingml/2006/main" noGrp="1"/>
          </p:cNvSpPr>
          <p:nvPr/>
        </p:nvSpPr>
        <p:spPr>
          <a:xfrm xmlns:a="http://schemas.openxmlformats.org/drawingml/2006/main">
            <a:off x="609600" y="62198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B5C4CD"/>
                </a:solidFill>
                <a:latin typeface="Helvetica Neue"/>
                <a:ea typeface="Helvetica Neue"/>
                <a:cs typeface="Helvetica Neue"/>
              </a:defRPr>
            </a:pPr>
            <a:r>
              <a:rPr sz="1650" b="0">
                <a:solidFill>
                  <a:srgbClr val="B5C4CD"/>
                </a:solidFill>
                <a:latin typeface="Helvetica Neue"/>
                <a:ea typeface="Helvetica Neue"/>
                <a:cs typeface="Helvetica Neue"/>
              </a:rPr>
              <a:t>Python orchestration · JavaScript graphics · Node.js and Solidity commerce</a:t>
            </a:r>
          </a:p>
        </p:txBody>
      </p:sp>
    </p:spTree>
    <p:extLst>
      <p:ext uri="{BB962C8B-B14F-4D97-AF65-F5344CB8AC3E}">
        <p14:creationId xmlns:p14="http://schemas.microsoft.com/office/powerpoint/2010/main" val="1488837180"/>
      </p:ext>
    </p:extLst>
  </p:cSld>
</p:sld>
</file>

<file path=ppt/slides/slide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1B52753-64B8-4AF9-93D8-B63565BA3BD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Implemented production components</a:t>
            </a:r>
          </a:p>
        </p:txBody>
      </p:sp>
      <p:sp>
        <p:nvSpPr>
          <p:cNvPr id="2" name="">
            <a:extLst xmlns:a="http://schemas.openxmlformats.org/drawingml/2006/main">
              <a:ext uri="{FF2B5EF4-FFF2-40B4-BE49-F238E27FC236}">
                <a16:creationId xmlns:a16="http://schemas.microsoft.com/office/drawing/2014/main" id="{00A80325-1C28-46F1-8D6F-F6B095C9C64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35C5EE0B-D377-41D8-A092-B3D3560112B1}"/>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and sound matrices</a:t>
            </a:r>
          </a:p>
        </p:txBody>
      </p:sp>
      <p:sp>
        <p:nvSpPr>
          <p:cNvPr id="4" name="">
            <a:extLst xmlns:a="http://schemas.openxmlformats.org/drawingml/2006/main">
              <a:ext uri="{FF2B5EF4-FFF2-40B4-BE49-F238E27FC236}">
                <a16:creationId xmlns:a16="http://schemas.microsoft.com/office/drawing/2014/main" id="{D9AF565A-9885-4838-9AED-9D24031F7EC8}"/>
              </a:ext>
            </a:extLst>
          </p:cNvPr>
          <p:cNvSpPr>
            <a:spLocks xmlns:a="http://schemas.openxmlformats.org/drawingml/2006/main" noGrp="1"/>
          </p:cNvSpPr>
          <p:nvPr/>
        </p:nvSpPr>
        <p:spPr>
          <a:xfrm xmlns:a="http://schemas.openxmlformats.org/drawingml/2006/main">
            <a:off x="609600"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timing, visual assets, narration, music and effects become structured production tasks.</a:t>
            </a:r>
          </a:p>
        </p:txBody>
      </p:sp>
      <p:sp>
        <p:nvSpPr>
          <p:cNvPr id="5" name="">
            <a:extLst xmlns:a="http://schemas.openxmlformats.org/drawingml/2006/main">
              <a:ext uri="{FF2B5EF4-FFF2-40B4-BE49-F238E27FC236}">
                <a16:creationId xmlns:a16="http://schemas.microsoft.com/office/drawing/2014/main" id="{6153197A-B18A-47D6-96AB-12F5C6B4F8E4}"/>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Editing and graphics</a:t>
            </a:r>
          </a:p>
        </p:txBody>
      </p:sp>
      <p:sp>
        <p:nvSpPr>
          <p:cNvPr id="6" name="">
            <a:extLst xmlns:a="http://schemas.openxmlformats.org/drawingml/2006/main">
              <a:ext uri="{FF2B5EF4-FFF2-40B4-BE49-F238E27FC236}">
                <a16:creationId xmlns:a16="http://schemas.microsoft.com/office/drawing/2014/main" id="{6A3C6415-850D-48A8-B78C-DE0063D56B13}"/>
              </a:ext>
            </a:extLst>
          </p:cNvPr>
          <p:cNvSpPr>
            <a:spLocks xmlns:a="http://schemas.openxmlformats.org/drawingml/2006/main" noGrp="1"/>
          </p:cNvSpPr>
          <p:nvPr/>
        </p:nvSpPr>
        <p:spPr>
          <a:xfrm xmlns:a="http://schemas.openxmlformats.org/drawingml/2006/main">
            <a:off x="6429375"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assembly, pacing, transitions, visual continuity and rendering logic exist in code.</a:t>
            </a:r>
          </a:p>
        </p:txBody>
      </p:sp>
      <p:sp>
        <p:nvSpPr>
          <p:cNvPr id="7" name="">
            <a:extLst xmlns:a="http://schemas.openxmlformats.org/drawingml/2006/main">
              <a:ext uri="{FF2B5EF4-FFF2-40B4-BE49-F238E27FC236}">
                <a16:creationId xmlns:a16="http://schemas.microsoft.com/office/drawing/2014/main" id="{F7BA601C-E6CD-4644-8AFA-9709F8A9DED5}"/>
              </a:ext>
            </a:extLst>
          </p:cNvPr>
          <p:cNvSpPr>
            <a:spLocks xmlns:a="http://schemas.openxmlformats.org/drawingml/2006/main" noGrp="1"/>
          </p:cNvSpPr>
          <p:nvPr/>
        </p:nvSpPr>
        <p:spPr>
          <a:xfrm xmlns:a="http://schemas.openxmlformats.org/drawingml/2006/main">
            <a:off x="609600"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Audio workflows</a:t>
            </a:r>
          </a:p>
        </p:txBody>
      </p:sp>
      <p:sp>
        <p:nvSpPr>
          <p:cNvPr id="8" name="">
            <a:extLst xmlns:a="http://schemas.openxmlformats.org/drawingml/2006/main">
              <a:ext uri="{FF2B5EF4-FFF2-40B4-BE49-F238E27FC236}">
                <a16:creationId xmlns:a16="http://schemas.microsoft.com/office/drawing/2014/main" id="{380AB4C6-A1E0-4385-9FD1-903678E833CD}"/>
              </a:ext>
            </a:extLst>
          </p:cNvPr>
          <p:cNvSpPr>
            <a:spLocks xmlns:a="http://schemas.openxmlformats.org/drawingml/2006/main" noGrp="1"/>
          </p:cNvSpPr>
          <p:nvPr/>
        </p:nvSpPr>
        <p:spPr>
          <a:xfrm xmlns:a="http://schemas.openxmlformats.org/drawingml/2006/main">
            <a:off x="609600"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Separate sound layers, synchronization and mixing. FFmpeg executes structured processing plans.</a:t>
            </a:r>
          </a:p>
        </p:txBody>
      </p:sp>
      <p:sp>
        <p:nvSpPr>
          <p:cNvPr id="9" name="">
            <a:extLst xmlns:a="http://schemas.openxmlformats.org/drawingml/2006/main">
              <a:ext uri="{FF2B5EF4-FFF2-40B4-BE49-F238E27FC236}">
                <a16:creationId xmlns:a16="http://schemas.microsoft.com/office/drawing/2014/main" id="{401D179A-397B-4143-A244-36039CDB3CCD}"/>
              </a:ext>
            </a:extLst>
          </p:cNvPr>
          <p:cNvSpPr>
            <a:spLocks xmlns:a="http://schemas.openxmlformats.org/drawingml/2006/main" noGrp="1"/>
          </p:cNvSpPr>
          <p:nvPr/>
        </p:nvSpPr>
        <p:spPr>
          <a:xfrm xmlns:a="http://schemas.openxmlformats.org/drawingml/2006/main">
            <a:off x="6429375"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Memory and repair</a:t>
            </a:r>
          </a:p>
        </p:txBody>
      </p:sp>
      <p:sp>
        <p:nvSpPr>
          <p:cNvPr id="10" name="">
            <a:extLst xmlns:a="http://schemas.openxmlformats.org/drawingml/2006/main">
              <a:ext uri="{FF2B5EF4-FFF2-40B4-BE49-F238E27FC236}">
                <a16:creationId xmlns:a16="http://schemas.microsoft.com/office/drawing/2014/main" id="{24AB08AF-1FFC-45FC-8A12-C8F494DA19AE}"/>
              </a:ext>
            </a:extLst>
          </p:cNvPr>
          <p:cNvSpPr>
            <a:spLocks xmlns:a="http://schemas.openxmlformats.org/drawingml/2006/main" noGrp="1"/>
          </p:cNvSpPr>
          <p:nvPr/>
        </p:nvSpPr>
        <p:spPr>
          <a:xfrm xmlns:a="http://schemas.openxmlformats.org/drawingml/2006/main">
            <a:off x="6429375"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Graph relationships, registries and execution history preserve context. Failed checks create repair tasks.</a:t>
            </a:r>
          </a:p>
        </p:txBody>
      </p:sp>
      <p:sp>
        <p:nvSpPr>
          <p:cNvPr id="11" name="">
            <a:extLst xmlns:a="http://schemas.openxmlformats.org/drawingml/2006/main">
              <a:ext uri="{FF2B5EF4-FFF2-40B4-BE49-F238E27FC236}">
                <a16:creationId xmlns:a16="http://schemas.microsoft.com/office/drawing/2014/main" id="{3C1D5A03-34C8-4D8F-B736-4FC9985EF640}"/>
              </a:ext>
            </a:extLst>
          </p:cNvPr>
          <p:cNvSpPr>
            <a:spLocks xmlns:a="http://schemas.openxmlformats.org/drawingml/2006/main" noGrp="1"/>
          </p:cNvSpPr>
          <p:nvPr/>
        </p:nvSpPr>
        <p:spPr>
          <a:xfrm xmlns:a="http://schemas.openxmlformats.org/drawingml/2006/main">
            <a:off x="609600" y="55816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Current focus: repeatable execution and accepted output quality across the integrated pipeline.</a:t>
            </a:r>
          </a:p>
        </p:txBody>
      </p:sp>
    </p:spTree>
    <p:extLst>
      <p:ext uri="{BB962C8B-B14F-4D97-AF65-F5344CB8AC3E}">
        <p14:creationId xmlns:p14="http://schemas.microsoft.com/office/powerpoint/2010/main" val="1465386141"/>
      </p:ext>
    </p:extLst>
  </p:cSld>
</p:sld>
</file>

<file path=ppt/slides/slide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EC7F96-4AB1-4470-92DE-14077478AEA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and audio are structured production</a:t>
            </a:r>
          </a:p>
        </p:txBody>
      </p:sp>
      <p:sp>
        <p:nvSpPr>
          <p:cNvPr id="2" name="">
            <a:extLst xmlns:a="http://schemas.openxmlformats.org/drawingml/2006/main">
              <a:ext uri="{FF2B5EF4-FFF2-40B4-BE49-F238E27FC236}">
                <a16:creationId xmlns:a16="http://schemas.microsoft.com/office/drawing/2014/main" id="{131E031D-0C21-452E-A539-F84390FE8E5C}"/>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CBB95AD9-9BF7-4CB1-ADF8-51856B58C72B}"/>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matrix</a:t>
            </a:r>
          </a:p>
        </p:txBody>
      </p:sp>
      <p:sp>
        <p:nvSpPr>
          <p:cNvPr id="4" name="">
            <a:extLst xmlns:a="http://schemas.openxmlformats.org/drawingml/2006/main">
              <a:ext uri="{FF2B5EF4-FFF2-40B4-BE49-F238E27FC236}">
                <a16:creationId xmlns:a16="http://schemas.microsoft.com/office/drawing/2014/main" id="{03178FB3-04E5-41DF-B591-D753438F6281}"/>
              </a:ext>
            </a:extLst>
          </p:cNvPr>
          <p:cNvSpPr>
            <a:spLocks xmlns:a="http://schemas.openxmlformats.org/drawingml/2006/main" noGrp="1"/>
          </p:cNvSpPr>
          <p:nvPr/>
        </p:nvSpPr>
        <p:spPr>
          <a:xfrm xmlns:a="http://schemas.openxmlformats.org/drawingml/2006/main">
            <a:off x="609600"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Scenes, shot intent, assets, timing, transitions and composition become explicit instructions for assembly and review.</a:t>
            </a:r>
          </a:p>
        </p:txBody>
      </p:sp>
      <p:sp>
        <p:nvSpPr>
          <p:cNvPr id="5" name="">
            <a:extLst xmlns:a="http://schemas.openxmlformats.org/drawingml/2006/main">
              <a:ext uri="{FF2B5EF4-FFF2-40B4-BE49-F238E27FC236}">
                <a16:creationId xmlns:a16="http://schemas.microsoft.com/office/drawing/2014/main" id="{7A181345-8AAA-4723-8E9A-88EF9572F0B0}"/>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Sound matrix</a:t>
            </a:r>
          </a:p>
        </p:txBody>
      </p:sp>
      <p:sp>
        <p:nvSpPr>
          <p:cNvPr id="6" name="">
            <a:extLst xmlns:a="http://schemas.openxmlformats.org/drawingml/2006/main">
              <a:ext uri="{FF2B5EF4-FFF2-40B4-BE49-F238E27FC236}">
                <a16:creationId xmlns:a16="http://schemas.microsoft.com/office/drawing/2014/main" id="{3A7413C0-3360-4994-99D2-5CD68FF7101B}"/>
              </a:ext>
            </a:extLst>
          </p:cNvPr>
          <p:cNvSpPr>
            <a:spLocks xmlns:a="http://schemas.openxmlformats.org/drawingml/2006/main" noGrp="1"/>
          </p:cNvSpPr>
          <p:nvPr/>
        </p:nvSpPr>
        <p:spPr>
          <a:xfrm xmlns:a="http://schemas.openxmlformats.org/drawingml/2006/main">
            <a:off x="6429375"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Narration, music and effects are separate layers with timing, synchronization, processing and mixing instructions.</a:t>
            </a:r>
          </a:p>
        </p:txBody>
      </p:sp>
      <p:sp>
        <p:nvSpPr>
          <p:cNvPr id="7" name="">
            <a:extLst xmlns:a="http://schemas.openxmlformats.org/drawingml/2006/main">
              <a:ext uri="{FF2B5EF4-FFF2-40B4-BE49-F238E27FC236}">
                <a16:creationId xmlns:a16="http://schemas.microsoft.com/office/drawing/2014/main" id="{EC36304C-D63C-45E4-8C28-23C3A839880E}"/>
              </a:ext>
            </a:extLst>
          </p:cNvPr>
          <p:cNvSpPr>
            <a:spLocks xmlns:a="http://schemas.openxmlformats.org/drawingml/2006/main" noGrp="1"/>
          </p:cNvSpPr>
          <p:nvPr/>
        </p:nvSpPr>
        <p:spPr>
          <a:xfrm xmlns:a="http://schemas.openxmlformats.org/drawingml/2006/main">
            <a:off x="609600"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Creative direction in code</a:t>
            </a:r>
          </a:p>
        </p:txBody>
      </p:sp>
      <p:sp>
        <p:nvSpPr>
          <p:cNvPr id="8" name="">
            <a:extLst xmlns:a="http://schemas.openxmlformats.org/drawingml/2006/main">
              <a:ext uri="{FF2B5EF4-FFF2-40B4-BE49-F238E27FC236}">
                <a16:creationId xmlns:a16="http://schemas.microsoft.com/office/drawing/2014/main" id="{12F2FFB7-B840-4CAE-953D-94514B27702A}"/>
              </a:ext>
            </a:extLst>
          </p:cNvPr>
          <p:cNvSpPr>
            <a:spLocks xmlns:a="http://schemas.openxmlformats.org/drawingml/2006/main" noGrp="1"/>
          </p:cNvSpPr>
          <p:nvPr/>
        </p:nvSpPr>
        <p:spPr>
          <a:xfrm xmlns:a="http://schemas.openxmlformats.org/drawingml/2006/main">
            <a:off x="609600"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Rules connect script intent with pacing, scene continuity, visual presentation and the audio plan.</a:t>
            </a:r>
          </a:p>
        </p:txBody>
      </p:sp>
      <p:sp>
        <p:nvSpPr>
          <p:cNvPr id="9" name="">
            <a:extLst xmlns:a="http://schemas.openxmlformats.org/drawingml/2006/main">
              <a:ext uri="{FF2B5EF4-FFF2-40B4-BE49-F238E27FC236}">
                <a16:creationId xmlns:a16="http://schemas.microsoft.com/office/drawing/2014/main" id="{85470791-C719-40B3-9F5A-DE5722E6015B}"/>
              </a:ext>
            </a:extLst>
          </p:cNvPr>
          <p:cNvSpPr>
            <a:spLocks xmlns:a="http://schemas.openxmlformats.org/drawingml/2006/main" noGrp="1"/>
          </p:cNvSpPr>
          <p:nvPr/>
        </p:nvSpPr>
        <p:spPr>
          <a:xfrm xmlns:a="http://schemas.openxmlformats.org/drawingml/2006/main">
            <a:off x="6429375"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Current engineering work</a:t>
            </a:r>
          </a:p>
        </p:txBody>
      </p:sp>
      <p:sp>
        <p:nvSpPr>
          <p:cNvPr id="10" name="">
            <a:extLst xmlns:a="http://schemas.openxmlformats.org/drawingml/2006/main">
              <a:ext uri="{FF2B5EF4-FFF2-40B4-BE49-F238E27FC236}">
                <a16:creationId xmlns:a16="http://schemas.microsoft.com/office/drawing/2014/main" id="{89AC5E4B-2B61-4932-BAD9-8C8DA301D242}"/>
              </a:ext>
            </a:extLst>
          </p:cNvPr>
          <p:cNvSpPr>
            <a:spLocks xmlns:a="http://schemas.openxmlformats.org/drawingml/2006/main" noGrp="1"/>
          </p:cNvSpPr>
          <p:nvPr/>
        </p:nvSpPr>
        <p:spPr>
          <a:xfrm xmlns:a="http://schemas.openxmlformats.org/drawingml/2006/main">
            <a:off x="6429375"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Improve output quality, remove integration failures and make complete productions repeatable.</a:t>
            </a:r>
          </a:p>
        </p:txBody>
      </p:sp>
    </p:spTree>
    <p:extLst>
      <p:ext uri="{BB962C8B-B14F-4D97-AF65-F5344CB8AC3E}">
        <p14:creationId xmlns:p14="http://schemas.microsoft.com/office/powerpoint/2010/main" val="1980013042"/>
      </p:ext>
    </p:extLst>
  </p:cSld>
</p:sld>
</file>

<file path=ppt/slides/slide1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DE116E-EE06-4847-9671-E929A5B9F3BD}"/>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Memory turns outcomes into reusable guidance</a:t>
            </a:r>
          </a:p>
        </p:txBody>
      </p:sp>
      <p:sp>
        <p:nvSpPr>
          <p:cNvPr id="2" name="">
            <a:extLst xmlns:a="http://schemas.openxmlformats.org/drawingml/2006/main">
              <a:ext uri="{FF2B5EF4-FFF2-40B4-BE49-F238E27FC236}">
                <a16:creationId xmlns:a16="http://schemas.microsoft.com/office/drawing/2014/main" id="{256171F1-7369-4D68-AA62-60B7BD6E0A7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60959EF7-06E8-48EE-B70A-53BCE30715F1}"/>
              </a:ext>
            </a:extLst>
          </p:cNvPr>
          <p:cNvSpPr>
            <a:spLocks xmlns:a="http://schemas.openxmlformats.org/drawingml/2006/main" noGrp="1"/>
          </p:cNvSpPr>
          <p:nvPr/>
        </p:nvSpPr>
        <p:spPr>
          <a:xfrm xmlns:a="http://schemas.openxmlformats.org/drawingml/2006/main">
            <a:off x="6096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Record the run</a:t>
            </a:r>
          </a:p>
        </p:txBody>
      </p:sp>
      <p:sp>
        <p:nvSpPr>
          <p:cNvPr id="4" name="">
            <a:extLst xmlns:a="http://schemas.openxmlformats.org/drawingml/2006/main">
              <a:ext uri="{FF2B5EF4-FFF2-40B4-BE49-F238E27FC236}">
                <a16:creationId xmlns:a16="http://schemas.microsoft.com/office/drawing/2014/main" id="{D30BE285-D295-427D-83F9-E506F98E4379}"/>
              </a:ext>
            </a:extLst>
          </p:cNvPr>
          <p:cNvSpPr>
            <a:spLocks xmlns:a="http://schemas.openxmlformats.org/drawingml/2006/main" noGrp="1"/>
          </p:cNvSpPr>
          <p:nvPr/>
        </p:nvSpPr>
        <p:spPr>
          <a:xfrm xmlns:a="http://schemas.openxmlformats.org/drawingml/2006/main">
            <a:off x="34099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Evaluate results</a:t>
            </a:r>
          </a:p>
        </p:txBody>
      </p:sp>
      <p:sp>
        <p:nvSpPr>
          <p:cNvPr id="5" name="">
            <a:extLst xmlns:a="http://schemas.openxmlformats.org/drawingml/2006/main">
              <a:ext uri="{FF2B5EF4-FFF2-40B4-BE49-F238E27FC236}">
                <a16:creationId xmlns:a16="http://schemas.microsoft.com/office/drawing/2014/main" id="{895F4868-B02F-44EF-9D06-D743B417F662}"/>
              </a:ext>
            </a:extLst>
          </p:cNvPr>
          <p:cNvSpPr>
            <a:spLocks xmlns:a="http://schemas.openxmlformats.org/drawingml/2006/main" noGrp="1"/>
          </p:cNvSpPr>
          <p:nvPr/>
        </p:nvSpPr>
        <p:spPr>
          <a:xfrm xmlns:a="http://schemas.openxmlformats.org/drawingml/2006/main">
            <a:off x="62103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Create repair tasks</a:t>
            </a:r>
          </a:p>
        </p:txBody>
      </p:sp>
      <p:sp>
        <p:nvSpPr>
          <p:cNvPr id="6" name="">
            <a:extLst xmlns:a="http://schemas.openxmlformats.org/drawingml/2006/main">
              <a:ext uri="{FF2B5EF4-FFF2-40B4-BE49-F238E27FC236}">
                <a16:creationId xmlns:a16="http://schemas.microsoft.com/office/drawing/2014/main" id="{321AC53E-6B29-4666-97BE-ED59F972CBE1}"/>
              </a:ext>
            </a:extLst>
          </p:cNvPr>
          <p:cNvSpPr>
            <a:spLocks xmlns:a="http://schemas.openxmlformats.org/drawingml/2006/main" noGrp="1"/>
          </p:cNvSpPr>
          <p:nvPr/>
        </p:nvSpPr>
        <p:spPr>
          <a:xfrm xmlns:a="http://schemas.openxmlformats.org/drawingml/2006/main">
            <a:off x="90106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Reuse verified lessons</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31813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598170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87820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0" name="">
            <a:extLst xmlns:a="http://schemas.openxmlformats.org/drawingml/2006/main">
              <a:ext uri="{FF2B5EF4-FFF2-40B4-BE49-F238E27FC236}">
                <a16:creationId xmlns:a16="http://schemas.microsoft.com/office/drawing/2014/main" id="{E6771F17-E19E-4C2C-9BF8-413CBBA31E0F}"/>
              </a:ext>
            </a:extLst>
          </p:cNvPr>
          <p:cNvSpPr>
            <a:spLocks xmlns:a="http://schemas.openxmlformats.org/drawingml/2006/main" noGrp="1"/>
          </p:cNvSpPr>
          <p:nvPr/>
        </p:nvSpPr>
        <p:spPr>
          <a:xfrm xmlns:a="http://schemas.openxmlformats.org/drawingml/2006/main">
            <a:off x="609600"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Persistent context</a:t>
            </a:r>
          </a:p>
        </p:txBody>
      </p:sp>
      <p:sp>
        <p:nvSpPr>
          <p:cNvPr id="11" name="">
            <a:extLst xmlns:a="http://schemas.openxmlformats.org/drawingml/2006/main">
              <a:ext uri="{FF2B5EF4-FFF2-40B4-BE49-F238E27FC236}">
                <a16:creationId xmlns:a16="http://schemas.microsoft.com/office/drawing/2014/main" id="{8786121C-FDB3-4FD3-B49F-FA1173ABD1C8}"/>
              </a:ext>
            </a:extLst>
          </p:cNvPr>
          <p:cNvSpPr>
            <a:spLocks xmlns:a="http://schemas.openxmlformats.org/drawingml/2006/main" noGrp="1"/>
          </p:cNvSpPr>
          <p:nvPr/>
        </p:nvSpPr>
        <p:spPr>
          <a:xfrm xmlns:a="http://schemas.openxmlformats.org/drawingml/2006/main">
            <a:off x="609600"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Graph relationships, task records, accepted versions, errors and decisions remain available across runs.</a:t>
            </a:r>
          </a:p>
        </p:txBody>
      </p:sp>
      <p:sp>
        <p:nvSpPr>
          <p:cNvPr id="12" name="">
            <a:extLst xmlns:a="http://schemas.openxmlformats.org/drawingml/2006/main">
              <a:ext uri="{FF2B5EF4-FFF2-40B4-BE49-F238E27FC236}">
                <a16:creationId xmlns:a16="http://schemas.microsoft.com/office/drawing/2014/main" id="{B788B2AD-0861-44D8-927A-26D15B8589A1}"/>
              </a:ext>
            </a:extLst>
          </p:cNvPr>
          <p:cNvSpPr>
            <a:spLocks xmlns:a="http://schemas.openxmlformats.org/drawingml/2006/main" noGrp="1"/>
          </p:cNvSpPr>
          <p:nvPr/>
        </p:nvSpPr>
        <p:spPr>
          <a:xfrm xmlns:a="http://schemas.openxmlformats.org/drawingml/2006/main">
            <a:off x="6429375"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Controlled improvement</a:t>
            </a:r>
          </a:p>
        </p:txBody>
      </p:sp>
      <p:sp>
        <p:nvSpPr>
          <p:cNvPr id="13" name="">
            <a:extLst xmlns:a="http://schemas.openxmlformats.org/drawingml/2006/main">
              <a:ext uri="{FF2B5EF4-FFF2-40B4-BE49-F238E27FC236}">
                <a16:creationId xmlns:a16="http://schemas.microsoft.com/office/drawing/2014/main" id="{243E6295-3147-4E19-9FCD-87A41A5A008F}"/>
              </a:ext>
            </a:extLst>
          </p:cNvPr>
          <p:cNvSpPr>
            <a:spLocks xmlns:a="http://schemas.openxmlformats.org/drawingml/2006/main" noGrp="1"/>
          </p:cNvSpPr>
          <p:nvPr/>
        </p:nvSpPr>
        <p:spPr>
          <a:xfrm xmlns:a="http://schemas.openxmlformats.org/drawingml/2006/main">
            <a:off x="6429375"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Production feedback and competitor analysis inform later planning, rules and execution guidance.</a:t>
            </a:r>
          </a:p>
        </p:txBody>
      </p:sp>
      <p:sp>
        <p:nvSpPr>
          <p:cNvPr id="14" name="">
            <a:extLst xmlns:a="http://schemas.openxmlformats.org/drawingml/2006/main">
              <a:ext uri="{FF2B5EF4-FFF2-40B4-BE49-F238E27FC236}">
                <a16:creationId xmlns:a16="http://schemas.microsoft.com/office/drawing/2014/main" id="{B0904982-1BFF-4232-842A-BB8F04567088}"/>
              </a:ext>
            </a:extLst>
          </p:cNvPr>
          <p:cNvSpPr>
            <a:spLocks xmlns:a="http://schemas.openxmlformats.org/drawingml/2006/main" noGrp="1"/>
          </p:cNvSpPr>
          <p:nvPr/>
        </p:nvSpPr>
        <p:spPr>
          <a:xfrm xmlns:a="http://schemas.openxmlformats.org/drawingml/2006/main">
            <a:off x="609600" y="572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Self-improvement means better operational decisions and reusable experience; gains must be measured.</a:t>
            </a:r>
          </a:p>
        </p:txBody>
      </p:sp>
    </p:spTree>
    <p:extLst>
      <p:ext uri="{BB962C8B-B14F-4D97-AF65-F5344CB8AC3E}">
        <p14:creationId xmlns:p14="http://schemas.microsoft.com/office/powerpoint/2010/main" val="80834123"/>
      </p:ext>
    </p:extLst>
  </p:cSld>
</p:sld>
</file>

<file path=ppt/slides/slide1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5B46CA-8A8C-495E-8641-0342F2043D7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Station controls distributed execution</a:t>
            </a:r>
          </a:p>
        </p:txBody>
      </p:sp>
      <p:sp>
        <p:nvSpPr>
          <p:cNvPr id="2" name="">
            <a:extLst xmlns:a="http://schemas.openxmlformats.org/drawingml/2006/main">
              <a:ext uri="{FF2B5EF4-FFF2-40B4-BE49-F238E27FC236}">
                <a16:creationId xmlns:a16="http://schemas.microsoft.com/office/drawing/2014/main" id="{67764819-5512-4D81-9117-5A3E25E0313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187F93F5-C3D2-483A-8DB1-92F2F78C88EE}"/>
              </a:ext>
            </a:extLst>
          </p:cNvPr>
          <p:cNvSpPr>
            <a:spLocks xmlns:a="http://schemas.openxmlformats.org/drawingml/2006/main" noGrp="1"/>
          </p:cNvSpPr>
          <p:nvPr/>
        </p:nvSpPr>
        <p:spPr>
          <a:xfrm xmlns:a="http://schemas.openxmlformats.org/drawingml/2006/main">
            <a:off x="609600" y="16002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Python orchestration core</a:t>
            </a:r>
          </a:p>
        </p:txBody>
      </p:sp>
      <p:sp>
        <p:nvSpPr>
          <p:cNvPr id="4" name="">
            <a:extLst xmlns:a="http://schemas.openxmlformats.org/drawingml/2006/main">
              <a:ext uri="{FF2B5EF4-FFF2-40B4-BE49-F238E27FC236}">
                <a16:creationId xmlns:a16="http://schemas.microsoft.com/office/drawing/2014/main" id="{81AED268-A352-4225-8B3C-A3231EF0AAAE}"/>
              </a:ext>
            </a:extLst>
          </p:cNvPr>
          <p:cNvSpPr>
            <a:spLocks xmlns:a="http://schemas.openxmlformats.org/drawingml/2006/main" noGrp="1"/>
          </p:cNvSpPr>
          <p:nvPr/>
        </p:nvSpPr>
        <p:spPr>
          <a:xfrm xmlns:a="http://schemas.openxmlformats.org/drawingml/2006/main">
            <a:off x="609600" y="2295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B5C4CD"/>
                </a:solidFill>
                <a:latin typeface="Helvetica Neue"/>
                <a:ea typeface="Helvetica Neue"/>
                <a:cs typeface="Helvetica Neue"/>
              </a:defRPr>
            </a:pPr>
            <a:r>
              <a:rPr sz="2175" b="0">
                <a:solidFill>
                  <a:srgbClr val="B5C4CD"/>
                </a:solidFill>
                <a:latin typeface="Helvetica Neue"/>
                <a:ea typeface="Helvetica Neue"/>
                <a:cs typeface="Helvetica Neue"/>
              </a:rPr>
              <a:t>Task admission, persistent memory, registries and production state remain under the central workstation.</a:t>
            </a:r>
          </a:p>
        </p:txBody>
      </p:sp>
      <p:sp>
        <p:nvSpPr>
          <p:cNvPr id="5" name="">
            <a:extLst xmlns:a="http://schemas.openxmlformats.org/drawingml/2006/main">
              <a:ext uri="{FF2B5EF4-FFF2-40B4-BE49-F238E27FC236}">
                <a16:creationId xmlns:a16="http://schemas.microsoft.com/office/drawing/2014/main" id="{4674F64E-801B-4E99-A45A-E0E3FDD46B28}"/>
              </a:ext>
            </a:extLst>
          </p:cNvPr>
          <p:cNvSpPr>
            <a:spLocks xmlns:a="http://schemas.openxmlformats.org/drawingml/2006/main" noGrp="1"/>
          </p:cNvSpPr>
          <p:nvPr/>
        </p:nvSpPr>
        <p:spPr>
          <a:xfrm xmlns:a="http://schemas.openxmlformats.org/drawingml/2006/main">
            <a:off x="609600" y="3476625"/>
            <a:ext cx="342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Station</a:t>
            </a:r>
          </a:p>
        </p:txBody>
      </p:sp>
      <p:sp>
        <p:nvSpPr>
          <p:cNvPr id="6" name="">
            <a:extLst xmlns:a="http://schemas.openxmlformats.org/drawingml/2006/main">
              <a:ext uri="{FF2B5EF4-FFF2-40B4-BE49-F238E27FC236}">
                <a16:creationId xmlns:a16="http://schemas.microsoft.com/office/drawing/2014/main" id="{F3983ACF-47B6-4CA5-82B2-2ECD9C1314D8}"/>
              </a:ext>
            </a:extLst>
          </p:cNvPr>
          <p:cNvSpPr>
            <a:spLocks xmlns:a="http://schemas.openxmlformats.org/drawingml/2006/main" noGrp="1"/>
          </p:cNvSpPr>
          <p:nvPr/>
        </p:nvSpPr>
        <p:spPr>
          <a:xfrm xmlns:a="http://schemas.openxmlformats.org/drawingml/2006/main">
            <a:off x="609600" y="39719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RTX 5070 Ti workstation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Owns queues and orchestration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Runs local computation</a:t>
            </a:r>
          </a:p>
        </p:txBody>
      </p:sp>
      <p:sp>
        <p:nvSpPr>
          <p:cNvPr id="7" name="">
            <a:extLst xmlns:a="http://schemas.openxmlformats.org/drawingml/2006/main">
              <a:ext uri="{FF2B5EF4-FFF2-40B4-BE49-F238E27FC236}">
                <a16:creationId xmlns:a16="http://schemas.microsoft.com/office/drawing/2014/main" id="{E72F5B92-0169-44A1-B912-AB1CEF5A6D91}"/>
              </a:ext>
            </a:extLst>
          </p:cNvPr>
          <p:cNvSpPr>
            <a:spLocks xmlns:a="http://schemas.openxmlformats.org/drawingml/2006/main" noGrp="1"/>
          </p:cNvSpPr>
          <p:nvPr/>
        </p:nvSpPr>
        <p:spPr>
          <a:xfrm xmlns:a="http://schemas.openxmlformats.org/drawingml/2006/main">
            <a:off x="4429125"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Windows laptop</a:t>
            </a:r>
          </a:p>
        </p:txBody>
      </p:sp>
      <p:sp>
        <p:nvSpPr>
          <p:cNvPr id="8" name="">
            <a:extLst xmlns:a="http://schemas.openxmlformats.org/drawingml/2006/main">
              <a:ext uri="{FF2B5EF4-FFF2-40B4-BE49-F238E27FC236}">
                <a16:creationId xmlns:a16="http://schemas.microsoft.com/office/drawing/2014/main" id="{6A58FC93-080E-4835-A760-83376803775F}"/>
              </a:ext>
            </a:extLst>
          </p:cNvPr>
          <p:cNvSpPr>
            <a:spLocks xmlns:a="http://schemas.openxmlformats.org/drawingml/2006/main" noGrp="1"/>
          </p:cNvSpPr>
          <p:nvPr/>
        </p:nvSpPr>
        <p:spPr>
          <a:xfrm xmlns:a="http://schemas.openxmlformats.org/drawingml/2006/main">
            <a:off x="4429125"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admitted tasks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verified results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Bounded inference helper</a:t>
            </a:r>
          </a:p>
        </p:txBody>
      </p:sp>
      <p:sp>
        <p:nvSpPr>
          <p:cNvPr id="9" name="">
            <a:extLst xmlns:a="http://schemas.openxmlformats.org/drawingml/2006/main">
              <a:ext uri="{FF2B5EF4-FFF2-40B4-BE49-F238E27FC236}">
                <a16:creationId xmlns:a16="http://schemas.microsoft.com/office/drawing/2014/main" id="{502D8C65-60D6-4204-B2AE-2DA0234817D2}"/>
              </a:ext>
            </a:extLst>
          </p:cNvPr>
          <p:cNvSpPr>
            <a:spLocks xmlns:a="http://schemas.openxmlformats.org/drawingml/2006/main" noGrp="1"/>
          </p:cNvSpPr>
          <p:nvPr/>
        </p:nvSpPr>
        <p:spPr>
          <a:xfrm xmlns:a="http://schemas.openxmlformats.org/drawingml/2006/main">
            <a:off x="8248650"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MacBook</a:t>
            </a:r>
          </a:p>
        </p:txBody>
      </p:sp>
      <p:sp>
        <p:nvSpPr>
          <p:cNvPr id="10" name="">
            <a:extLst xmlns:a="http://schemas.openxmlformats.org/drawingml/2006/main">
              <a:ext uri="{FF2B5EF4-FFF2-40B4-BE49-F238E27FC236}">
                <a16:creationId xmlns:a16="http://schemas.microsoft.com/office/drawing/2014/main" id="{716DDE8F-A6A7-46B6-B438-FD92E3020C6A}"/>
              </a:ext>
            </a:extLst>
          </p:cNvPr>
          <p:cNvSpPr>
            <a:spLocks xmlns:a="http://schemas.openxmlformats.org/drawingml/2006/main" noGrp="1"/>
          </p:cNvSpPr>
          <p:nvPr/>
        </p:nvSpPr>
        <p:spPr>
          <a:xfrm xmlns:a="http://schemas.openxmlformats.org/drawingml/2006/main">
            <a:off x="8248650"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Development and client work</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bounded jobs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outputs and receipts</a:t>
            </a:r>
          </a:p>
        </p:txBody>
      </p:sp>
      <p:sp>
        <p:nvSpPr>
          <p:cNvPr id="11" name="">
            <a:extLst xmlns:a="http://schemas.openxmlformats.org/drawingml/2006/main">
              <a:ext uri="{FF2B5EF4-FFF2-40B4-BE49-F238E27FC236}">
                <a16:creationId xmlns:a16="http://schemas.microsoft.com/office/drawing/2014/main" id="{FE4B82ED-EFD9-4EA3-A9C4-FD113733F23C}"/>
              </a:ext>
            </a:extLst>
          </p:cNvPr>
          <p:cNvSpPr>
            <a:spLocks xmlns:a="http://schemas.openxmlformats.org/drawingml/2006/main" noGrp="1"/>
          </p:cNvSpPr>
          <p:nvPr/>
        </p:nvSpPr>
        <p:spPr>
          <a:xfrm xmlns:a="http://schemas.openxmlformats.org/drawingml/2006/main">
            <a:off x="609600" y="558165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5C4CD"/>
                </a:solidFill>
                <a:latin typeface="Helvetica Neue"/>
                <a:ea typeface="Helvetica Neue"/>
                <a:cs typeface="Helvetica Neue"/>
              </a:defRPr>
            </a:pPr>
            <a:r>
              <a:rPr sz="1800" b="0">
                <a:solidFill>
                  <a:srgbClr val="B5C4CD"/>
                </a:solidFill>
                <a:latin typeface="Helvetica Neue"/>
                <a:ea typeface="Helvetica Neue"/>
                <a:cs typeface="Helvetica Neue"/>
              </a:rPr>
              <a:t>Implemented: identity checks, task accounting and recovery. Legacy queue migration remains in progress.</a:t>
            </a:r>
          </a:p>
        </p:txBody>
      </p:sp>
    </p:spTree>
    <p:extLst>
      <p:ext uri="{BB962C8B-B14F-4D97-AF65-F5344CB8AC3E}">
        <p14:creationId xmlns:p14="http://schemas.microsoft.com/office/powerpoint/2010/main" val="267736314"/>
      </p:ext>
    </p:extLst>
  </p:cSld>
</p:sld>
</file>

<file path=ppt/slides/slide1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E6F91A-F2CA-4310-AA07-67B56822E42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Target: configured, repeatable workflows</a:t>
            </a:r>
          </a:p>
        </p:txBody>
      </p:sp>
      <p:sp>
        <p:nvSpPr>
          <p:cNvPr id="2" name="">
            <a:extLst xmlns:a="http://schemas.openxmlformats.org/drawingml/2006/main">
              <a:ext uri="{FF2B5EF4-FFF2-40B4-BE49-F238E27FC236}">
                <a16:creationId xmlns:a16="http://schemas.microsoft.com/office/drawing/2014/main" id="{B6932007-A37C-409C-906B-3EDBBD22EE6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11360A12-49E1-4B5A-9480-61ECA9E6CCBB}"/>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configuration</a:t>
            </a:r>
          </a:p>
        </p:txBody>
      </p:sp>
      <p:sp>
        <p:nvSpPr>
          <p:cNvPr id="4" name="">
            <a:extLst xmlns:a="http://schemas.openxmlformats.org/drawingml/2006/main">
              <a:ext uri="{FF2B5EF4-FFF2-40B4-BE49-F238E27FC236}">
                <a16:creationId xmlns:a16="http://schemas.microsoft.com/office/drawing/2014/main" id="{9A8EC4EC-A8E1-4E59-BA58-634944347DEE}"/>
              </a:ext>
            </a:extLst>
          </p:cNvPr>
          <p:cNvSpPr>
            <a:spLocks xmlns:a="http://schemas.openxmlformats.org/drawingml/2006/main" noGrp="1"/>
          </p:cNvSpPr>
          <p:nvPr/>
        </p:nvSpPr>
        <p:spPr>
          <a:xfrm xmlns:a="http://schemas.openxmlformats.org/drawingml/2006/main">
            <a:off x="609600"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Connect accounts; define the brand, audience, content goals, schedule, budget and approval rules.</a:t>
            </a:r>
          </a:p>
        </p:txBody>
      </p:sp>
      <p:sp>
        <p:nvSpPr>
          <p:cNvPr id="5" name="">
            <a:extLst xmlns:a="http://schemas.openxmlformats.org/drawingml/2006/main">
              <a:ext uri="{FF2B5EF4-FFF2-40B4-BE49-F238E27FC236}">
                <a16:creationId xmlns:a16="http://schemas.microsoft.com/office/drawing/2014/main" id="{19B8740F-93E0-4818-9063-6092144C26AD}"/>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Autonomous operating target</a:t>
            </a:r>
          </a:p>
        </p:txBody>
      </p:sp>
      <p:sp>
        <p:nvSpPr>
          <p:cNvPr id="6" name="">
            <a:extLst xmlns:a="http://schemas.openxmlformats.org/drawingml/2006/main">
              <a:ext uri="{FF2B5EF4-FFF2-40B4-BE49-F238E27FC236}">
                <a16:creationId xmlns:a16="http://schemas.microsoft.com/office/drawing/2014/main" id="{9B8C6BC6-C5A2-4026-BAF7-5CAE8AD425D5}"/>
              </a:ext>
            </a:extLst>
          </p:cNvPr>
          <p:cNvSpPr>
            <a:spLocks xmlns:a="http://schemas.openxmlformats.org/drawingml/2006/main" noGrp="1"/>
          </p:cNvSpPr>
          <p:nvPr/>
        </p:nvSpPr>
        <p:spPr>
          <a:xfrm xmlns:a="http://schemas.openxmlformats.org/drawingml/2006/main">
            <a:off x="6429375"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Research, plan, create, validate, publish and analyze results without manually directing every routine step.</a:t>
            </a:r>
          </a:p>
        </p:txBody>
      </p:sp>
      <p:sp>
        <p:nvSpPr>
          <p:cNvPr id="7" name="">
            <a:extLst xmlns:a="http://schemas.openxmlformats.org/drawingml/2006/main">
              <a:ext uri="{FF2B5EF4-FFF2-40B4-BE49-F238E27FC236}">
                <a16:creationId xmlns:a16="http://schemas.microsoft.com/office/drawing/2014/main" id="{5EDEC328-DAE0-49DE-B588-B75580B5EBC8}"/>
              </a:ext>
            </a:extLst>
          </p:cNvPr>
          <p:cNvSpPr>
            <a:spLocks xmlns:a="http://schemas.openxmlformats.org/drawingml/2006/main" noGrp="1"/>
          </p:cNvSpPr>
          <p:nvPr/>
        </p:nvSpPr>
        <p:spPr>
          <a:xfrm xmlns:a="http://schemas.openxmlformats.org/drawingml/2006/main">
            <a:off x="609600" y="42576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Operating boundaries remain explicit</a:t>
            </a:r>
          </a:p>
        </p:txBody>
      </p:sp>
      <p:sp>
        <p:nvSpPr>
          <p:cNvPr id="8" name="">
            <a:extLst xmlns:a="http://schemas.openxmlformats.org/drawingml/2006/main">
              <a:ext uri="{FF2B5EF4-FFF2-40B4-BE49-F238E27FC236}">
                <a16:creationId xmlns:a16="http://schemas.microsoft.com/office/drawing/2014/main" id="{86684615-841A-461C-BB25-A773998243F9}"/>
              </a:ext>
            </a:extLst>
          </p:cNvPr>
          <p:cNvSpPr>
            <a:spLocks xmlns:a="http://schemas.openxmlformats.org/drawingml/2006/main" noGrp="1"/>
          </p:cNvSpPr>
          <p:nvPr/>
        </p:nvSpPr>
        <p:spPr>
          <a:xfrm xmlns:a="http://schemas.openxmlformats.org/drawingml/2006/main">
            <a:off x="609600" y="4972050"/>
            <a:ext cx="1095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Quality gates, permissions and usage limits govern execution. Failed checks trigger repair or a request for human input.</a:t>
            </a:r>
          </a:p>
        </p:txBody>
      </p:sp>
    </p:spTree>
    <p:extLst>
      <p:ext uri="{BB962C8B-B14F-4D97-AF65-F5344CB8AC3E}">
        <p14:creationId xmlns:p14="http://schemas.microsoft.com/office/powerpoint/2010/main" val="471385134"/>
      </p:ext>
    </p:extLst>
  </p:cSld>
</p:sld>
</file>

<file path=ppt/slides/slide1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E3576C-2F46-4E4F-B832-312F7C7C05C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next experiment: a live YouTube channel</a:t>
            </a:r>
          </a:p>
        </p:txBody>
      </p:sp>
      <p:sp>
        <p:nvSpPr>
          <p:cNvPr id="2" name="">
            <a:extLst xmlns:a="http://schemas.openxmlformats.org/drawingml/2006/main">
              <a:ext uri="{FF2B5EF4-FFF2-40B4-BE49-F238E27FC236}">
                <a16:creationId xmlns:a16="http://schemas.microsoft.com/office/drawing/2014/main" id="{EE34D644-6B24-479D-9C77-9005509F828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1BE1C81D-7B6F-4EF8-A0EE-4CF6E65C3BCC}"/>
              </a:ext>
            </a:extLst>
          </p:cNvPr>
          <p:cNvSpPr>
            <a:spLocks xmlns:a="http://schemas.openxmlformats.org/drawingml/2006/main" noGrp="1"/>
          </p:cNvSpPr>
          <p:nvPr/>
        </p:nvSpPr>
        <p:spPr>
          <a:xfrm xmlns:a="http://schemas.openxmlformats.org/drawingml/2006/main">
            <a:off x="609600" y="1600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61A3FF"/>
                </a:solidFill>
                <a:latin typeface="Helvetica Neue"/>
                <a:ea typeface="Helvetica Neue"/>
                <a:cs typeface="Helvetica Neue"/>
              </a:defRPr>
            </a:pPr>
            <a:r>
              <a:rPr sz="4200" b="1">
                <a:solidFill>
                  <a:srgbClr val="61A3FF"/>
                </a:solidFill>
                <a:latin typeface="Helvetica Neue"/>
                <a:ea typeface="Helvetica Neue"/>
                <a:cs typeface="Helvetica Neue"/>
              </a:rPr>
              <a:t>Days to two weeks</a:t>
            </a:r>
          </a:p>
        </p:txBody>
      </p:sp>
      <p:sp>
        <p:nvSpPr>
          <p:cNvPr id="4" name="">
            <a:extLst xmlns:a="http://schemas.openxmlformats.org/drawingml/2006/main">
              <a:ext uri="{FF2B5EF4-FFF2-40B4-BE49-F238E27FC236}">
                <a16:creationId xmlns:a16="http://schemas.microsoft.com/office/drawing/2014/main" id="{7623A810-7580-411D-8DB8-F9341154CC29}"/>
              </a:ext>
            </a:extLst>
          </p:cNvPr>
          <p:cNvSpPr>
            <a:spLocks xmlns:a="http://schemas.openxmlformats.org/drawingml/2006/main" noGrp="1"/>
          </p:cNvSpPr>
          <p:nvPr/>
        </p:nvSpPr>
        <p:spPr>
          <a:xfrm xmlns:a="http://schemas.openxmlformats.org/drawingml/2006/main">
            <a:off x="609600" y="2543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Founder target for initial channel connection and experimental operation.</a:t>
            </a:r>
          </a:p>
        </p:txBody>
      </p:sp>
      <p:sp>
        <p:nvSpPr>
          <p:cNvPr id="5" name="">
            <a:extLst xmlns:a="http://schemas.openxmlformats.org/drawingml/2006/main">
              <a:ext uri="{FF2B5EF4-FFF2-40B4-BE49-F238E27FC236}">
                <a16:creationId xmlns:a16="http://schemas.microsoft.com/office/drawing/2014/main" id="{B4133E7C-ACFD-40B9-BF32-6A97F502A836}"/>
              </a:ext>
            </a:extLst>
          </p:cNvPr>
          <p:cNvSpPr>
            <a:spLocks xmlns:a="http://schemas.openxmlformats.org/drawingml/2006/main" noGrp="1"/>
          </p:cNvSpPr>
          <p:nvPr/>
        </p:nvSpPr>
        <p:spPr>
          <a:xfrm xmlns:a="http://schemas.openxmlformats.org/drawingml/2006/main">
            <a:off x="609600"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Full management loop</a:t>
            </a:r>
          </a:p>
        </p:txBody>
      </p:sp>
      <p:sp>
        <p:nvSpPr>
          <p:cNvPr id="6" name="">
            <a:extLst xmlns:a="http://schemas.openxmlformats.org/drawingml/2006/main">
              <a:ext uri="{FF2B5EF4-FFF2-40B4-BE49-F238E27FC236}">
                <a16:creationId xmlns:a16="http://schemas.microsoft.com/office/drawing/2014/main" id="{1A9CF4C8-205B-4B7D-BBA1-C831A496C34C}"/>
              </a:ext>
            </a:extLst>
          </p:cNvPr>
          <p:cNvSpPr>
            <a:spLocks xmlns:a="http://schemas.openxmlformats.org/drawingml/2006/main" noGrp="1"/>
          </p:cNvSpPr>
          <p:nvPr/>
        </p:nvSpPr>
        <p:spPr>
          <a:xfrm xmlns:a="http://schemas.openxmlformats.org/drawingml/2006/main">
            <a:off x="609600"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Test topic research, planning, production, publication and analysis of audience reactions on a founder-owned YouTube channel.</a:t>
            </a:r>
          </a:p>
        </p:txBody>
      </p:sp>
      <p:sp>
        <p:nvSpPr>
          <p:cNvPr id="7" name="">
            <a:extLst xmlns:a="http://schemas.openxmlformats.org/drawingml/2006/main">
              <a:ext uri="{FF2B5EF4-FFF2-40B4-BE49-F238E27FC236}">
                <a16:creationId xmlns:a16="http://schemas.microsoft.com/office/drawing/2014/main" id="{F40A559C-4D87-4F22-8220-F3FE1E9848D1}"/>
              </a:ext>
            </a:extLst>
          </p:cNvPr>
          <p:cNvSpPr>
            <a:spLocks xmlns:a="http://schemas.openxmlformats.org/drawingml/2006/main" noGrp="1"/>
          </p:cNvSpPr>
          <p:nvPr/>
        </p:nvSpPr>
        <p:spPr>
          <a:xfrm xmlns:a="http://schemas.openxmlformats.org/drawingml/2006/main">
            <a:off x="6429375"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Then expand</a:t>
            </a:r>
          </a:p>
        </p:txBody>
      </p:sp>
      <p:sp>
        <p:nvSpPr>
          <p:cNvPr id="8" name="">
            <a:extLst xmlns:a="http://schemas.openxmlformats.org/drawingml/2006/main">
              <a:ext uri="{FF2B5EF4-FFF2-40B4-BE49-F238E27FC236}">
                <a16:creationId xmlns:a16="http://schemas.microsoft.com/office/drawing/2014/main" id="{9648B957-C948-411F-9C64-3D81CBF6F180}"/>
              </a:ext>
            </a:extLst>
          </p:cNvPr>
          <p:cNvSpPr>
            <a:spLocks xmlns:a="http://schemas.openxmlformats.org/drawingml/2006/main" noGrp="1"/>
          </p:cNvSpPr>
          <p:nvPr/>
        </p:nvSpPr>
        <p:spPr>
          <a:xfrm xmlns:a="http://schemas.openxmlformats.org/drawingml/2006/main">
            <a:off x="6429375"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Refine quality and reliability, introduce X workflows and scale to additional channels as the mechanism is validated.</a:t>
            </a:r>
          </a:p>
        </p:txBody>
      </p:sp>
      <p:sp>
        <p:nvSpPr>
          <p:cNvPr id="9" name="">
            <a:extLst xmlns:a="http://schemas.openxmlformats.org/drawingml/2006/main">
              <a:ext uri="{FF2B5EF4-FFF2-40B4-BE49-F238E27FC236}">
                <a16:creationId xmlns:a16="http://schemas.microsoft.com/office/drawing/2014/main" id="{B60A4EE3-9FB0-4E7E-BFD6-364F719B14F8}"/>
              </a:ext>
            </a:extLst>
          </p:cNvPr>
          <p:cNvSpPr>
            <a:spLocks xmlns:a="http://schemas.openxmlformats.org/drawingml/2006/main" noGrp="1"/>
          </p:cNvSpPr>
          <p:nvPr/>
        </p:nvSpPr>
        <p:spPr>
          <a:xfrm xmlns:a="http://schemas.openxmlformats.org/drawingml/2006/main">
            <a:off x="609600" y="58769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Experimental milestone: early output may require corrections. This is separate from public product readiness.</a:t>
            </a:r>
          </a:p>
        </p:txBody>
      </p:sp>
    </p:spTree>
    <p:extLst>
      <p:ext uri="{BB962C8B-B14F-4D97-AF65-F5344CB8AC3E}">
        <p14:creationId xmlns:p14="http://schemas.microsoft.com/office/powerpoint/2010/main" val="1853508090"/>
      </p:ext>
    </p:extLst>
  </p:cSld>
</p:sld>
</file>

<file path=ppt/slides/slide1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68103E-86F3-43AB-8EFF-3735E059789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Social-media operations across channels</a:t>
            </a:r>
          </a:p>
        </p:txBody>
      </p:sp>
      <p:sp>
        <p:nvSpPr>
          <p:cNvPr id="2" name="">
            <a:extLst xmlns:a="http://schemas.openxmlformats.org/drawingml/2006/main">
              <a:ext uri="{FF2B5EF4-FFF2-40B4-BE49-F238E27FC236}">
                <a16:creationId xmlns:a16="http://schemas.microsoft.com/office/drawing/2014/main" id="{CBA6CAD7-2548-4B05-A175-3A255FC1062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14</a:t>
            </a:r>
          </a:p>
        </p:txBody>
      </p:sp>
      <p:sp>
        <p:nvSpPr>
          <p:cNvPr id="3" name="">
            <a:extLst xmlns:a="http://schemas.openxmlformats.org/drawingml/2006/main">
              <a:ext uri="{FF2B5EF4-FFF2-40B4-BE49-F238E27FC236}">
                <a16:creationId xmlns:a16="http://schemas.microsoft.com/office/drawing/2014/main" id="{B890A534-BE7C-4C7A-B0EC-956A5972D5D2}"/>
              </a:ext>
            </a:extLst>
          </p:cNvPr>
          <p:cNvSpPr>
            <a:spLocks xmlns:a="http://schemas.openxmlformats.org/drawingml/2006/main" noGrp="1"/>
          </p:cNvSpPr>
          <p:nvPr/>
        </p:nvSpPr>
        <p:spPr>
          <a:xfrm xmlns:a="http://schemas.openxmlformats.org/drawingml/2006/main">
            <a:off x="609600" y="163830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56DBD0"/>
                </a:solidFill>
                <a:latin typeface="Helvetica Neue"/>
                <a:ea typeface="Helvetica Neue"/>
                <a:cs typeface="Helvetica Neue"/>
              </a:defRPr>
            </a:pPr>
            <a:r>
              <a:rPr sz="2550" b="1">
                <a:solidFill>
                  <a:srgbClr val="56DBD0"/>
                </a:solidFill>
                <a:latin typeface="Helvetica Neue"/>
                <a:ea typeface="Helvetica Neue"/>
                <a:cs typeface="Helvetica Neue"/>
              </a:rPr>
              <a:t>YouTube · X · Facebook · Instagram · Pinterest · LinkedIn</a:t>
            </a:r>
          </a:p>
        </p:txBody>
      </p:sp>
      <p:sp>
        <p:nvSpPr>
          <p:cNvPr id="4" name="">
            <a:extLst xmlns:a="http://schemas.openxmlformats.org/drawingml/2006/main">
              <a:ext uri="{FF2B5EF4-FFF2-40B4-BE49-F238E27FC236}">
                <a16:creationId xmlns:a16="http://schemas.microsoft.com/office/drawing/2014/main" id="{80F923D0-64F2-426D-8289-C835DAF3BBD0}"/>
              </a:ext>
            </a:extLst>
          </p:cNvPr>
          <p:cNvSpPr>
            <a:spLocks xmlns:a="http://schemas.openxmlformats.org/drawingml/2006/main" noGrp="1"/>
          </p:cNvSpPr>
          <p:nvPr/>
        </p:nvSpPr>
        <p:spPr>
          <a:xfrm xmlns:a="http://schemas.openxmlformats.org/drawingml/2006/main">
            <a:off x="609600"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One content strategy</a:t>
            </a:r>
          </a:p>
        </p:txBody>
      </p:sp>
      <p:sp>
        <p:nvSpPr>
          <p:cNvPr id="5" name="">
            <a:extLst xmlns:a="http://schemas.openxmlformats.org/drawingml/2006/main">
              <a:ext uri="{FF2B5EF4-FFF2-40B4-BE49-F238E27FC236}">
                <a16:creationId xmlns:a16="http://schemas.microsoft.com/office/drawing/2014/main" id="{BE8886CB-6CB3-4DDA-BCF5-BDFFF555F190}"/>
              </a:ext>
            </a:extLst>
          </p:cNvPr>
          <p:cNvSpPr>
            <a:spLocks xmlns:a="http://schemas.openxmlformats.org/drawingml/2006/main" noGrp="1"/>
          </p:cNvSpPr>
          <p:nvPr/>
        </p:nvSpPr>
        <p:spPr>
          <a:xfrm xmlns:a="http://schemas.openxmlformats.org/drawingml/2006/main">
            <a:off x="609600"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Competitor research, audience hypotheses and a shared content plan guide platform-specific videos, posts and visual assets.</a:t>
            </a:r>
          </a:p>
        </p:txBody>
      </p:sp>
      <p:sp>
        <p:nvSpPr>
          <p:cNvPr id="6" name="">
            <a:extLst xmlns:a="http://schemas.openxmlformats.org/drawingml/2006/main">
              <a:ext uri="{FF2B5EF4-FFF2-40B4-BE49-F238E27FC236}">
                <a16:creationId xmlns:a16="http://schemas.microsoft.com/office/drawing/2014/main" id="{42B713DA-E78D-4AE6-90C7-9D51C2A6DC41}"/>
              </a:ext>
            </a:extLst>
          </p:cNvPr>
          <p:cNvSpPr>
            <a:spLocks xmlns:a="http://schemas.openxmlformats.org/drawingml/2006/main" noGrp="1"/>
          </p:cNvSpPr>
          <p:nvPr/>
        </p:nvSpPr>
        <p:spPr>
          <a:xfrm xmlns:a="http://schemas.openxmlformats.org/drawingml/2006/main">
            <a:off x="6429375"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measured feedback cycle</a:t>
            </a:r>
          </a:p>
        </p:txBody>
      </p:sp>
      <p:sp>
        <p:nvSpPr>
          <p:cNvPr id="7" name="">
            <a:extLst xmlns:a="http://schemas.openxmlformats.org/drawingml/2006/main">
              <a:ext uri="{FF2B5EF4-FFF2-40B4-BE49-F238E27FC236}">
                <a16:creationId xmlns:a16="http://schemas.microsoft.com/office/drawing/2014/main" id="{65FAB464-1228-4245-AFC8-9A36A5486539}"/>
              </a:ext>
            </a:extLst>
          </p:cNvPr>
          <p:cNvSpPr>
            <a:spLocks xmlns:a="http://schemas.openxmlformats.org/drawingml/2006/main" noGrp="1"/>
          </p:cNvSpPr>
          <p:nvPr/>
        </p:nvSpPr>
        <p:spPr>
          <a:xfrm xmlns:a="http://schemas.openxmlformats.org/drawingml/2006/main">
            <a:off x="6429375"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Analyze response to published content, identify effective topics and formats, and adjust subsequent production and scheduling.</a:t>
            </a:r>
          </a:p>
        </p:txBody>
      </p:sp>
      <p:sp>
        <p:nvSpPr>
          <p:cNvPr id="8" name="">
            <a:extLst xmlns:a="http://schemas.openxmlformats.org/drawingml/2006/main">
              <a:ext uri="{FF2B5EF4-FFF2-40B4-BE49-F238E27FC236}">
                <a16:creationId xmlns:a16="http://schemas.microsoft.com/office/drawing/2014/main" id="{3ED0CC8C-0408-4F94-8FA9-13185D6BB588}"/>
              </a:ext>
            </a:extLst>
          </p:cNvPr>
          <p:cNvSpPr>
            <a:spLocks xmlns:a="http://schemas.openxmlformats.org/drawingml/2006/main" noGrp="1"/>
          </p:cNvSpPr>
          <p:nvPr/>
        </p:nvSpPr>
        <p:spPr>
          <a:xfrm xmlns:a="http://schemas.openxmlformats.org/drawingml/2006/main">
            <a:off x="609600" y="5619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EAF1F5"/>
                </a:solidFill>
                <a:latin typeface="Helvetica Neue"/>
                <a:ea typeface="Helvetica Neue"/>
                <a:cs typeface="Helvetica Neue"/>
              </a:defRPr>
            </a:pPr>
            <a:r>
              <a:rPr sz="1950" b="1">
                <a:solidFill>
                  <a:srgbClr val="EAF1F5"/>
                </a:solidFill>
                <a:latin typeface="Helvetica Neue"/>
                <a:ea typeface="Helvetica Neue"/>
                <a:cs typeface="Helvetica Neue"/>
              </a:rPr>
              <a:t>Implemented starting point: YouTube competitor and audience analysis. Cross-platform management is planned.</a:t>
            </a:r>
          </a:p>
        </p:txBody>
      </p:sp>
    </p:spTree>
    <p:extLst>
      <p:ext uri="{BB962C8B-B14F-4D97-AF65-F5344CB8AC3E}">
        <p14:creationId xmlns:p14="http://schemas.microsoft.com/office/powerpoint/2010/main" val="138430964"/>
      </p:ext>
    </p:extLst>
  </p:cSld>
</p:sld>
</file>

<file path=ppt/slides/slide1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B305A84-E7D4-4E93-B6AA-CB5712C4164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customer-owned generation connections</a:t>
            </a:r>
          </a:p>
        </p:txBody>
      </p:sp>
      <p:sp>
        <p:nvSpPr>
          <p:cNvPr id="2" name="">
            <a:extLst xmlns:a="http://schemas.openxmlformats.org/drawingml/2006/main">
              <a:ext uri="{FF2B5EF4-FFF2-40B4-BE49-F238E27FC236}">
                <a16:creationId xmlns:a16="http://schemas.microsoft.com/office/drawing/2014/main" id="{70B9E6E7-824A-4A8C-8779-52E11F7BE573}"/>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15</a:t>
            </a:r>
          </a:p>
        </p:txBody>
      </p:sp>
      <p:sp>
        <p:nvSpPr>
          <p:cNvPr id="3" name="">
            <a:extLst xmlns:a="http://schemas.openxmlformats.org/drawingml/2006/main">
              <a:ext uri="{FF2B5EF4-FFF2-40B4-BE49-F238E27FC236}">
                <a16:creationId xmlns:a16="http://schemas.microsoft.com/office/drawing/2014/main" id="{28BB5E66-7988-4E6C-BA77-CA3E81D9B837}"/>
              </a:ext>
            </a:extLst>
          </p:cNvPr>
          <p:cNvSpPr>
            <a:spLocks xmlns:a="http://schemas.openxmlformats.org/drawingml/2006/main" noGrp="1"/>
          </p:cNvSpPr>
          <p:nvPr/>
        </p:nvSpPr>
        <p:spPr>
          <a:xfrm xmlns:a="http://schemas.openxmlformats.org/drawingml/2006/main">
            <a:off x="6096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Customer-owned</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provider accounts</a:t>
            </a:r>
          </a:p>
        </p:txBody>
      </p:sp>
      <p:sp>
        <p:nvSpPr>
          <p:cNvPr id="4" name="">
            <a:extLst xmlns:a="http://schemas.openxmlformats.org/drawingml/2006/main">
              <a:ext uri="{FF2B5EF4-FFF2-40B4-BE49-F238E27FC236}">
                <a16:creationId xmlns:a16="http://schemas.microsoft.com/office/drawing/2014/main" id="{40750823-1FC3-4FA6-8C46-BF82A57A2391}"/>
              </a:ext>
            </a:extLst>
          </p:cNvPr>
          <p:cNvSpPr>
            <a:spLocks xmlns:a="http://schemas.openxmlformats.org/drawingml/2006/main" noGrp="1"/>
          </p:cNvSpPr>
          <p:nvPr/>
        </p:nvSpPr>
        <p:spPr>
          <a:xfrm xmlns:a="http://schemas.openxmlformats.org/drawingml/2006/main">
            <a:off x="443865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Supported MCP / API</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connections</a:t>
            </a:r>
          </a:p>
        </p:txBody>
      </p:sp>
      <p:sp>
        <p:nvSpPr>
          <p:cNvPr id="5" name="">
            <a:extLst xmlns:a="http://schemas.openxmlformats.org/drawingml/2006/main">
              <a:ext uri="{FF2B5EF4-FFF2-40B4-BE49-F238E27FC236}">
                <a16:creationId xmlns:a16="http://schemas.microsoft.com/office/drawing/2014/main" id="{BD6D643F-3BDD-40CC-8AC0-3CDB5CACC2F9}"/>
              </a:ext>
            </a:extLst>
          </p:cNvPr>
          <p:cNvSpPr>
            <a:spLocks xmlns:a="http://schemas.openxmlformats.org/drawingml/2006/main" noGrp="1"/>
          </p:cNvSpPr>
          <p:nvPr/>
        </p:nvSpPr>
        <p:spPr>
          <a:xfrm xmlns:a="http://schemas.openxmlformats.org/drawingml/2006/main">
            <a:off x="82677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Vantemio planning,</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editing and delivery</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92430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775335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08C1EF71-26BC-4629-95BE-89018E2F71C5}"/>
              </a:ext>
            </a:extLst>
          </p:cNvPr>
          <p:cNvSpPr>
            <a:spLocks xmlns:a="http://schemas.openxmlformats.org/drawingml/2006/main" noGrp="1"/>
          </p:cNvSpPr>
          <p:nvPr/>
        </p:nvSpPr>
        <p:spPr>
          <a:xfrm xmlns:a="http://schemas.openxmlformats.org/drawingml/2006/main">
            <a:off x="609600"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Customer expense</a:t>
            </a:r>
          </a:p>
        </p:txBody>
      </p:sp>
      <p:sp>
        <p:nvSpPr>
          <p:cNvPr id="9" name="">
            <a:extLst xmlns:a="http://schemas.openxmlformats.org/drawingml/2006/main">
              <a:ext uri="{FF2B5EF4-FFF2-40B4-BE49-F238E27FC236}">
                <a16:creationId xmlns:a16="http://schemas.microsoft.com/office/drawing/2014/main" id="{AB32FA44-0F9B-4527-823F-99CEBE1F21AC}"/>
              </a:ext>
            </a:extLst>
          </p:cNvPr>
          <p:cNvSpPr>
            <a:spLocks xmlns:a="http://schemas.openxmlformats.org/drawingml/2006/main" noGrp="1"/>
          </p:cNvSpPr>
          <p:nvPr/>
        </p:nvSpPr>
        <p:spPr>
          <a:xfrm xmlns:a="http://schemas.openxmlformats.org/drawingml/2006/main">
            <a:off x="609600"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Customers pay their providers directly for video generation. Connections need isolation, authorization and usage controls.</a:t>
            </a:r>
          </a:p>
        </p:txBody>
      </p:sp>
      <p:sp>
        <p:nvSpPr>
          <p:cNvPr id="10" name="">
            <a:extLst xmlns:a="http://schemas.openxmlformats.org/drawingml/2006/main">
              <a:ext uri="{FF2B5EF4-FFF2-40B4-BE49-F238E27FC236}">
                <a16:creationId xmlns:a16="http://schemas.microsoft.com/office/drawing/2014/main" id="{B3E634A1-30E0-49CF-AC00-3AEA6273B953}"/>
              </a:ext>
            </a:extLst>
          </p:cNvPr>
          <p:cNvSpPr>
            <a:spLocks xmlns:a="http://schemas.openxmlformats.org/drawingml/2006/main" noGrp="1"/>
          </p:cNvSpPr>
          <p:nvPr/>
        </p:nvSpPr>
        <p:spPr>
          <a:xfrm xmlns:a="http://schemas.openxmlformats.org/drawingml/2006/main">
            <a:off x="6429375"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expense</a:t>
            </a:r>
          </a:p>
        </p:txBody>
      </p:sp>
      <p:sp>
        <p:nvSpPr>
          <p:cNvPr id="11" name="">
            <a:extLst xmlns:a="http://schemas.openxmlformats.org/drawingml/2006/main">
              <a:ext uri="{FF2B5EF4-FFF2-40B4-BE49-F238E27FC236}">
                <a16:creationId xmlns:a16="http://schemas.microsoft.com/office/drawing/2014/main" id="{1D37EC2B-BABD-40CA-ADD3-0C865B20C3DB}"/>
              </a:ext>
            </a:extLst>
          </p:cNvPr>
          <p:cNvSpPr>
            <a:spLocks xmlns:a="http://schemas.openxmlformats.org/drawingml/2006/main" noGrp="1"/>
          </p:cNvSpPr>
          <p:nvPr/>
        </p:nvSpPr>
        <p:spPr>
          <a:xfrm xmlns:a="http://schemas.openxmlformats.org/drawingml/2006/main">
            <a:off x="6429375"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Orchestration, editing, rendering and storage remain operating costs. Internal generation is for tests, demos and owned channels.</a:t>
            </a:r>
          </a:p>
        </p:txBody>
      </p:sp>
    </p:spTree>
    <p:extLst>
      <p:ext uri="{BB962C8B-B14F-4D97-AF65-F5344CB8AC3E}">
        <p14:creationId xmlns:p14="http://schemas.microsoft.com/office/powerpoint/2010/main" val="397603810"/>
      </p:ext>
    </p:extLst>
  </p:cSld>
</p:sld>
</file>

<file path=ppt/slides/slide1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74AB3CE-4003-4AFD-8E42-E60F00BB52B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Four ways to commercialize the engine</a:t>
            </a:r>
          </a:p>
        </p:txBody>
      </p:sp>
      <p:sp>
        <p:nvSpPr>
          <p:cNvPr id="2" name="">
            <a:extLst xmlns:a="http://schemas.openxmlformats.org/drawingml/2006/main">
              <a:ext uri="{FF2B5EF4-FFF2-40B4-BE49-F238E27FC236}">
                <a16:creationId xmlns:a16="http://schemas.microsoft.com/office/drawing/2014/main" id="{B1E38CF6-B614-4D0E-A485-CCD0684761E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16</a:t>
            </a:r>
          </a:p>
        </p:txBody>
      </p:sp>
      <p:graphicFrame>
        <p:nvGraphicFramePr>
          <p:cNvPr id="7" name=""/>
          <p:cNvGraphicFramePr/>
          <p:nvPr/>
        </p:nvGraphicFramePr>
        <p:xfrm>
          <a:off xmlns:a="http://schemas.openxmlformats.org/drawingml/2006/main" x="609600" y="1762125"/>
          <a:ext xmlns:a="http://schemas.openxmlformats.org/drawingml/2006/main" cx="10972800" cy="3429000"/>
        </p:xfrm>
        <a:graphic xmlns:a="http://schemas.openxmlformats.org/drawingml/2006/main">
          <a:graphicData uri="http://schemas.openxmlformats.org/drawingml/2006/table">
            <a:tbl>
              <a:tblPr/>
              <a:tblGrid>
                <a:gridCol w="2476500"/>
                <a:gridCol w="4095750"/>
                <a:gridCol w="4400550"/>
              </a:tblGrid>
              <a:tr h="685800">
                <a:tc>
                  <a:txBody>
                    <a:bodyPr lIns="114300" tIns="95250" rIns="114300" bIns="76200">
                      <a:noAutofit/>
                    </a:bodyPr>
                    <a:lstStyle/>
                    <a:p>
                      <a:r>
                        <a:rPr sz="1800" b="1">
                          <a:solidFill>
                            <a:srgbClr val="FFFFFF"/>
                          </a:solidFill>
                          <a:latin typeface="Helvetica Neue"/>
                          <a:ea typeface="Helvetica Neue"/>
                          <a:cs typeface="Helvetica Neue"/>
                        </a:rPr>
                        <a:t>Format</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Customer value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Development direction</a:t>
                      </a:r>
                    </a:p>
                  </a:txBody>
                  <a:tcPr marL="91440" marR="91440" marT="45720" marB="45720" anchor="ctr">
                    <a:solidFill>
                      <a:srgbClr val="12384C"/>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Software licensing</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Run on customer-owned hardware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Installable, supported product</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Hosted cloud service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Use managed workflows remotely</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Account isolation and cloud operations</a:t>
                      </a:r>
                    </a:p>
                  </a:txBody>
                  <a:tcPr marL="91440" marR="91440" marT="45720" marB="45720" anchor="ctr">
                    <a:solidFill>
                      <a:srgbClr val="102938"/>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Developer API</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Embed jobs and results in other apps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Future external API and MCP interfaces</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Business implementation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Adapt the engine to existing operations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Domain rules, connectors and workflow setup</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539D5973-EC7C-48A8-A713-98CD500C6EAC}"/>
              </a:ext>
            </a:extLst>
          </p:cNvPr>
          <p:cNvSpPr>
            <a:spLocks xmlns:a="http://schemas.openxmlformats.org/drawingml/2006/main" noGrp="1"/>
          </p:cNvSpPr>
          <p:nvPr/>
        </p:nvSpPr>
        <p:spPr>
          <a:xfrm xmlns:a="http://schemas.openxmlformats.org/drawingml/2006/main">
            <a:off x="609600" y="56007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56DBD0"/>
                </a:solidFill>
                <a:latin typeface="Helvetica Neue"/>
                <a:ea typeface="Helvetica Neue"/>
                <a:cs typeface="Helvetica Neue"/>
              </a:defRPr>
            </a:pPr>
            <a:r>
              <a:rPr sz="2250" b="1">
                <a:solidFill>
                  <a:srgbClr val="56DBD0"/>
                </a:solidFill>
                <a:latin typeface="Helvetica Neue"/>
                <a:ea typeface="Helvetica Neue"/>
                <a:cs typeface="Helvetica Neue"/>
              </a:rPr>
              <a:t>Local, cloud and hybrid deployments use the same orchestration model.</a:t>
            </a:r>
          </a:p>
        </p:txBody>
      </p:sp>
    </p:spTree>
    <p:extLst>
      <p:ext uri="{BB962C8B-B14F-4D97-AF65-F5344CB8AC3E}">
        <p14:creationId xmlns:p14="http://schemas.microsoft.com/office/powerpoint/2010/main" val="2021376561"/>
      </p:ext>
    </p:extLst>
  </p:cSld>
</p:sld>
</file>

<file path=ppt/slides/slide1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7C7D3D-38B0-4632-B6AD-095A5464242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workflows for marketing agencies</a:t>
            </a:r>
          </a:p>
        </p:txBody>
      </p:sp>
      <p:sp>
        <p:nvSpPr>
          <p:cNvPr id="2" name="">
            <a:extLst xmlns:a="http://schemas.openxmlformats.org/drawingml/2006/main">
              <a:ext uri="{FF2B5EF4-FFF2-40B4-BE49-F238E27FC236}">
                <a16:creationId xmlns:a16="http://schemas.microsoft.com/office/drawing/2014/main" id="{3C8EFD30-AC0C-4961-8937-3888C8C3509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17</a:t>
            </a:r>
          </a:p>
        </p:txBody>
      </p:sp>
      <p:sp>
        <p:nvSpPr>
          <p:cNvPr id="3" name="">
            <a:extLst xmlns:a="http://schemas.openxmlformats.org/drawingml/2006/main">
              <a:ext uri="{FF2B5EF4-FFF2-40B4-BE49-F238E27FC236}">
                <a16:creationId xmlns:a16="http://schemas.microsoft.com/office/drawing/2014/main" id="{4ACF8666-860E-407E-8D1C-1FD51EE1334F}"/>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Configure each client</a:t>
            </a:r>
          </a:p>
        </p:txBody>
      </p:sp>
      <p:sp>
        <p:nvSpPr>
          <p:cNvPr id="4" name="">
            <a:extLst xmlns:a="http://schemas.openxmlformats.org/drawingml/2006/main">
              <a:ext uri="{FF2B5EF4-FFF2-40B4-BE49-F238E27FC236}">
                <a16:creationId xmlns:a16="http://schemas.microsoft.com/office/drawing/2014/main" id="{159FCEB6-3ACD-46E8-AF82-518665D94CE6}"/>
              </a:ext>
            </a:extLst>
          </p:cNvPr>
          <p:cNvSpPr>
            <a:spLocks xmlns:a="http://schemas.openxmlformats.org/drawingml/2006/main" noGrp="1"/>
          </p:cNvSpPr>
          <p:nvPr/>
        </p:nvSpPr>
        <p:spPr>
          <a:xfrm xmlns:a="http://schemas.openxmlformats.org/drawingml/2006/main">
            <a:off x="609600"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Brand rules, target audience, approved sources, service accounts, campaign goals and review policy.</a:t>
            </a:r>
          </a:p>
        </p:txBody>
      </p:sp>
      <p:sp>
        <p:nvSpPr>
          <p:cNvPr id="5" name="">
            <a:extLst xmlns:a="http://schemas.openxmlformats.org/drawingml/2006/main">
              <a:ext uri="{FF2B5EF4-FFF2-40B4-BE49-F238E27FC236}">
                <a16:creationId xmlns:a16="http://schemas.microsoft.com/office/drawing/2014/main" id="{E6254A1F-18B7-4F2E-BB4A-99EE0B96126C}"/>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Run recurring production</a:t>
            </a:r>
          </a:p>
        </p:txBody>
      </p:sp>
      <p:sp>
        <p:nvSpPr>
          <p:cNvPr id="6" name="">
            <a:extLst xmlns:a="http://schemas.openxmlformats.org/drawingml/2006/main">
              <a:ext uri="{FF2B5EF4-FFF2-40B4-BE49-F238E27FC236}">
                <a16:creationId xmlns:a16="http://schemas.microsoft.com/office/drawing/2014/main" id="{8983C2D2-498E-40AD-BB56-943B5C23EA7F}"/>
              </a:ext>
            </a:extLst>
          </p:cNvPr>
          <p:cNvSpPr>
            <a:spLocks xmlns:a="http://schemas.openxmlformats.org/drawingml/2006/main" noGrp="1"/>
          </p:cNvSpPr>
          <p:nvPr/>
        </p:nvSpPr>
        <p:spPr>
          <a:xfrm xmlns:a="http://schemas.openxmlformats.org/drawingml/2006/main">
            <a:off x="6429375"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Prepare content calendars, scripts, videos and posts; schedule publication and coordinate channel-specific execution.</a:t>
            </a:r>
          </a:p>
        </p:txBody>
      </p:sp>
      <p:sp>
        <p:nvSpPr>
          <p:cNvPr id="7" name="">
            <a:extLst xmlns:a="http://schemas.openxmlformats.org/drawingml/2006/main">
              <a:ext uri="{FF2B5EF4-FFF2-40B4-BE49-F238E27FC236}">
                <a16:creationId xmlns:a16="http://schemas.microsoft.com/office/drawing/2014/main" id="{89DA70D3-5887-4350-ABD0-0362A61F09BE}"/>
              </a:ext>
            </a:extLst>
          </p:cNvPr>
          <p:cNvSpPr>
            <a:spLocks xmlns:a="http://schemas.openxmlformats.org/drawingml/2006/main" noGrp="1"/>
          </p:cNvSpPr>
          <p:nvPr/>
        </p:nvSpPr>
        <p:spPr>
          <a:xfrm xmlns:a="http://schemas.openxmlformats.org/drawingml/2006/main">
            <a:off x="609600"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 and improve</a:t>
            </a:r>
          </a:p>
        </p:txBody>
      </p:sp>
      <p:sp>
        <p:nvSpPr>
          <p:cNvPr id="8" name="">
            <a:extLst xmlns:a="http://schemas.openxmlformats.org/drawingml/2006/main">
              <a:ext uri="{FF2B5EF4-FFF2-40B4-BE49-F238E27FC236}">
                <a16:creationId xmlns:a16="http://schemas.microsoft.com/office/drawing/2014/main" id="{4A6DA934-13B8-4293-B7CB-2EDB727201F4}"/>
              </a:ext>
            </a:extLst>
          </p:cNvPr>
          <p:cNvSpPr>
            <a:spLocks xmlns:a="http://schemas.openxmlformats.org/drawingml/2006/main" noGrp="1"/>
          </p:cNvSpPr>
          <p:nvPr/>
        </p:nvSpPr>
        <p:spPr>
          <a:xfrm xmlns:a="http://schemas.openxmlformats.org/drawingml/2006/main">
            <a:off x="609600"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Compare audience response, content performance and campaign results. Update the next content cycle.</a:t>
            </a:r>
          </a:p>
        </p:txBody>
      </p:sp>
      <p:sp>
        <p:nvSpPr>
          <p:cNvPr id="9" name="">
            <a:extLst xmlns:a="http://schemas.openxmlformats.org/drawingml/2006/main">
              <a:ext uri="{FF2B5EF4-FFF2-40B4-BE49-F238E27FC236}">
                <a16:creationId xmlns:a16="http://schemas.microsoft.com/office/drawing/2014/main" id="{52F74680-AF95-47DB-87FC-502AF27BDB38}"/>
              </a:ext>
            </a:extLst>
          </p:cNvPr>
          <p:cNvSpPr>
            <a:spLocks xmlns:a="http://schemas.openxmlformats.org/drawingml/2006/main" noGrp="1"/>
          </p:cNvSpPr>
          <p:nvPr/>
        </p:nvSpPr>
        <p:spPr>
          <a:xfrm xmlns:a="http://schemas.openxmlformats.org/drawingml/2006/main">
            <a:off x="6429375"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Expand the workflow</a:t>
            </a:r>
          </a:p>
        </p:txBody>
      </p:sp>
      <p:sp>
        <p:nvSpPr>
          <p:cNvPr id="10" name="">
            <a:extLst xmlns:a="http://schemas.openxmlformats.org/drawingml/2006/main">
              <a:ext uri="{FF2B5EF4-FFF2-40B4-BE49-F238E27FC236}">
                <a16:creationId xmlns:a16="http://schemas.microsoft.com/office/drawing/2014/main" id="{00B7B5DF-9CCF-4A85-A7E7-CD6F471983F1}"/>
              </a:ext>
            </a:extLst>
          </p:cNvPr>
          <p:cNvSpPr>
            <a:spLocks xmlns:a="http://schemas.openxmlformats.org/drawingml/2006/main" noGrp="1"/>
          </p:cNvSpPr>
          <p:nvPr/>
        </p:nvSpPr>
        <p:spPr>
          <a:xfrm xmlns:a="http://schemas.openxmlformats.org/drawingml/2006/main">
            <a:off x="6429375"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Add SEO planning, campaign analysis and related digital-service tasks through dedicated adapters and validation rules.</a:t>
            </a:r>
          </a:p>
        </p:txBody>
      </p:sp>
    </p:spTree>
    <p:extLst>
      <p:ext uri="{BB962C8B-B14F-4D97-AF65-F5344CB8AC3E}">
        <p14:creationId xmlns:p14="http://schemas.microsoft.com/office/powerpoint/2010/main" val="2123113237"/>
      </p:ext>
    </p:extLst>
  </p:cSld>
</p:sld>
</file>

<file path=ppt/slides/slide1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74D509-9A91-4E9A-8152-71E7653CA01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An extensible internal core for other businesses</a:t>
            </a:r>
          </a:p>
        </p:txBody>
      </p:sp>
      <p:sp>
        <p:nvSpPr>
          <p:cNvPr id="2" name="">
            <a:extLst xmlns:a="http://schemas.openxmlformats.org/drawingml/2006/main">
              <a:ext uri="{FF2B5EF4-FFF2-40B4-BE49-F238E27FC236}">
                <a16:creationId xmlns:a16="http://schemas.microsoft.com/office/drawing/2014/main" id="{AC2FD8C9-B3BF-45F1-95AD-46E09C45552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18</a:t>
            </a:r>
          </a:p>
        </p:txBody>
      </p:sp>
      <p:sp>
        <p:nvSpPr>
          <p:cNvPr id="3" name="">
            <a:extLst xmlns:a="http://schemas.openxmlformats.org/drawingml/2006/main">
              <a:ext uri="{FF2B5EF4-FFF2-40B4-BE49-F238E27FC236}">
                <a16:creationId xmlns:a16="http://schemas.microsoft.com/office/drawing/2014/main" id="{7960753C-1B79-4539-B563-980EFD48889F}"/>
              </a:ext>
            </a:extLst>
          </p:cNvPr>
          <p:cNvSpPr>
            <a:spLocks xmlns:a="http://schemas.openxmlformats.org/drawingml/2006/main" noGrp="1"/>
          </p:cNvSpPr>
          <p:nvPr/>
        </p:nvSpPr>
        <p:spPr>
          <a:xfrm xmlns:a="http://schemas.openxmlformats.org/drawingml/2006/main">
            <a:off x="609600" y="16383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FFFFFF"/>
                </a:solidFill>
                <a:latin typeface="Helvetica Neue"/>
                <a:ea typeface="Helvetica Neue"/>
                <a:cs typeface="Helvetica Neue"/>
              </a:defRPr>
            </a:pPr>
            <a:r>
              <a:rPr sz="2925" b="1">
                <a:solidFill>
                  <a:srgbClr val="FFFFFF"/>
                </a:solidFill>
                <a:latin typeface="Helvetica Neue"/>
                <a:ea typeface="Helvetica Neue"/>
                <a:cs typeface="Helvetica Neue"/>
              </a:rPr>
              <a:t>New services reuse the same operating pattern</a:t>
            </a:r>
          </a:p>
        </p:txBody>
      </p:sp>
      <p:sp>
        <p:nvSpPr>
          <p:cNvPr id="4" name="">
            <a:extLst xmlns:a="http://schemas.openxmlformats.org/drawingml/2006/main">
              <a:ext uri="{FF2B5EF4-FFF2-40B4-BE49-F238E27FC236}">
                <a16:creationId xmlns:a16="http://schemas.microsoft.com/office/drawing/2014/main" id="{949E5465-9620-434E-B8A8-803CF77F8DF0}"/>
              </a:ext>
            </a:extLst>
          </p:cNvPr>
          <p:cNvSpPr>
            <a:spLocks xmlns:a="http://schemas.openxmlformats.org/drawingml/2006/main" noGrp="1"/>
          </p:cNvSpPr>
          <p:nvPr/>
        </p:nvSpPr>
        <p:spPr>
          <a:xfrm xmlns:a="http://schemas.openxmlformats.org/drawingml/2006/main">
            <a:off x="609600" y="28765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56DBD0"/>
                </a:solidFill>
                <a:latin typeface="Helvetica Neue"/>
                <a:ea typeface="Helvetica Neue"/>
                <a:cs typeface="Helvetica Neue"/>
              </a:defRPr>
            </a:pPr>
            <a:r>
              <a:rPr sz="2400" b="0">
                <a:solidFill>
                  <a:srgbClr val="56DBD0"/>
                </a:solidFill>
                <a:latin typeface="Helvetica Neue"/>
                <a:ea typeface="Helvetica Neue"/>
                <a:cs typeface="Helvetica Neue"/>
              </a:rPr>
              <a:t>Receive a task → plan → execute → verify → deliver → retain experience</a:t>
            </a:r>
          </a:p>
        </p:txBody>
      </p:sp>
      <p:sp>
        <p:nvSpPr>
          <p:cNvPr id="5" name="">
            <a:extLst xmlns:a="http://schemas.openxmlformats.org/drawingml/2006/main">
              <a:ext uri="{FF2B5EF4-FFF2-40B4-BE49-F238E27FC236}">
                <a16:creationId xmlns:a16="http://schemas.microsoft.com/office/drawing/2014/main" id="{71D8C532-60E3-40DA-9AA3-EAFB9730C31B}"/>
              </a:ext>
            </a:extLst>
          </p:cNvPr>
          <p:cNvSpPr>
            <a:spLocks xmlns:a="http://schemas.openxmlformats.org/drawingml/2006/main" noGrp="1"/>
          </p:cNvSpPr>
          <p:nvPr/>
        </p:nvSpPr>
        <p:spPr>
          <a:xfrm xmlns:a="http://schemas.openxmlformats.org/drawingml/2006/main">
            <a:off x="609600"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applications</a:t>
            </a:r>
          </a:p>
        </p:txBody>
      </p:sp>
      <p:sp>
        <p:nvSpPr>
          <p:cNvPr id="6" name="">
            <a:extLst xmlns:a="http://schemas.openxmlformats.org/drawingml/2006/main">
              <a:ext uri="{FF2B5EF4-FFF2-40B4-BE49-F238E27FC236}">
                <a16:creationId xmlns:a16="http://schemas.microsoft.com/office/drawing/2014/main" id="{EF9D3900-50FE-49FD-A741-CD0F183DCADD}"/>
              </a:ext>
            </a:extLst>
          </p:cNvPr>
          <p:cNvSpPr>
            <a:spLocks xmlns:a="http://schemas.openxmlformats.org/drawingml/2006/main" noGrp="1"/>
          </p:cNvSpPr>
          <p:nvPr/>
        </p:nvSpPr>
        <p:spPr>
          <a:xfrm xmlns:a="http://schemas.openxmlformats.org/drawingml/2006/main">
            <a:off x="609600"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Marketing operations, digital-service agencies and selected travel-agency workflows.</a:t>
            </a:r>
          </a:p>
        </p:txBody>
      </p:sp>
      <p:sp>
        <p:nvSpPr>
          <p:cNvPr id="7" name="">
            <a:extLst xmlns:a="http://schemas.openxmlformats.org/drawingml/2006/main">
              <a:ext uri="{FF2B5EF4-FFF2-40B4-BE49-F238E27FC236}">
                <a16:creationId xmlns:a16="http://schemas.microsoft.com/office/drawing/2014/main" id="{ED6EF0ED-E29F-426C-8507-359567CAA5EC}"/>
              </a:ext>
            </a:extLst>
          </p:cNvPr>
          <p:cNvSpPr>
            <a:spLocks xmlns:a="http://schemas.openxmlformats.org/drawingml/2006/main" noGrp="1"/>
          </p:cNvSpPr>
          <p:nvPr/>
        </p:nvSpPr>
        <p:spPr>
          <a:xfrm xmlns:a="http://schemas.openxmlformats.org/drawingml/2006/main">
            <a:off x="6429375"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How the engine expands</a:t>
            </a:r>
          </a:p>
        </p:txBody>
      </p:sp>
      <p:sp>
        <p:nvSpPr>
          <p:cNvPr id="8" name="">
            <a:extLst xmlns:a="http://schemas.openxmlformats.org/drawingml/2006/main">
              <a:ext uri="{FF2B5EF4-FFF2-40B4-BE49-F238E27FC236}">
                <a16:creationId xmlns:a16="http://schemas.microsoft.com/office/drawing/2014/main" id="{F06F3BC1-9C1B-4BD8-BEC3-0C3C454E1676}"/>
              </a:ext>
            </a:extLst>
          </p:cNvPr>
          <p:cNvSpPr>
            <a:spLocks xmlns:a="http://schemas.openxmlformats.org/drawingml/2006/main" noGrp="1"/>
          </p:cNvSpPr>
          <p:nvPr/>
        </p:nvSpPr>
        <p:spPr>
          <a:xfrm xmlns:a="http://schemas.openxmlformats.org/drawingml/2006/main">
            <a:off x="6429375"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Add domain knowledge, software connectors, execution rules and tests around the existing core.</a:t>
            </a:r>
          </a:p>
        </p:txBody>
      </p:sp>
    </p:spTree>
    <p:extLst>
      <p:ext uri="{BB962C8B-B14F-4D97-AF65-F5344CB8AC3E}">
        <p14:creationId xmlns:p14="http://schemas.microsoft.com/office/powerpoint/2010/main" val="1560172723"/>
      </p:ext>
    </p:extLst>
  </p:cSld>
</p:sld>
</file>

<file path=ppt/slides/slide1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6CA383-3CB5-459A-9275-1CAA31A8871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Base tokenization and Boson commerce</a:t>
            </a:r>
          </a:p>
        </p:txBody>
      </p:sp>
      <p:sp>
        <p:nvSpPr>
          <p:cNvPr id="2" name="">
            <a:extLst xmlns:a="http://schemas.openxmlformats.org/drawingml/2006/main">
              <a:ext uri="{FF2B5EF4-FFF2-40B4-BE49-F238E27FC236}">
                <a16:creationId xmlns:a16="http://schemas.microsoft.com/office/drawing/2014/main" id="{83694F0B-34DD-458C-8D98-B4E2D6CAC56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19</a:t>
            </a:r>
          </a:p>
        </p:txBody>
      </p:sp>
      <p:sp>
        <p:nvSpPr>
          <p:cNvPr id="3" name="">
            <a:extLst xmlns:a="http://schemas.openxmlformats.org/drawingml/2006/main">
              <a:ext uri="{FF2B5EF4-FFF2-40B4-BE49-F238E27FC236}">
                <a16:creationId xmlns:a16="http://schemas.microsoft.com/office/drawing/2014/main" id="{FD94D820-8492-4AE5-A762-4DE3CF6B3D4D}"/>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Content registration</a:t>
            </a:r>
          </a:p>
        </p:txBody>
      </p:sp>
      <p:sp>
        <p:nvSpPr>
          <p:cNvPr id="4" name="">
            <a:extLst xmlns:a="http://schemas.openxmlformats.org/drawingml/2006/main">
              <a:ext uri="{FF2B5EF4-FFF2-40B4-BE49-F238E27FC236}">
                <a16:creationId xmlns:a16="http://schemas.microsoft.com/office/drawing/2014/main" id="{C5ACE6AB-7A92-4D74-83C4-DF7DBAE6538D}"/>
              </a:ext>
            </a:extLst>
          </p:cNvPr>
          <p:cNvSpPr>
            <a:spLocks xmlns:a="http://schemas.openxmlformats.org/drawingml/2006/main" noGrp="1"/>
          </p:cNvSpPr>
          <p:nvPr/>
        </p:nvSpPr>
        <p:spPr>
          <a:xfrm xmlns:a="http://schemas.openxmlformats.org/drawingml/2006/main">
            <a:off x="609600"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Final acceptance binds the video hash, recipient and terms to an NFT content passport on Base Sepolia in the demo.</a:t>
            </a:r>
          </a:p>
        </p:txBody>
      </p:sp>
      <p:sp>
        <p:nvSpPr>
          <p:cNvPr id="5" name="">
            <a:extLst xmlns:a="http://schemas.openxmlformats.org/drawingml/2006/main">
              <a:ext uri="{FF2B5EF4-FFF2-40B4-BE49-F238E27FC236}">
                <a16:creationId xmlns:a16="http://schemas.microsoft.com/office/drawing/2014/main" id="{8D3809F5-E76D-468B-9BDD-8B46232D82F9}"/>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Commercial exchange</a:t>
            </a:r>
          </a:p>
        </p:txBody>
      </p:sp>
      <p:sp>
        <p:nvSpPr>
          <p:cNvPr id="6" name="">
            <a:extLst xmlns:a="http://schemas.openxmlformats.org/drawingml/2006/main">
              <a:ext uri="{FF2B5EF4-FFF2-40B4-BE49-F238E27FC236}">
                <a16:creationId xmlns:a16="http://schemas.microsoft.com/office/drawing/2014/main" id="{C5F7EE16-85CD-4D20-90C8-8738911746DC}"/>
              </a:ext>
            </a:extLst>
          </p:cNvPr>
          <p:cNvSpPr>
            <a:spLocks xmlns:a="http://schemas.openxmlformats.org/drawingml/2006/main" noGrp="1"/>
          </p:cNvSpPr>
          <p:nvPr/>
        </p:nvSpPr>
        <p:spPr>
          <a:xfrm xmlns:a="http://schemas.openxmlformats.org/drawingml/2006/main">
            <a:off x="6429375"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Boson offers and redeemable NFTs handle purchase, redemption and completion of the exchange.</a:t>
            </a:r>
          </a:p>
        </p:txBody>
      </p:sp>
      <p:sp>
        <p:nvSpPr>
          <p:cNvPr id="7" name="">
            <a:extLst xmlns:a="http://schemas.openxmlformats.org/drawingml/2006/main">
              <a:ext uri="{FF2B5EF4-FFF2-40B4-BE49-F238E27FC236}">
                <a16:creationId xmlns:a16="http://schemas.microsoft.com/office/drawing/2014/main" id="{F8708807-E0B6-44E9-8C8B-83B2EB6972A7}"/>
              </a:ext>
            </a:extLst>
          </p:cNvPr>
          <p:cNvSpPr>
            <a:spLocks xmlns:a="http://schemas.openxmlformats.org/drawingml/2006/main" noGrp="1"/>
          </p:cNvSpPr>
          <p:nvPr/>
        </p:nvSpPr>
        <p:spPr>
          <a:xfrm xmlns:a="http://schemas.openxmlformats.org/drawingml/2006/main">
            <a:off x="609600"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Studio-service orders</a:t>
            </a:r>
          </a:p>
        </p:txBody>
      </p:sp>
      <p:sp>
        <p:nvSpPr>
          <p:cNvPr id="8" name="">
            <a:extLst xmlns:a="http://schemas.openxmlformats.org/drawingml/2006/main">
              <a:ext uri="{FF2B5EF4-FFF2-40B4-BE49-F238E27FC236}">
                <a16:creationId xmlns:a16="http://schemas.microsoft.com/office/drawing/2014/main" id="{569050CF-D7B7-4A29-92D2-211A9B7F40CC}"/>
              </a:ext>
            </a:extLst>
          </p:cNvPr>
          <p:cNvSpPr>
            <a:spLocks xmlns:a="http://schemas.openxmlformats.org/drawingml/2006/main" noGrp="1"/>
          </p:cNvSpPr>
          <p:nvPr/>
        </p:nvSpPr>
        <p:spPr>
          <a:xfrm xmlns:a="http://schemas.openxmlformats.org/drawingml/2006/main">
            <a:off x="609600"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Order and result adapters connect a marketplace request with an accepted studio output.</a:t>
            </a:r>
          </a:p>
        </p:txBody>
      </p:sp>
      <p:sp>
        <p:nvSpPr>
          <p:cNvPr id="9" name="">
            <a:extLst xmlns:a="http://schemas.openxmlformats.org/drawingml/2006/main">
              <a:ext uri="{FF2B5EF4-FFF2-40B4-BE49-F238E27FC236}">
                <a16:creationId xmlns:a16="http://schemas.microsoft.com/office/drawing/2014/main" id="{B464776E-35E8-4B0E-8624-7C41BC08BDCF}"/>
              </a:ext>
            </a:extLst>
          </p:cNvPr>
          <p:cNvSpPr>
            <a:spLocks xmlns:a="http://schemas.openxmlformats.org/drawingml/2006/main" noGrp="1"/>
          </p:cNvSpPr>
          <p:nvPr/>
        </p:nvSpPr>
        <p:spPr>
          <a:xfrm xmlns:a="http://schemas.openxmlformats.org/drawingml/2006/main">
            <a:off x="6429375"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Protected delivery</a:t>
            </a:r>
          </a:p>
        </p:txBody>
      </p:sp>
      <p:sp>
        <p:nvSpPr>
          <p:cNvPr id="10" name="">
            <a:extLst xmlns:a="http://schemas.openxmlformats.org/drawingml/2006/main">
              <a:ext uri="{FF2B5EF4-FFF2-40B4-BE49-F238E27FC236}">
                <a16:creationId xmlns:a16="http://schemas.microsoft.com/office/drawing/2014/main" id="{9EDEAD95-8DFA-4903-A6EC-BD1D0E058FA0}"/>
              </a:ext>
            </a:extLst>
          </p:cNvPr>
          <p:cNvSpPr>
            <a:spLocks xmlns:a="http://schemas.openxmlformats.org/drawingml/2006/main" noGrp="1"/>
          </p:cNvSpPr>
          <p:nvPr/>
        </p:nvSpPr>
        <p:spPr>
          <a:xfrm xmlns:a="http://schemas.openxmlformats.org/drawingml/2006/main">
            <a:off x="6429375"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Buyer identity, entitlement and the accepted file hash govern access to the delivered asset.</a:t>
            </a:r>
          </a:p>
        </p:txBody>
      </p:sp>
      <p:sp>
        <p:nvSpPr>
          <p:cNvPr id="11" name="">
            <a:extLst xmlns:a="http://schemas.openxmlformats.org/drawingml/2006/main">
              <a:ext uri="{FF2B5EF4-FFF2-40B4-BE49-F238E27FC236}">
                <a16:creationId xmlns:a16="http://schemas.microsoft.com/office/drawing/2014/main" id="{A07989DC-A9D0-44C5-A5B9-94CB90D4F653}"/>
              </a:ext>
            </a:extLst>
          </p:cNvPr>
          <p:cNvSpPr>
            <a:spLocks xmlns:a="http://schemas.openxmlformats.org/drawingml/2006/main" noGrp="1"/>
          </p:cNvSpPr>
          <p:nvPr/>
        </p:nvSpPr>
        <p:spPr>
          <a:xfrm xmlns:a="http://schemas.openxmlformats.org/drawingml/2006/main">
            <a:off x="609600" y="56292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56DBD0"/>
                </a:solidFill>
                <a:latin typeface="Helvetica Neue"/>
                <a:ea typeface="Helvetica Neue"/>
                <a:cs typeface="Helvetica Neue"/>
              </a:defRPr>
            </a:pPr>
            <a:r>
              <a:rPr sz="1800" b="1">
                <a:solidFill>
                  <a:srgbClr val="56DBD0"/>
                </a:solidFill>
                <a:latin typeface="Helvetica Neue"/>
                <a:ea typeface="Helvetica Neue"/>
                <a:cs typeface="Helvetica Neue"/>
              </a:rPr>
              <a:t>The content passport identifies the asset. The Boson NFT represents its commercial exchange.</a:t>
            </a:r>
          </a:p>
        </p:txBody>
      </p:sp>
    </p:spTree>
    <p:extLst>
      <p:ext uri="{BB962C8B-B14F-4D97-AF65-F5344CB8AC3E}">
        <p14:creationId xmlns:p14="http://schemas.microsoft.com/office/powerpoint/2010/main" val="879930667"/>
      </p:ext>
    </p:extLst>
  </p:cSld>
</p:sld>
</file>

<file path=ppt/slides/slide2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116916-5FC0-4371-92BD-54F7E2992C9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tokenization and ownership records</a:t>
            </a:r>
          </a:p>
        </p:txBody>
      </p:sp>
      <p:sp>
        <p:nvSpPr>
          <p:cNvPr id="2" name="">
            <a:extLst xmlns:a="http://schemas.openxmlformats.org/drawingml/2006/main">
              <a:ext uri="{FF2B5EF4-FFF2-40B4-BE49-F238E27FC236}">
                <a16:creationId xmlns:a16="http://schemas.microsoft.com/office/drawing/2014/main" id="{9A311F93-EFA5-4A7C-8D96-41D29CCF13D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20</a:t>
            </a:r>
          </a:p>
        </p:txBody>
      </p:sp>
      <p:sp>
        <p:nvSpPr>
          <p:cNvPr id="3" name="">
            <a:extLst xmlns:a="http://schemas.openxmlformats.org/drawingml/2006/main">
              <a:ext uri="{FF2B5EF4-FFF2-40B4-BE49-F238E27FC236}">
                <a16:creationId xmlns:a16="http://schemas.microsoft.com/office/drawing/2014/main" id="{BF663BDD-2B73-4569-87D5-2C4B909D2895}"/>
              </a:ext>
            </a:extLst>
          </p:cNvPr>
          <p:cNvSpPr>
            <a:spLocks xmlns:a="http://schemas.openxmlformats.org/drawingml/2006/main" noGrp="1"/>
          </p:cNvSpPr>
          <p:nvPr/>
        </p:nvSpPr>
        <p:spPr>
          <a:xfrm xmlns:a="http://schemas.openxmlformats.org/drawingml/2006/main">
            <a:off x="6096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video</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Exact asset hash</a:t>
            </a:r>
          </a:p>
        </p:txBody>
      </p:sp>
      <p:sp>
        <p:nvSpPr>
          <p:cNvPr id="4" name="">
            <a:extLst xmlns:a="http://schemas.openxmlformats.org/drawingml/2006/main">
              <a:ext uri="{FF2B5EF4-FFF2-40B4-BE49-F238E27FC236}">
                <a16:creationId xmlns:a16="http://schemas.microsoft.com/office/drawing/2014/main" id="{0F0DA99D-E835-48F6-9BDB-F1B573FF72CD}"/>
              </a:ext>
            </a:extLst>
          </p:cNvPr>
          <p:cNvSpPr>
            <a:spLocks xmlns:a="http://schemas.openxmlformats.org/drawingml/2006/main" noGrp="1"/>
          </p:cNvSpPr>
          <p:nvPr/>
        </p:nvSpPr>
        <p:spPr>
          <a:xfrm xmlns:a="http://schemas.openxmlformats.org/drawingml/2006/main">
            <a:off x="443865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Content passport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Base Sepolia demo</a:t>
            </a:r>
          </a:p>
        </p:txBody>
      </p:sp>
      <p:sp>
        <p:nvSpPr>
          <p:cNvPr id="5" name="">
            <a:extLst xmlns:a="http://schemas.openxmlformats.org/drawingml/2006/main">
              <a:ext uri="{FF2B5EF4-FFF2-40B4-BE49-F238E27FC236}">
                <a16:creationId xmlns:a16="http://schemas.microsoft.com/office/drawing/2014/main" id="{27A66977-EB17-4F39-8C40-B5FA79D66400}"/>
              </a:ext>
            </a:extLst>
          </p:cNvPr>
          <p:cNvSpPr>
            <a:spLocks xmlns:a="http://schemas.openxmlformats.org/drawingml/2006/main" noGrp="1"/>
          </p:cNvSpPr>
          <p:nvPr/>
        </p:nvSpPr>
        <p:spPr>
          <a:xfrm xmlns:a="http://schemas.openxmlformats.org/drawingml/2006/main">
            <a:off x="82677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Owner / recipient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and attached terms</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92430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775335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8A58B41B-35E6-44AC-8B45-E0A4D8B19444}"/>
              </a:ext>
            </a:extLst>
          </p:cNvPr>
          <p:cNvSpPr>
            <a:spLocks xmlns:a="http://schemas.openxmlformats.org/drawingml/2006/main" noGrp="1"/>
          </p:cNvSpPr>
          <p:nvPr/>
        </p:nvSpPr>
        <p:spPr>
          <a:xfrm xmlns:a="http://schemas.openxmlformats.org/drawingml/2006/main">
            <a:off x="609600"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Version-specific provenance</a:t>
            </a:r>
          </a:p>
        </p:txBody>
      </p:sp>
      <p:sp>
        <p:nvSpPr>
          <p:cNvPr id="9" name="">
            <a:extLst xmlns:a="http://schemas.openxmlformats.org/drawingml/2006/main">
              <a:ext uri="{FF2B5EF4-FFF2-40B4-BE49-F238E27FC236}">
                <a16:creationId xmlns:a16="http://schemas.microsoft.com/office/drawing/2014/main" id="{5F74AF6A-F9BA-4439-9982-D11E9D17E2D5}"/>
              </a:ext>
            </a:extLst>
          </p:cNvPr>
          <p:cNvSpPr>
            <a:spLocks xmlns:a="http://schemas.openxmlformats.org/drawingml/2006/main" noGrp="1"/>
          </p:cNvSpPr>
          <p:nvPr/>
        </p:nvSpPr>
        <p:spPr>
          <a:xfrm xmlns:a="http://schemas.openxmlformats.org/drawingml/2006/main">
            <a:off x="609600"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Registration binds the accepted file to an onchain record. Existing registration is checked to prevent duplicate tokenization.</a:t>
            </a:r>
          </a:p>
        </p:txBody>
      </p:sp>
      <p:sp>
        <p:nvSpPr>
          <p:cNvPr id="10" name="">
            <a:extLst xmlns:a="http://schemas.openxmlformats.org/drawingml/2006/main">
              <a:ext uri="{FF2B5EF4-FFF2-40B4-BE49-F238E27FC236}">
                <a16:creationId xmlns:a16="http://schemas.microsoft.com/office/drawing/2014/main" id="{95D69DE4-340F-4CD4-87F8-4C855273C887}"/>
              </a:ext>
            </a:extLst>
          </p:cNvPr>
          <p:cNvSpPr>
            <a:spLocks xmlns:a="http://schemas.openxmlformats.org/drawingml/2006/main" noGrp="1"/>
          </p:cNvSpPr>
          <p:nvPr/>
        </p:nvSpPr>
        <p:spPr>
          <a:xfrm xmlns:a="http://schemas.openxmlformats.org/drawingml/2006/main">
            <a:off x="6429375"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Rights and attribution</a:t>
            </a:r>
          </a:p>
        </p:txBody>
      </p:sp>
      <p:sp>
        <p:nvSpPr>
          <p:cNvPr id="11" name="">
            <a:extLst xmlns:a="http://schemas.openxmlformats.org/drawingml/2006/main">
              <a:ext uri="{FF2B5EF4-FFF2-40B4-BE49-F238E27FC236}">
                <a16:creationId xmlns:a16="http://schemas.microsoft.com/office/drawing/2014/main" id="{92201ADA-A07E-4D05-BEE1-72CB46DBF00F}"/>
              </a:ext>
            </a:extLst>
          </p:cNvPr>
          <p:cNvSpPr>
            <a:spLocks xmlns:a="http://schemas.openxmlformats.org/drawingml/2006/main" noGrp="1"/>
          </p:cNvSpPr>
          <p:nvPr/>
        </p:nvSpPr>
        <p:spPr>
          <a:xfrm xmlns:a="http://schemas.openxmlformats.org/drawingml/2006/main">
            <a:off x="6429375"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The record can reference declared authorship and usage terms. Entitlement controls access to the correct digital asset.</a:t>
            </a:r>
          </a:p>
        </p:txBody>
      </p:sp>
      <p:sp>
        <p:nvSpPr>
          <p:cNvPr id="12" name="">
            <a:extLst xmlns:a="http://schemas.openxmlformats.org/drawingml/2006/main">
              <a:ext uri="{FF2B5EF4-FFF2-40B4-BE49-F238E27FC236}">
                <a16:creationId xmlns:a16="http://schemas.microsoft.com/office/drawing/2014/main" id="{71C4D9D6-23A5-4EFF-8B97-10E3B2E56FFA}"/>
              </a:ext>
            </a:extLst>
          </p:cNvPr>
          <p:cNvSpPr>
            <a:spLocks xmlns:a="http://schemas.openxmlformats.org/drawingml/2006/main" noGrp="1"/>
          </p:cNvSpPr>
          <p:nvPr/>
        </p:nvSpPr>
        <p:spPr>
          <a:xfrm xmlns:a="http://schemas.openxmlformats.org/drawingml/2006/main">
            <a:off x="609600" y="58674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Token ownership and onchain attribution do not by themselves prove authorship or transfer copyright.</a:t>
            </a:r>
          </a:p>
        </p:txBody>
      </p:sp>
    </p:spTree>
    <p:extLst>
      <p:ext uri="{BB962C8B-B14F-4D97-AF65-F5344CB8AC3E}">
        <p14:creationId xmlns:p14="http://schemas.microsoft.com/office/powerpoint/2010/main" val="336575992"/>
      </p:ext>
    </p:extLst>
  </p:cSld>
</p:sld>
</file>

<file path=ppt/slides/slide2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FD53EF3-019E-45A7-85BF-A6C0E3203AD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copyright checks for uploaded media</a:t>
            </a:r>
          </a:p>
        </p:txBody>
      </p:sp>
      <p:sp>
        <p:nvSpPr>
          <p:cNvPr id="2" name="">
            <a:extLst xmlns:a="http://schemas.openxmlformats.org/drawingml/2006/main">
              <a:ext uri="{FF2B5EF4-FFF2-40B4-BE49-F238E27FC236}">
                <a16:creationId xmlns:a16="http://schemas.microsoft.com/office/drawing/2014/main" id="{BD96F27A-65CE-4134-809C-1333774F530C}"/>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21</a:t>
            </a:r>
          </a:p>
        </p:txBody>
      </p:sp>
      <p:sp>
        <p:nvSpPr>
          <p:cNvPr id="3" name="">
            <a:extLst xmlns:a="http://schemas.openxmlformats.org/drawingml/2006/main">
              <a:ext uri="{FF2B5EF4-FFF2-40B4-BE49-F238E27FC236}">
                <a16:creationId xmlns:a16="http://schemas.microsoft.com/office/drawing/2014/main" id="{83C28247-D529-4157-8EE6-DE5BFCCCBCAB}"/>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Original content and rights</a:t>
            </a:r>
          </a:p>
        </p:txBody>
      </p:sp>
      <p:sp>
        <p:nvSpPr>
          <p:cNvPr id="4" name="">
            <a:extLst xmlns:a="http://schemas.openxmlformats.org/drawingml/2006/main">
              <a:ext uri="{FF2B5EF4-FFF2-40B4-BE49-F238E27FC236}">
                <a16:creationId xmlns:a16="http://schemas.microsoft.com/office/drawing/2014/main" id="{36FA19E6-17AB-4179-9F2E-06EA3B810979}"/>
              </a:ext>
            </a:extLst>
          </p:cNvPr>
          <p:cNvSpPr>
            <a:spLocks xmlns:a="http://schemas.openxmlformats.org/drawingml/2006/main" noGrp="1"/>
          </p:cNvSpPr>
          <p:nvPr/>
        </p:nvSpPr>
        <p:spPr>
          <a:xfrm xmlns:a="http://schemas.openxmlformats.org/drawingml/2006/main">
            <a:off x="609600" y="21145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Require uploaders to identify the source and provide ownership or licensing evidence for externally created videos and their components.</a:t>
            </a:r>
          </a:p>
        </p:txBody>
      </p:sp>
      <p:sp>
        <p:nvSpPr>
          <p:cNvPr id="5" name="">
            <a:extLst xmlns:a="http://schemas.openxmlformats.org/drawingml/2006/main">
              <a:ext uri="{FF2B5EF4-FFF2-40B4-BE49-F238E27FC236}">
                <a16:creationId xmlns:a16="http://schemas.microsoft.com/office/drawing/2014/main" id="{5BF78722-0506-436D-8443-2580C188A5A0}"/>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Audio and visual matching</a:t>
            </a:r>
          </a:p>
        </p:txBody>
      </p:sp>
      <p:sp>
        <p:nvSpPr>
          <p:cNvPr id="6" name="">
            <a:extLst xmlns:a="http://schemas.openxmlformats.org/drawingml/2006/main">
              <a:ext uri="{FF2B5EF4-FFF2-40B4-BE49-F238E27FC236}">
                <a16:creationId xmlns:a16="http://schemas.microsoft.com/office/drawing/2014/main" id="{E927FFCB-4766-448C-A4B4-D05150F4FBD7}"/>
              </a:ext>
            </a:extLst>
          </p:cNvPr>
          <p:cNvSpPr>
            <a:spLocks xmlns:a="http://schemas.openxmlformats.org/drawingml/2006/main" noGrp="1"/>
          </p:cNvSpPr>
          <p:nvPr/>
        </p:nvSpPr>
        <p:spPr>
          <a:xfrm xmlns:a="http://schemas.openxmlformats.org/drawingml/2006/main">
            <a:off x="6429375" y="21145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Screen external uploads through available fingerprinting services. Consider YouTube Content ID only where approved access and permitted workflows allow it.</a:t>
            </a:r>
          </a:p>
        </p:txBody>
      </p:sp>
      <p:sp>
        <p:nvSpPr>
          <p:cNvPr id="7" name="">
            <a:extLst xmlns:a="http://schemas.openxmlformats.org/drawingml/2006/main">
              <a:ext uri="{FF2B5EF4-FFF2-40B4-BE49-F238E27FC236}">
                <a16:creationId xmlns:a16="http://schemas.microsoft.com/office/drawing/2014/main" id="{3AF8229E-77F0-46F0-B071-C39DF8F2D208}"/>
              </a:ext>
            </a:extLst>
          </p:cNvPr>
          <p:cNvSpPr>
            <a:spLocks xmlns:a="http://schemas.openxmlformats.org/drawingml/2006/main" noGrp="1"/>
          </p:cNvSpPr>
          <p:nvPr/>
        </p:nvSpPr>
        <p:spPr>
          <a:xfrm xmlns:a="http://schemas.openxmlformats.org/drawingml/2006/main">
            <a:off x="609600" y="3743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Block unauthorized reuse</a:t>
            </a:r>
          </a:p>
        </p:txBody>
      </p:sp>
      <p:sp>
        <p:nvSpPr>
          <p:cNvPr id="8" name="">
            <a:extLst xmlns:a="http://schemas.openxmlformats.org/drawingml/2006/main">
              <a:ext uri="{FF2B5EF4-FFF2-40B4-BE49-F238E27FC236}">
                <a16:creationId xmlns:a16="http://schemas.microsoft.com/office/drawing/2014/main" id="{425A23C3-B5FA-457F-883A-5BADA2E16C30}"/>
              </a:ext>
            </a:extLst>
          </p:cNvPr>
          <p:cNvSpPr>
            <a:spLocks xmlns:a="http://schemas.openxmlformats.org/drawingml/2006/main" noGrp="1"/>
          </p:cNvSpPr>
          <p:nvPr/>
        </p:nvSpPr>
        <p:spPr>
          <a:xfrm xmlns:a="http://schemas.openxmlformats.org/drawingml/2006/main">
            <a:off x="609600" y="42386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Prohibit unauthorized copying, clipping and remixing. Hold flagged or unresolved uploads before editing, publication, tokenization or marketplace delivery.</a:t>
            </a:r>
          </a:p>
        </p:txBody>
      </p:sp>
      <p:sp>
        <p:nvSpPr>
          <p:cNvPr id="9" name="">
            <a:extLst xmlns:a="http://schemas.openxmlformats.org/drawingml/2006/main">
              <a:ext uri="{FF2B5EF4-FFF2-40B4-BE49-F238E27FC236}">
                <a16:creationId xmlns:a16="http://schemas.microsoft.com/office/drawing/2014/main" id="{858C00B1-7746-4EA8-AF43-CCE44E4A2D82}"/>
              </a:ext>
            </a:extLst>
          </p:cNvPr>
          <p:cNvSpPr>
            <a:spLocks xmlns:a="http://schemas.openxmlformats.org/drawingml/2006/main" noGrp="1"/>
          </p:cNvSpPr>
          <p:nvPr/>
        </p:nvSpPr>
        <p:spPr>
          <a:xfrm xmlns:a="http://schemas.openxmlformats.org/drawingml/2006/main">
            <a:off x="6429375" y="3743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Review and record decisions</a:t>
            </a:r>
          </a:p>
        </p:txBody>
      </p:sp>
      <p:sp>
        <p:nvSpPr>
          <p:cNvPr id="10" name="">
            <a:extLst xmlns:a="http://schemas.openxmlformats.org/drawingml/2006/main">
              <a:ext uri="{FF2B5EF4-FFF2-40B4-BE49-F238E27FC236}">
                <a16:creationId xmlns:a16="http://schemas.microsoft.com/office/drawing/2014/main" id="{DBF9BB5E-3FDE-491C-AA12-2F0762AFBA3A}"/>
              </a:ext>
            </a:extLst>
          </p:cNvPr>
          <p:cNvSpPr>
            <a:spLocks xmlns:a="http://schemas.openxmlformats.org/drawingml/2006/main" noGrp="1"/>
          </p:cNvSpPr>
          <p:nvPr/>
        </p:nvSpPr>
        <p:spPr>
          <a:xfrm xmlns:a="http://schemas.openxmlformats.org/drawingml/2006/main">
            <a:off x="6429375" y="42386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Review disputed matches and rights evidence. Retain the source, asset hash, check results and decision for each accepted version.</a:t>
            </a:r>
          </a:p>
        </p:txBody>
      </p:sp>
      <p:sp>
        <p:nvSpPr>
          <p:cNvPr id="11" name="">
            <a:extLst xmlns:a="http://schemas.openxmlformats.org/drawingml/2006/main">
              <a:ext uri="{FF2B5EF4-FFF2-40B4-BE49-F238E27FC236}">
                <a16:creationId xmlns:a16="http://schemas.microsoft.com/office/drawing/2014/main" id="{9F5D18CA-1C77-4BC0-9B54-9E88222EDD33}"/>
              </a:ext>
            </a:extLst>
          </p:cNvPr>
          <p:cNvSpPr>
            <a:spLocks xmlns:a="http://schemas.openxmlformats.org/drawingml/2006/main" noGrp="1"/>
          </p:cNvSpPr>
          <p:nvPr/>
        </p:nvSpPr>
        <p:spPr>
          <a:xfrm xmlns:a="http://schemas.openxmlformats.org/drawingml/2006/main">
            <a:off x="609600" y="58674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Planned safeguards. Matching can miss content or flag licensed use; no complete copyright guarantee.</a:t>
            </a:r>
          </a:p>
        </p:txBody>
      </p:sp>
    </p:spTree>
    <p:extLst>
      <p:ext uri="{BB962C8B-B14F-4D97-AF65-F5344CB8AC3E}">
        <p14:creationId xmlns:p14="http://schemas.microsoft.com/office/powerpoint/2010/main" val="493418361"/>
      </p:ext>
    </p:extLst>
  </p:cSld>
</p:sld>
</file>

<file path=ppt/slides/slide2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E8573D-0791-40E1-8399-81632271A0D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Boson Market: a standalone product line</a:t>
            </a:r>
          </a:p>
        </p:txBody>
      </p:sp>
      <p:sp>
        <p:nvSpPr>
          <p:cNvPr id="2" name="">
            <a:extLst xmlns:a="http://schemas.openxmlformats.org/drawingml/2006/main">
              <a:ext uri="{FF2B5EF4-FFF2-40B4-BE49-F238E27FC236}">
                <a16:creationId xmlns:a16="http://schemas.microsoft.com/office/drawing/2014/main" id="{D546BB1B-554E-4551-AEB0-75E35AFE3409}"/>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22</a:t>
            </a:r>
          </a:p>
        </p:txBody>
      </p:sp>
      <p:sp>
        <p:nvSpPr>
          <p:cNvPr id="3" name="">
            <a:extLst xmlns:a="http://schemas.openxmlformats.org/drawingml/2006/main">
              <a:ext uri="{FF2B5EF4-FFF2-40B4-BE49-F238E27FC236}">
                <a16:creationId xmlns:a16="http://schemas.microsoft.com/office/drawing/2014/main" id="{61FBC440-BEBF-4985-911E-D7607EB1FE29}"/>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Service marketplace</a:t>
            </a:r>
          </a:p>
        </p:txBody>
      </p:sp>
      <p:sp>
        <p:nvSpPr>
          <p:cNvPr id="4" name="">
            <a:extLst xmlns:a="http://schemas.openxmlformats.org/drawingml/2006/main">
              <a:ext uri="{FF2B5EF4-FFF2-40B4-BE49-F238E27FC236}">
                <a16:creationId xmlns:a16="http://schemas.microsoft.com/office/drawing/2014/main" id="{DB306362-D2C9-4695-A807-24B70F81A52F}"/>
              </a:ext>
            </a:extLst>
          </p:cNvPr>
          <p:cNvSpPr>
            <a:spLocks xmlns:a="http://schemas.openxmlformats.org/drawingml/2006/main" noGrp="1"/>
          </p:cNvSpPr>
          <p:nvPr/>
        </p:nvSpPr>
        <p:spPr>
          <a:xfrm xmlns:a="http://schemas.openxmlformats.org/drawingml/2006/main">
            <a:off x="609600"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Planned full workflow: customers commission work; studios produce, validate and deliver results. Order adapters already exist.</a:t>
            </a:r>
          </a:p>
        </p:txBody>
      </p:sp>
      <p:sp>
        <p:nvSpPr>
          <p:cNvPr id="5" name="">
            <a:extLst xmlns:a="http://schemas.openxmlformats.org/drawingml/2006/main">
              <a:ext uri="{FF2B5EF4-FFF2-40B4-BE49-F238E27FC236}">
                <a16:creationId xmlns:a16="http://schemas.microsoft.com/office/drawing/2014/main" id="{A68F707D-1C5D-4744-9883-0BA08DA04E47}"/>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Digital-asset commerce</a:t>
            </a:r>
          </a:p>
        </p:txBody>
      </p:sp>
      <p:sp>
        <p:nvSpPr>
          <p:cNvPr id="6" name="">
            <a:extLst xmlns:a="http://schemas.openxmlformats.org/drawingml/2006/main">
              <a:ext uri="{FF2B5EF4-FFF2-40B4-BE49-F238E27FC236}">
                <a16:creationId xmlns:a16="http://schemas.microsoft.com/office/drawing/2014/main" id="{A56F8A96-7050-4FF4-826F-B514023E30EC}"/>
              </a:ext>
            </a:extLst>
          </p:cNvPr>
          <p:cNvSpPr>
            <a:spLocks xmlns:a="http://schemas.openxmlformats.org/drawingml/2006/main" noGrp="1"/>
          </p:cNvSpPr>
          <p:nvPr/>
        </p:nvSpPr>
        <p:spPr>
          <a:xfrm xmlns:a="http://schemas.openxmlformats.org/drawingml/2006/main">
            <a:off x="6429375"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Tokenized media, buyer entitlement and protected digital delivery connect the asset record to its commercial exchange.</a:t>
            </a:r>
          </a:p>
        </p:txBody>
      </p:sp>
      <p:sp>
        <p:nvSpPr>
          <p:cNvPr id="7" name="">
            <a:extLst xmlns:a="http://schemas.openxmlformats.org/drawingml/2006/main">
              <a:ext uri="{FF2B5EF4-FFF2-40B4-BE49-F238E27FC236}">
                <a16:creationId xmlns:a16="http://schemas.microsoft.com/office/drawing/2014/main" id="{EB5DF285-3EDE-456F-82C5-29CA4A0D6FD6}"/>
              </a:ext>
            </a:extLst>
          </p:cNvPr>
          <p:cNvSpPr>
            <a:spLocks xmlns:a="http://schemas.openxmlformats.org/drawingml/2006/main" noGrp="1"/>
          </p:cNvSpPr>
          <p:nvPr/>
        </p:nvSpPr>
        <p:spPr>
          <a:xfrm xmlns:a="http://schemas.openxmlformats.org/drawingml/2006/main">
            <a:off x="609600" y="42291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56DBD0"/>
                </a:solidFill>
                <a:latin typeface="Helvetica Neue"/>
                <a:ea typeface="Helvetica Neue"/>
                <a:cs typeface="Helvetica Neue"/>
              </a:defRPr>
            </a:pPr>
            <a:r>
              <a:rPr sz="2775" b="1">
                <a:solidFill>
                  <a:srgbClr val="56DBD0"/>
                </a:solidFill>
                <a:latin typeface="Helvetica Neue"/>
                <a:ea typeface="Helvetica Neue"/>
                <a:cs typeface="Helvetica Neue"/>
              </a:rPr>
              <a:t>Independent development path</a:t>
            </a:r>
          </a:p>
        </p:txBody>
      </p:sp>
      <p:sp>
        <p:nvSpPr>
          <p:cNvPr id="8" name="">
            <a:extLst xmlns:a="http://schemas.openxmlformats.org/drawingml/2006/main">
              <a:ext uri="{FF2B5EF4-FFF2-40B4-BE49-F238E27FC236}">
                <a16:creationId xmlns:a16="http://schemas.microsoft.com/office/drawing/2014/main" id="{0C927D85-DB70-4489-9067-3FF145F50154}"/>
              </a:ext>
            </a:extLst>
          </p:cNvPr>
          <p:cNvSpPr>
            <a:spLocks xmlns:a="http://schemas.openxmlformats.org/drawingml/2006/main" noGrp="1"/>
          </p:cNvSpPr>
          <p:nvPr/>
        </p:nvSpPr>
        <p:spPr>
          <a:xfrm xmlns:a="http://schemas.openxmlformats.org/drawingml/2006/main">
            <a:off x="609600" y="496252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Expand to multiple studios and service providers, seller tools and marketplace operations. Physical-goods commerce is a later extension.</a:t>
            </a:r>
          </a:p>
        </p:txBody>
      </p:sp>
    </p:spTree>
    <p:extLst>
      <p:ext uri="{BB962C8B-B14F-4D97-AF65-F5344CB8AC3E}">
        <p14:creationId xmlns:p14="http://schemas.microsoft.com/office/powerpoint/2010/main" val="1078490769"/>
      </p:ext>
    </p:extLst>
  </p:cSld>
</p:sld>
</file>

<file path=ppt/slides/slide2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D556157-A5B2-4907-ACA3-1BC5CFD40A0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From a Boson order to the delivered result</a:t>
            </a:r>
          </a:p>
        </p:txBody>
      </p:sp>
      <p:sp>
        <p:nvSpPr>
          <p:cNvPr id="2" name="">
            <a:extLst xmlns:a="http://schemas.openxmlformats.org/drawingml/2006/main">
              <a:ext uri="{FF2B5EF4-FFF2-40B4-BE49-F238E27FC236}">
                <a16:creationId xmlns:a16="http://schemas.microsoft.com/office/drawing/2014/main" id="{6393001D-65E7-4ED9-AA44-26D00705DEF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23</a:t>
            </a:r>
          </a:p>
        </p:txBody>
      </p:sp>
      <p:sp>
        <p:nvSpPr>
          <p:cNvPr id="3" name="">
            <a:extLst xmlns:a="http://schemas.openxmlformats.org/drawingml/2006/main">
              <a:ext uri="{FF2B5EF4-FFF2-40B4-BE49-F238E27FC236}">
                <a16:creationId xmlns:a16="http://schemas.microsoft.com/office/drawing/2014/main" id="{062F05C2-9735-4981-863D-8852CE97EA6E}"/>
              </a:ext>
            </a:extLst>
          </p:cNvPr>
          <p:cNvSpPr>
            <a:spLocks xmlns:a="http://schemas.openxmlformats.org/drawingml/2006/main" noGrp="1"/>
          </p:cNvSpPr>
          <p:nvPr/>
        </p:nvSpPr>
        <p:spPr>
          <a:xfrm xmlns:a="http://schemas.openxmlformats.org/drawingml/2006/main">
            <a:off x="6096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Boson service order</a:t>
            </a:r>
          </a:p>
        </p:txBody>
      </p:sp>
      <p:sp>
        <p:nvSpPr>
          <p:cNvPr id="4" name="">
            <a:extLst xmlns:a="http://schemas.openxmlformats.org/drawingml/2006/main">
              <a:ext uri="{FF2B5EF4-FFF2-40B4-BE49-F238E27FC236}">
                <a16:creationId xmlns:a16="http://schemas.microsoft.com/office/drawing/2014/main" id="{C34D58B7-1579-47D4-9394-95E7BA1E9B41}"/>
              </a:ext>
            </a:extLst>
          </p:cNvPr>
          <p:cNvSpPr>
            <a:spLocks xmlns:a="http://schemas.openxmlformats.org/drawingml/2006/main" noGrp="1"/>
          </p:cNvSpPr>
          <p:nvPr/>
        </p:nvSpPr>
        <p:spPr>
          <a:xfrm xmlns:a="http://schemas.openxmlformats.org/drawingml/2006/main">
            <a:off x="443865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Studio plans the job</a:t>
            </a:r>
          </a:p>
        </p:txBody>
      </p:sp>
      <p:sp>
        <p:nvSpPr>
          <p:cNvPr id="5" name="">
            <a:extLst xmlns:a="http://schemas.openxmlformats.org/drawingml/2006/main">
              <a:ext uri="{FF2B5EF4-FFF2-40B4-BE49-F238E27FC236}">
                <a16:creationId xmlns:a16="http://schemas.microsoft.com/office/drawing/2014/main" id="{88D51725-A9CD-4BC2-B690-8255B7725875}"/>
              </a:ext>
            </a:extLst>
          </p:cNvPr>
          <p:cNvSpPr>
            <a:spLocks xmlns:a="http://schemas.openxmlformats.org/drawingml/2006/main" noGrp="1"/>
          </p:cNvSpPr>
          <p:nvPr/>
        </p:nvSpPr>
        <p:spPr>
          <a:xfrm xmlns:a="http://schemas.openxmlformats.org/drawingml/2006/main">
            <a:off x="82677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Production and checks</a:t>
            </a:r>
          </a:p>
        </p:txBody>
      </p:sp>
      <p:sp>
        <p:nvSpPr>
          <p:cNvPr id="6" name="">
            <a:extLst xmlns:a="http://schemas.openxmlformats.org/drawingml/2006/main">
              <a:ext uri="{FF2B5EF4-FFF2-40B4-BE49-F238E27FC236}">
                <a16:creationId xmlns:a16="http://schemas.microsoft.com/office/drawing/2014/main" id="{76BC0178-D1D8-49B6-A2E2-A9B8FF9820A7}"/>
              </a:ext>
            </a:extLst>
          </p:cNvPr>
          <p:cNvSpPr>
            <a:spLocks xmlns:a="http://schemas.openxmlformats.org/drawingml/2006/main" noGrp="1"/>
          </p:cNvSpPr>
          <p:nvPr/>
        </p:nvSpPr>
        <p:spPr>
          <a:xfrm xmlns:a="http://schemas.openxmlformats.org/drawingml/2006/main">
            <a:off x="82677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asset version</a:t>
            </a:r>
          </a:p>
        </p:txBody>
      </p:sp>
      <p:sp>
        <p:nvSpPr>
          <p:cNvPr id="7" name="">
            <a:extLst xmlns:a="http://schemas.openxmlformats.org/drawingml/2006/main">
              <a:ext uri="{FF2B5EF4-FFF2-40B4-BE49-F238E27FC236}">
                <a16:creationId xmlns:a16="http://schemas.microsoft.com/office/drawing/2014/main" id="{F750C377-8D5E-4B23-8C4F-BDE55F8FE315}"/>
              </a:ext>
            </a:extLst>
          </p:cNvPr>
          <p:cNvSpPr>
            <a:spLocks xmlns:a="http://schemas.openxmlformats.org/drawingml/2006/main" noGrp="1"/>
          </p:cNvSpPr>
          <p:nvPr/>
        </p:nvSpPr>
        <p:spPr>
          <a:xfrm xmlns:a="http://schemas.openxmlformats.org/drawingml/2006/main">
            <a:off x="443865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Tokenization and access</a:t>
            </a:r>
          </a:p>
        </p:txBody>
      </p:sp>
      <p:sp>
        <p:nvSpPr>
          <p:cNvPr id="8" name="">
            <a:extLst xmlns:a="http://schemas.openxmlformats.org/drawingml/2006/main">
              <a:ext uri="{FF2B5EF4-FFF2-40B4-BE49-F238E27FC236}">
                <a16:creationId xmlns:a16="http://schemas.microsoft.com/office/drawing/2014/main" id="{128FBE6D-A66C-423E-A07C-9DFE0432D0D3}"/>
              </a:ext>
            </a:extLst>
          </p:cNvPr>
          <p:cNvSpPr>
            <a:spLocks xmlns:a="http://schemas.openxmlformats.org/drawingml/2006/main" noGrp="1"/>
          </p:cNvSpPr>
          <p:nvPr/>
        </p:nvSpPr>
        <p:spPr>
          <a:xfrm xmlns:a="http://schemas.openxmlformats.org/drawingml/2006/main">
            <a:off x="6096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Delivery and completion</a:t>
            </a:r>
          </a:p>
        </p:txBody>
      </p:sp>
      <p:cxnSp>
        <p:nvCxnSpPr>
          <p:cNvPr id="23" name=""/>
          <p:cNvCxnSpPr>
            <a:stCxn xmlns:a="http://schemas.openxmlformats.org/drawingml/2006/main" id="3" idx="3"/>
            <a:endCxn xmlns:a="http://schemas.openxmlformats.org/drawingml/2006/main" id="4" idx="1"/>
          </p:cNvCxnSpPr>
          <p:nvPr/>
        </p:nvCxnSpPr>
        <p:spPr>
          <a:xfrm xmlns:a="http://schemas.openxmlformats.org/drawingml/2006/main">
            <a:off x="392430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775335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5" idx="2"/>
            <a:endCxn xmlns:a="http://schemas.openxmlformats.org/drawingml/2006/main" id="6" idx="0"/>
          </p:cNvCxnSpPr>
          <p:nvPr/>
        </p:nvCxnSpPr>
        <p:spPr>
          <a:xfrm xmlns:a="http://schemas.openxmlformats.org/drawingml/2006/main">
            <a:off x="9925050" y="2867025"/>
            <a:ext cx="0" cy="100965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6" idx="1"/>
            <a:endCxn xmlns:a="http://schemas.openxmlformats.org/drawingml/2006/main" id="7" idx="3"/>
          </p:cNvCxnSpPr>
          <p:nvPr/>
        </p:nvCxnSpPr>
        <p:spPr>
          <a:xfrm xmlns:a="http://schemas.openxmlformats.org/drawingml/2006/main" flipH="1">
            <a:off x="775335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7" idx="1"/>
            <a:endCxn xmlns:a="http://schemas.openxmlformats.org/drawingml/2006/main" id="8" idx="3"/>
          </p:cNvCxnSpPr>
          <p:nvPr/>
        </p:nvCxnSpPr>
        <p:spPr>
          <a:xfrm xmlns:a="http://schemas.openxmlformats.org/drawingml/2006/main" flipH="1">
            <a:off x="392430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4" name="">
            <a:extLst xmlns:a="http://schemas.openxmlformats.org/drawingml/2006/main">
              <a:ext uri="{FF2B5EF4-FFF2-40B4-BE49-F238E27FC236}">
                <a16:creationId xmlns:a16="http://schemas.microsoft.com/office/drawing/2014/main" id="{986DEDE7-75B4-466B-B5DA-F221D52D513C}"/>
              </a:ext>
            </a:extLst>
          </p:cNvPr>
          <p:cNvSpPr>
            <a:spLocks xmlns:a="http://schemas.openxmlformats.org/drawingml/2006/main" noGrp="1"/>
          </p:cNvSpPr>
          <p:nvPr/>
        </p:nvSpPr>
        <p:spPr>
          <a:xfrm xmlns:a="http://schemas.openxmlformats.org/drawingml/2006/main">
            <a:off x="609600" y="546735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Order adapters and testnet delivery exist. Full integration with reliable studio production is remaining work.</a:t>
            </a:r>
          </a:p>
        </p:txBody>
      </p:sp>
    </p:spTree>
    <p:extLst>
      <p:ext uri="{BB962C8B-B14F-4D97-AF65-F5344CB8AC3E}">
        <p14:creationId xmlns:p14="http://schemas.microsoft.com/office/powerpoint/2010/main" val="512431239"/>
      </p:ext>
    </p:extLst>
  </p:cSld>
</p:sld>
</file>

<file path=ppt/slides/slide2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801A1DE-D444-4BF4-B972-893ACC6174E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Recorded engineering evidence</a:t>
            </a:r>
          </a:p>
        </p:txBody>
      </p:sp>
      <p:sp>
        <p:nvSpPr>
          <p:cNvPr id="2" name="">
            <a:extLst xmlns:a="http://schemas.openxmlformats.org/drawingml/2006/main">
              <a:ext uri="{FF2B5EF4-FFF2-40B4-BE49-F238E27FC236}">
                <a16:creationId xmlns:a16="http://schemas.microsoft.com/office/drawing/2014/main" id="{B8B8DEC9-4186-486B-B66D-6B502E322AE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24</a:t>
            </a:r>
          </a:p>
        </p:txBody>
      </p:sp>
      <p:sp>
        <p:nvSpPr>
          <p:cNvPr id="3" name="">
            <a:extLst xmlns:a="http://schemas.openxmlformats.org/drawingml/2006/main">
              <a:ext uri="{FF2B5EF4-FFF2-40B4-BE49-F238E27FC236}">
                <a16:creationId xmlns:a16="http://schemas.microsoft.com/office/drawing/2014/main" id="{9A1A3CC9-1BBB-48E1-AF52-C18E8A55F750}"/>
              </a:ext>
            </a:extLst>
          </p:cNvPr>
          <p:cNvSpPr>
            <a:spLocks xmlns:a="http://schemas.openxmlformats.org/drawingml/2006/main" noGrp="1"/>
          </p:cNvSpPr>
          <p:nvPr/>
        </p:nvSpPr>
        <p:spPr>
          <a:xfrm xmlns:a="http://schemas.openxmlformats.org/drawingml/2006/main">
            <a:off x="609600" y="1619250"/>
            <a:ext cx="36671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350" b="1">
                <a:solidFill>
                  <a:srgbClr val="61A3FF"/>
                </a:solidFill>
                <a:latin typeface="Helvetica Neue"/>
                <a:ea typeface="Helvetica Neue"/>
                <a:cs typeface="Helvetica Neue"/>
              </a:defRPr>
            </a:pPr>
            <a:r>
              <a:rPr sz="7350" b="1">
                <a:solidFill>
                  <a:srgbClr val="61A3FF"/>
                </a:solidFill>
                <a:latin typeface="Helvetica Neue"/>
                <a:ea typeface="Helvetica Neue"/>
                <a:cs typeface="Helvetica Neue"/>
              </a:rPr>
              <a:t>176</a:t>
            </a:r>
          </a:p>
        </p:txBody>
      </p:sp>
      <p:sp>
        <p:nvSpPr>
          <p:cNvPr id="4" name="">
            <a:extLst xmlns:a="http://schemas.openxmlformats.org/drawingml/2006/main">
              <a:ext uri="{FF2B5EF4-FFF2-40B4-BE49-F238E27FC236}">
                <a16:creationId xmlns:a16="http://schemas.microsoft.com/office/drawing/2014/main" id="{FCB1EFBE-7224-4D5A-983A-4E2BE1E13856}"/>
              </a:ext>
            </a:extLst>
          </p:cNvPr>
          <p:cNvSpPr>
            <a:spLocks xmlns:a="http://schemas.openxmlformats.org/drawingml/2006/main" noGrp="1"/>
          </p:cNvSpPr>
          <p:nvPr/>
        </p:nvSpPr>
        <p:spPr>
          <a:xfrm xmlns:a="http://schemas.openxmlformats.org/drawingml/2006/main">
            <a:off x="609600" y="2790825"/>
            <a:ext cx="366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EAF1F5"/>
                </a:solidFill>
                <a:latin typeface="Helvetica Neue"/>
                <a:ea typeface="Helvetica Neue"/>
                <a:cs typeface="Helvetica Neue"/>
              </a:defRPr>
            </a:pPr>
            <a:r>
              <a:rPr sz="2100" b="1">
                <a:solidFill>
                  <a:srgbClr val="EAF1F5"/>
                </a:solidFill>
                <a:latin typeface="Helvetica Neue"/>
                <a:ea typeface="Helvetica Neue"/>
                <a:cs typeface="Helvetica Neue"/>
              </a:rPr>
              <a:t>passing commerce tests</a:t>
            </a:r>
          </a:p>
        </p:txBody>
      </p:sp>
      <p:sp>
        <p:nvSpPr>
          <p:cNvPr id="5" name="">
            <a:extLst xmlns:a="http://schemas.openxmlformats.org/drawingml/2006/main">
              <a:ext uri="{FF2B5EF4-FFF2-40B4-BE49-F238E27FC236}">
                <a16:creationId xmlns:a16="http://schemas.microsoft.com/office/drawing/2014/main" id="{B7BF2826-0D85-44D8-A661-2E8494257FCA}"/>
              </a:ext>
            </a:extLst>
          </p:cNvPr>
          <p:cNvSpPr>
            <a:spLocks xmlns:a="http://schemas.openxmlformats.org/drawingml/2006/main" noGrp="1"/>
          </p:cNvSpPr>
          <p:nvPr/>
        </p:nvSpPr>
        <p:spPr>
          <a:xfrm xmlns:a="http://schemas.openxmlformats.org/drawingml/2006/main">
            <a:off x="609600" y="3409950"/>
            <a:ext cx="3619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105 module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71 interface/account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Verified 4 October 2026</a:t>
            </a:r>
          </a:p>
        </p:txBody>
      </p:sp>
      <p:sp>
        <p:nvSpPr>
          <p:cNvPr id="6" name="">
            <a:extLst xmlns:a="http://schemas.openxmlformats.org/drawingml/2006/main">
              <a:ext uri="{FF2B5EF4-FFF2-40B4-BE49-F238E27FC236}">
                <a16:creationId xmlns:a16="http://schemas.microsoft.com/office/drawing/2014/main" id="{5833288C-5E68-438F-BE45-BF0E6135C79B}"/>
              </a:ext>
            </a:extLst>
          </p:cNvPr>
          <p:cNvSpPr>
            <a:spLocks xmlns:a="http://schemas.openxmlformats.org/drawingml/2006/main" noGrp="1"/>
          </p:cNvSpPr>
          <p:nvPr/>
        </p:nvSpPr>
        <p:spPr>
          <a:xfrm xmlns:a="http://schemas.openxmlformats.org/drawingml/2006/main">
            <a:off x="609600" y="51244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1A3FF"/>
                </a:solidFill>
                <a:latin typeface="Helvetica Neue"/>
                <a:ea typeface="Helvetica Neue"/>
                <a:cs typeface="Helvetica Neue"/>
              </a:defRPr>
            </a:pPr>
            <a:r>
              <a:rPr sz="1725" b="0">
                <a:solidFill>
                  <a:srgbClr val="61A3FF"/>
                </a:solidFill>
                <a:latin typeface="Helvetica Neue"/>
                <a:ea typeface="Helvetica Neue"/>
                <a:cs typeface="Helvetica Neue"/>
                <a:hlinkClick xmlns:r="http://schemas.openxmlformats.org/officeDocument/2006/relationships" r:id="Rfc030446d66949c3"/>
              </a:rPr>
              <a:t>Open verification record</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fd5192c1f324c8d"/>
          <a:stretch xmlns:a="http://schemas.openxmlformats.org/drawingml/2006/main"/>
        </p:blipFill>
        <p:spPr>
          <a:xfrm xmlns:a="http://schemas.openxmlformats.org/drawingml/2006/main">
            <a:off x="4610100" y="1639491"/>
            <a:ext cx="6972300" cy="392191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CAACC7D-7AC6-434D-9996-D72EFDFA0153}"/>
              </a:ext>
            </a:extLst>
          </p:cNvPr>
          <p:cNvSpPr>
            <a:spLocks xmlns:a="http://schemas.openxmlformats.org/drawingml/2006/main" noGrp="1"/>
          </p:cNvSpPr>
          <p:nvPr/>
        </p:nvSpPr>
        <p:spPr>
          <a:xfrm xmlns:a="http://schemas.openxmlformats.org/drawingml/2006/main">
            <a:off x="4610100" y="5676900"/>
            <a:ext cx="6972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External MetaMask flow: purchase, redemption, completion and verified download.</a:t>
            </a:r>
          </a:p>
        </p:txBody>
      </p:sp>
      <p:sp>
        <p:nvSpPr>
          <p:cNvPr id="9" name="">
            <a:extLst xmlns:a="http://schemas.openxmlformats.org/drawingml/2006/main">
              <a:ext uri="{FF2B5EF4-FFF2-40B4-BE49-F238E27FC236}">
                <a16:creationId xmlns:a16="http://schemas.microsoft.com/office/drawing/2014/main" id="{92E16691-57E9-4789-93FB-6F71D92571D8}"/>
              </a:ext>
            </a:extLst>
          </p:cNvPr>
          <p:cNvSpPr>
            <a:spLocks xmlns:a="http://schemas.openxmlformats.org/drawingml/2006/main" noGrp="1"/>
          </p:cNvSpPr>
          <p:nvPr/>
        </p:nvSpPr>
        <p:spPr>
          <a:xfrm xmlns:a="http://schemas.openxmlformats.org/drawingml/2006/main">
            <a:off x="609600" y="5905500"/>
            <a:ext cx="3762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9BDC9"/>
                </a:solidFill>
                <a:latin typeface="Helvetica Neue"/>
                <a:ea typeface="Helvetica Neue"/>
                <a:cs typeface="Helvetica Neue"/>
              </a:defRPr>
            </a:pPr>
            <a:r>
              <a:rPr sz="1575" b="0">
                <a:solidFill>
                  <a:srgbClr val="A9BDC9"/>
                </a:solidFill>
                <a:latin typeface="Helvetica Neue"/>
                <a:ea typeface="Helvetica Neue"/>
                <a:cs typeface="Helvetica Neue"/>
              </a:rPr>
              <a:t>Internal testnet checks.</a:t>
            </a:r>
          </a:p>
          <a:p xmlns:a="http://schemas.openxmlformats.org/drawingml/2006/main">
            <a:pPr algn="l">
              <a:defRPr sz="1575" b="0">
                <a:solidFill>
                  <a:srgbClr val="A9BDC9"/>
                </a:solidFill>
                <a:latin typeface="Helvetica Neue"/>
                <a:ea typeface="Helvetica Neue"/>
                <a:cs typeface="Helvetica Neue"/>
              </a:defRPr>
            </a:pPr>
            <a:r>
              <a:rPr sz="1575" b="0">
                <a:solidFill>
                  <a:srgbClr val="A9BDC9"/>
                </a:solidFill>
                <a:latin typeface="Helvetica Neue"/>
                <a:ea typeface="Helvetica Neue"/>
                <a:cs typeface="Helvetica Neue"/>
              </a:rPr>
              <a:t>No independent security audit.</a:t>
            </a:r>
          </a:p>
        </p:txBody>
      </p:sp>
    </p:spTree>
    <p:extLst>
      <p:ext uri="{BB962C8B-B14F-4D97-AF65-F5344CB8AC3E}">
        <p14:creationId xmlns:p14="http://schemas.microsoft.com/office/powerpoint/2010/main" val="1810583657"/>
      </p:ext>
    </p:extLst>
  </p:cSld>
</p:sld>
</file>

<file path=ppt/slides/slide2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00951E9-993B-4E32-9977-D319DCF371C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What exists, and what still needs validation</a:t>
            </a:r>
          </a:p>
        </p:txBody>
      </p:sp>
      <p:sp>
        <p:nvSpPr>
          <p:cNvPr id="2" name="">
            <a:extLst xmlns:a="http://schemas.openxmlformats.org/drawingml/2006/main">
              <a:ext uri="{FF2B5EF4-FFF2-40B4-BE49-F238E27FC236}">
                <a16:creationId xmlns:a16="http://schemas.microsoft.com/office/drawing/2014/main" id="{F8FB759E-466F-41D7-9148-BA5B3D41554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25</a:t>
            </a:r>
          </a:p>
        </p:txBody>
      </p:sp>
      <p:graphicFrame>
        <p:nvGraphicFramePr>
          <p:cNvPr id="7" name=""/>
          <p:cNvGraphicFramePr/>
          <p:nvPr/>
        </p:nvGraphicFramePr>
        <p:xfrm>
          <a:off xmlns:a="http://schemas.openxmlformats.org/drawingml/2006/main" x="609600" y="1685925"/>
          <a:ext xmlns:a="http://schemas.openxmlformats.org/drawingml/2006/main" cx="10972800" cy="3714750"/>
        </p:xfrm>
        <a:graphic xmlns:a="http://schemas.openxmlformats.org/drawingml/2006/main">
          <a:graphicData uri="http://schemas.openxmlformats.org/drawingml/2006/table">
            <a:tbl>
              <a:tblPr/>
              <a:tblGrid>
                <a:gridCol w="2428875"/>
                <a:gridCol w="4238625"/>
                <a:gridCol w="4305300"/>
              </a:tblGrid>
              <a:tr h="619125">
                <a:tc>
                  <a:txBody>
                    <a:bodyPr lIns="114300" tIns="95250" rIns="114300" bIns="76200">
                      <a:noAutofit/>
                    </a:bodyPr>
                    <a:lstStyle/>
                    <a:p>
                      <a:r>
                        <a:rPr sz="1725" b="1">
                          <a:solidFill>
                            <a:srgbClr val="FFFFFF"/>
                          </a:solidFill>
                          <a:latin typeface="Helvetica Neue"/>
                          <a:ea typeface="Helvetica Neue"/>
                          <a:cs typeface="Helvetica Neue"/>
                        </a:rPr>
                        <a:t>Area</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Current evidence</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Next milestone</a:t>
                      </a:r>
                    </a:p>
                  </a:txBody>
                  <a:tcPr marL="91440" marR="91440" marT="45720" marB="45720" anchor="ctr">
                    <a:solidFill>
                      <a:srgbClr val="12384C"/>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Production engine</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Research, video/audio logic, memory, repairs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Reliable integrated output quality</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Distributed execution</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Station ownership and bounded workers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Finish legacy routing and recovery</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Base / Boson Market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Testnet flow and 176 passing tests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Complete studio-commerce integration</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Channel operations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YouTube analysis; first channel test planned</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Experimental full management loop</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Customer product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No live product or revenue yet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Isolated connections and cloud MVP</a:t>
                      </a:r>
                    </a:p>
                  </a:txBody>
                  <a:tcPr marL="91440" marR="91440" marT="45720" marB="45720" anchor="ctr">
                    <a:solidFill>
                      <a:srgbClr val="0E2230"/>
                    </a:solidFill>
                  </a:tcPr>
                </a:tc>
              </a:tr>
            </a:tbl>
          </a:graphicData>
        </a:graphic>
      </p:graphicFrame>
      <p:sp>
        <p:nvSpPr>
          <p:cNvPr id="4" name="">
            <a:extLst xmlns:a="http://schemas.openxmlformats.org/drawingml/2006/main">
              <a:ext uri="{FF2B5EF4-FFF2-40B4-BE49-F238E27FC236}">
                <a16:creationId xmlns:a16="http://schemas.microsoft.com/office/drawing/2014/main" id="{26689B0A-A78B-4EED-AF95-6AB21E0AFBF9}"/>
              </a:ext>
            </a:extLst>
          </p:cNvPr>
          <p:cNvSpPr>
            <a:spLocks xmlns:a="http://schemas.openxmlformats.org/drawingml/2006/main" noGrp="1"/>
          </p:cNvSpPr>
          <p:nvPr/>
        </p:nvSpPr>
        <p:spPr>
          <a:xfrm xmlns:a="http://schemas.openxmlformats.org/drawingml/2006/main">
            <a:off x="609600" y="58007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Component progress is substantial; production readiness remains the main engineering objective.</a:t>
            </a:r>
          </a:p>
        </p:txBody>
      </p:sp>
    </p:spTree>
    <p:extLst>
      <p:ext uri="{BB962C8B-B14F-4D97-AF65-F5344CB8AC3E}">
        <p14:creationId xmlns:p14="http://schemas.microsoft.com/office/powerpoint/2010/main" val="1399743307"/>
      </p:ext>
    </p:extLst>
  </p:cSld>
</p:sld>
</file>

<file path=ppt/slides/slide2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33FE42-2CFA-4A96-A871-6D0A42DC6DE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 path to self-funding before customer scale</a:t>
            </a:r>
          </a:p>
        </p:txBody>
      </p:sp>
      <p:sp>
        <p:nvSpPr>
          <p:cNvPr id="2" name="">
            <a:extLst xmlns:a="http://schemas.openxmlformats.org/drawingml/2006/main">
              <a:ext uri="{FF2B5EF4-FFF2-40B4-BE49-F238E27FC236}">
                <a16:creationId xmlns:a16="http://schemas.microsoft.com/office/drawing/2014/main" id="{B8E5314F-3FE8-4116-8E4B-E5D4202EFD1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26</a:t>
            </a:r>
          </a:p>
        </p:txBody>
      </p:sp>
      <p:sp>
        <p:nvSpPr>
          <p:cNvPr id="3" name="">
            <a:extLst xmlns:a="http://schemas.openxmlformats.org/drawingml/2006/main">
              <a:ext uri="{FF2B5EF4-FFF2-40B4-BE49-F238E27FC236}">
                <a16:creationId xmlns:a16="http://schemas.microsoft.com/office/drawing/2014/main" id="{11E16DCE-49B0-40FF-972B-E73049B3D933}"/>
              </a:ext>
            </a:extLst>
          </p:cNvPr>
          <p:cNvSpPr>
            <a:spLocks xmlns:a="http://schemas.openxmlformats.org/drawingml/2006/main" noGrp="1"/>
          </p:cNvSpPr>
          <p:nvPr/>
        </p:nvSpPr>
        <p:spPr>
          <a:xfrm xmlns:a="http://schemas.openxmlformats.org/drawingml/2006/main">
            <a:off x="609600" y="1685925"/>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FFFFFF"/>
                </a:solidFill>
                <a:latin typeface="Helvetica Neue"/>
                <a:ea typeface="Helvetica Neue"/>
                <a:cs typeface="Helvetica Neue"/>
              </a:defRPr>
            </a:pPr>
            <a:r>
              <a:rPr sz="3150" b="1">
                <a:solidFill>
                  <a:srgbClr val="FFFFFF"/>
                </a:solidFill>
                <a:latin typeface="Helvetica Neue"/>
                <a:ea typeface="Helvetica Neue"/>
                <a:cs typeface="Helvetica Neue"/>
              </a:rPr>
              <a:t>Own content operations can be a revenue source</a:t>
            </a:r>
          </a:p>
        </p:txBody>
      </p:sp>
      <p:sp>
        <p:nvSpPr>
          <p:cNvPr id="4" name="">
            <a:extLst xmlns:a="http://schemas.openxmlformats.org/drawingml/2006/main">
              <a:ext uri="{FF2B5EF4-FFF2-40B4-BE49-F238E27FC236}">
                <a16:creationId xmlns:a16="http://schemas.microsoft.com/office/drawing/2014/main" id="{270BE85B-3A5F-41C4-B545-028CE27D37CC}"/>
              </a:ext>
            </a:extLst>
          </p:cNvPr>
          <p:cNvSpPr>
            <a:spLocks xmlns:a="http://schemas.openxmlformats.org/drawingml/2006/main" noGrp="1"/>
          </p:cNvSpPr>
          <p:nvPr/>
        </p:nvSpPr>
        <p:spPr>
          <a:xfrm xmlns:a="http://schemas.openxmlformats.org/drawingml/2006/main">
            <a:off x="609600" y="3048000"/>
            <a:ext cx="1081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B5C4CD"/>
                </a:solidFill>
                <a:latin typeface="Helvetica Neue"/>
                <a:ea typeface="Helvetica Neue"/>
                <a:cs typeface="Helvetica Neue"/>
              </a:defRPr>
            </a:pPr>
            <a:r>
              <a:rPr sz="2250" b="0">
                <a:solidFill>
                  <a:srgbClr val="B5C4CD"/>
                </a:solidFill>
                <a:latin typeface="Helvetica Neue"/>
                <a:ea typeface="Helvetica Neue"/>
                <a:cs typeface="Helvetica Neue"/>
              </a:rPr>
              <a:t>Use the system to operate founder-owned channels, build audiences and produce monetizable content. The target is to cover recurring costs even before meaningful customer revenue.</a:t>
            </a:r>
          </a:p>
        </p:txBody>
      </p:sp>
      <p:sp>
        <p:nvSpPr>
          <p:cNvPr id="5" name="">
            <a:extLst xmlns:a="http://schemas.openxmlformats.org/drawingml/2006/main">
              <a:ext uri="{FF2B5EF4-FFF2-40B4-BE49-F238E27FC236}">
                <a16:creationId xmlns:a16="http://schemas.microsoft.com/office/drawing/2014/main" id="{C24E2560-570D-4AD8-AFF7-57344B442148}"/>
              </a:ext>
            </a:extLst>
          </p:cNvPr>
          <p:cNvSpPr>
            <a:spLocks xmlns:a="http://schemas.openxmlformats.org/drawingml/2006/main" noGrp="1"/>
          </p:cNvSpPr>
          <p:nvPr/>
        </p:nvSpPr>
        <p:spPr>
          <a:xfrm xmlns:a="http://schemas.openxmlformats.org/drawingml/2006/main">
            <a:off x="609600" y="5010150"/>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56DBD0"/>
                </a:solidFill>
                <a:latin typeface="Helvetica Neue"/>
                <a:ea typeface="Helvetica Neue"/>
                <a:cs typeface="Helvetica Neue"/>
              </a:defRPr>
            </a:pPr>
            <a:r>
              <a:rPr sz="2475" b="1">
                <a:solidFill>
                  <a:srgbClr val="56DBD0"/>
                </a:solidFill>
                <a:latin typeface="Helvetica Neue"/>
                <a:ea typeface="Helvetica Neue"/>
                <a:cs typeface="Helvetica Neue"/>
              </a:rPr>
              <a:t>Paid customers and marketplace activity add further revenue streams.</a:t>
            </a:r>
          </a:p>
        </p:txBody>
      </p:sp>
      <p:sp>
        <p:nvSpPr>
          <p:cNvPr id="6" name="">
            <a:extLst xmlns:a="http://schemas.openxmlformats.org/drawingml/2006/main">
              <a:ext uri="{FF2B5EF4-FFF2-40B4-BE49-F238E27FC236}">
                <a16:creationId xmlns:a16="http://schemas.microsoft.com/office/drawing/2014/main" id="{D59FD051-F139-4FFC-AC91-683EF43E2AFE}"/>
              </a:ext>
            </a:extLst>
          </p:cNvPr>
          <p:cNvSpPr>
            <a:spLocks xmlns:a="http://schemas.openxmlformats.org/drawingml/2006/main" noGrp="1"/>
          </p:cNvSpPr>
          <p:nvPr/>
        </p:nvSpPr>
        <p:spPr>
          <a:xfrm xmlns:a="http://schemas.openxmlformats.org/drawingml/2006/main">
            <a:off x="609600" y="62865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5C4CD"/>
                </a:solidFill>
                <a:latin typeface="Helvetica Neue"/>
                <a:ea typeface="Helvetica Neue"/>
                <a:cs typeface="Helvetica Neue"/>
              </a:defRPr>
            </a:pPr>
            <a:r>
              <a:rPr sz="1500" b="0">
                <a:solidFill>
                  <a:srgbClr val="B5C4CD"/>
                </a:solidFill>
                <a:latin typeface="Helvetica Neue"/>
                <a:ea typeface="Helvetica Neue"/>
                <a:cs typeface="Helvetica Neue"/>
              </a:rPr>
              <a:t>Self-sufficiency and profit are targets; no revenue or validated profitability yet.</a:t>
            </a:r>
          </a:p>
        </p:txBody>
      </p:sp>
    </p:spTree>
    <p:extLst>
      <p:ext uri="{BB962C8B-B14F-4D97-AF65-F5344CB8AC3E}">
        <p14:creationId xmlns:p14="http://schemas.microsoft.com/office/powerpoint/2010/main" val="1023483658"/>
      </p:ext>
    </p:extLst>
  </p:cSld>
</p:sld>
</file>

<file path=ppt/slides/slide2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44B17BD-3869-4AE9-B4DC-536D4693D91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Multiple revenue streams, one reusable engine</a:t>
            </a:r>
          </a:p>
        </p:txBody>
      </p:sp>
      <p:sp>
        <p:nvSpPr>
          <p:cNvPr id="2" name="">
            <a:extLst xmlns:a="http://schemas.openxmlformats.org/drawingml/2006/main">
              <a:ext uri="{FF2B5EF4-FFF2-40B4-BE49-F238E27FC236}">
                <a16:creationId xmlns:a16="http://schemas.microsoft.com/office/drawing/2014/main" id="{335C5A0C-F454-4624-9E78-2302BFDF562B}"/>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27</a:t>
            </a:r>
          </a:p>
        </p:txBody>
      </p:sp>
      <p:graphicFrame>
        <p:nvGraphicFramePr>
          <p:cNvPr id="7" name=""/>
          <p:cNvGraphicFramePr/>
          <p:nvPr/>
        </p:nvGraphicFramePr>
        <p:xfrm>
          <a:off xmlns:a="http://schemas.openxmlformats.org/drawingml/2006/main" x="609600" y="1752600"/>
          <a:ext xmlns:a="http://schemas.openxmlformats.org/drawingml/2006/main" cx="10972800" cy="3467100"/>
        </p:xfrm>
        <a:graphic xmlns:a="http://schemas.openxmlformats.org/drawingml/2006/main">
          <a:graphicData uri="http://schemas.openxmlformats.org/drawingml/2006/table">
            <a:tbl>
              <a:tblPr/>
              <a:tblGrid>
                <a:gridCol w="2571750"/>
                <a:gridCol w="4162425"/>
                <a:gridCol w="4238625"/>
              </a:tblGrid>
              <a:tr h="693420">
                <a:tc>
                  <a:txBody>
                    <a:bodyPr lIns="114300" tIns="95250" rIns="114300" bIns="76200">
                      <a:noAutofit/>
                    </a:bodyPr>
                    <a:lstStyle/>
                    <a:p>
                      <a:r>
                        <a:rPr sz="1800" b="1">
                          <a:solidFill>
                            <a:srgbClr val="FFFFFF"/>
                          </a:solidFill>
                          <a:latin typeface="Helvetica Neue"/>
                          <a:ea typeface="Helvetica Neue"/>
                          <a:cs typeface="Helvetica Neue"/>
                        </a:rPr>
                        <a:t>Revenue source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Proposed model</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Validation needed</a:t>
                      </a:r>
                    </a:p>
                  </a:txBody>
                  <a:tcPr marL="91440" marR="91440" marT="45720" marB="45720" anchor="ctr">
                    <a:solidFill>
                      <a:srgbClr val="12384C"/>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Owned channels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Content monetization and partnerships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Audience growth and channel economics</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Engine customers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Cloud access or software licensing</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Pricing and willingness to pay</a:t>
                      </a:r>
                    </a:p>
                  </a:txBody>
                  <a:tcPr marL="91440" marR="91440" marT="45720" marB="45720" anchor="ctr">
                    <a:solidFill>
                      <a:srgbClr val="102938"/>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Business deployments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Workflow setup and ongoing support</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Integration effort and service margin</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Boson Market</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Potential fees on services and asset commerce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Marketplace demand and fee structure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3DD17EB7-4D3B-4459-B328-74FA16BBAE73}"/>
              </a:ext>
            </a:extLst>
          </p:cNvPr>
          <p:cNvSpPr>
            <a:spLocks xmlns:a="http://schemas.openxmlformats.org/drawingml/2006/main" noGrp="1"/>
          </p:cNvSpPr>
          <p:nvPr/>
        </p:nvSpPr>
        <p:spPr>
          <a:xfrm xmlns:a="http://schemas.openxmlformats.org/drawingml/2006/main">
            <a:off x="609600" y="559117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Reinvest revenue into infrastructure and new modules. Each new workflow still has delivery and support costs.</a:t>
            </a:r>
          </a:p>
        </p:txBody>
      </p:sp>
    </p:spTree>
    <p:extLst>
      <p:ext uri="{BB962C8B-B14F-4D97-AF65-F5344CB8AC3E}">
        <p14:creationId xmlns:p14="http://schemas.microsoft.com/office/powerpoint/2010/main" val="1735932433"/>
      </p:ext>
    </p:extLst>
  </p:cSld>
</p:sld>
</file>

<file path=ppt/slides/slide2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E9FCF1-A956-4325-BD3A-A471C6E63C0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Initial customers and market entry</a:t>
            </a:r>
          </a:p>
        </p:txBody>
      </p:sp>
      <p:sp>
        <p:nvSpPr>
          <p:cNvPr id="2" name="">
            <a:extLst xmlns:a="http://schemas.openxmlformats.org/drawingml/2006/main">
              <a:ext uri="{FF2B5EF4-FFF2-40B4-BE49-F238E27FC236}">
                <a16:creationId xmlns:a16="http://schemas.microsoft.com/office/drawing/2014/main" id="{C5C4FED4-9B51-4DFE-9AD8-3C431A30A31C}"/>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28</a:t>
            </a:r>
          </a:p>
        </p:txBody>
      </p:sp>
      <p:sp>
        <p:nvSpPr>
          <p:cNvPr id="3" name="">
            <a:extLst xmlns:a="http://schemas.openxmlformats.org/drawingml/2006/main">
              <a:ext uri="{FF2B5EF4-FFF2-40B4-BE49-F238E27FC236}">
                <a16:creationId xmlns:a16="http://schemas.microsoft.com/office/drawing/2014/main" id="{4C055F00-823E-429F-A17C-E3DA525E7A17}"/>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customer profiles</a:t>
            </a:r>
          </a:p>
        </p:txBody>
      </p:sp>
      <p:sp>
        <p:nvSpPr>
          <p:cNvPr id="4" name="">
            <a:extLst xmlns:a="http://schemas.openxmlformats.org/drawingml/2006/main">
              <a:ext uri="{FF2B5EF4-FFF2-40B4-BE49-F238E27FC236}">
                <a16:creationId xmlns:a16="http://schemas.microsoft.com/office/drawing/2014/main" id="{04445063-A216-4DCF-A1F1-0310EBAD208D}"/>
              </a:ext>
            </a:extLst>
          </p:cNvPr>
          <p:cNvSpPr>
            <a:spLocks xmlns:a="http://schemas.openxmlformats.org/drawingml/2006/main" noGrp="1"/>
          </p:cNvSpPr>
          <p:nvPr/>
        </p:nvSpPr>
        <p:spPr>
          <a:xfrm xmlns:a="http://schemas.openxmlformats.org/drawingml/2006/main">
            <a:off x="609600"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Creators managing several channels, small production studios and agencies with repeat content work.</a:t>
            </a:r>
          </a:p>
        </p:txBody>
      </p:sp>
      <p:sp>
        <p:nvSpPr>
          <p:cNvPr id="5" name="">
            <a:extLst xmlns:a="http://schemas.openxmlformats.org/drawingml/2006/main">
              <a:ext uri="{FF2B5EF4-FFF2-40B4-BE49-F238E27FC236}">
                <a16:creationId xmlns:a16="http://schemas.microsoft.com/office/drawing/2014/main" id="{01452870-409B-4D2D-874F-50F0F85E64FB}"/>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Founder-operated channels</a:t>
            </a:r>
          </a:p>
        </p:txBody>
      </p:sp>
      <p:sp>
        <p:nvSpPr>
          <p:cNvPr id="6" name="">
            <a:extLst xmlns:a="http://schemas.openxmlformats.org/drawingml/2006/main">
              <a:ext uri="{FF2B5EF4-FFF2-40B4-BE49-F238E27FC236}">
                <a16:creationId xmlns:a16="http://schemas.microsoft.com/office/drawing/2014/main" id="{62A7A3F2-7EBE-41FB-AE09-5FC85C3CE6CB}"/>
              </a:ext>
            </a:extLst>
          </p:cNvPr>
          <p:cNvSpPr>
            <a:spLocks xmlns:a="http://schemas.openxmlformats.org/drawingml/2006/main" noGrp="1"/>
          </p:cNvSpPr>
          <p:nvPr/>
        </p:nvSpPr>
        <p:spPr>
          <a:xfrm xmlns:a="http://schemas.openxmlformats.org/drawingml/2006/main">
            <a:off x="6429375"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Vantemio in real content workflows. Publish demonstrations and measure production quality and cost.</a:t>
            </a:r>
          </a:p>
        </p:txBody>
      </p:sp>
      <p:sp>
        <p:nvSpPr>
          <p:cNvPr id="7" name="">
            <a:extLst xmlns:a="http://schemas.openxmlformats.org/drawingml/2006/main">
              <a:ext uri="{FF2B5EF4-FFF2-40B4-BE49-F238E27FC236}">
                <a16:creationId xmlns:a16="http://schemas.microsoft.com/office/drawing/2014/main" id="{27ADE54F-C67D-4BB4-90CC-4E497F97F715}"/>
              </a:ext>
            </a:extLst>
          </p:cNvPr>
          <p:cNvSpPr>
            <a:spLocks xmlns:a="http://schemas.openxmlformats.org/drawingml/2006/main" noGrp="1"/>
          </p:cNvSpPr>
          <p:nvPr/>
        </p:nvSpPr>
        <p:spPr>
          <a:xfrm xmlns:a="http://schemas.openxmlformats.org/drawingml/2006/main">
            <a:off x="609600"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Limited external MVP</a:t>
            </a:r>
          </a:p>
        </p:txBody>
      </p:sp>
      <p:sp>
        <p:nvSpPr>
          <p:cNvPr id="8" name="">
            <a:extLst xmlns:a="http://schemas.openxmlformats.org/drawingml/2006/main">
              <a:ext uri="{FF2B5EF4-FFF2-40B4-BE49-F238E27FC236}">
                <a16:creationId xmlns:a16="http://schemas.microsoft.com/office/drawing/2014/main" id="{0E877B0E-EF4D-48EF-8000-71C3A34E114F}"/>
              </a:ext>
            </a:extLst>
          </p:cNvPr>
          <p:cNvSpPr>
            <a:spLocks xmlns:a="http://schemas.openxmlformats.org/drawingml/2006/main" noGrp="1"/>
          </p:cNvSpPr>
          <p:nvPr/>
        </p:nvSpPr>
        <p:spPr>
          <a:xfrm xmlns:a="http://schemas.openxmlformats.org/drawingml/2006/main">
            <a:off x="609600"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Start with a small tester group. Measure time to output, failed jobs, manual intervention and willingness to pay.</a:t>
            </a:r>
          </a:p>
        </p:txBody>
      </p:sp>
      <p:sp>
        <p:nvSpPr>
          <p:cNvPr id="9" name="">
            <a:extLst xmlns:a="http://schemas.openxmlformats.org/drawingml/2006/main">
              <a:ext uri="{FF2B5EF4-FFF2-40B4-BE49-F238E27FC236}">
                <a16:creationId xmlns:a16="http://schemas.microsoft.com/office/drawing/2014/main" id="{6011C20F-43C8-4DD3-BCFE-2C3DFECC0379}"/>
              </a:ext>
            </a:extLst>
          </p:cNvPr>
          <p:cNvSpPr>
            <a:spLocks xmlns:a="http://schemas.openxmlformats.org/drawingml/2006/main" noGrp="1"/>
          </p:cNvSpPr>
          <p:nvPr/>
        </p:nvSpPr>
        <p:spPr>
          <a:xfrm xmlns:a="http://schemas.openxmlformats.org/drawingml/2006/main">
            <a:off x="6429375"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Measured acquisition</a:t>
            </a:r>
          </a:p>
        </p:txBody>
      </p:sp>
      <p:sp>
        <p:nvSpPr>
          <p:cNvPr id="10" name="">
            <a:extLst xmlns:a="http://schemas.openxmlformats.org/drawingml/2006/main">
              <a:ext uri="{FF2B5EF4-FFF2-40B4-BE49-F238E27FC236}">
                <a16:creationId xmlns:a16="http://schemas.microsoft.com/office/drawing/2014/main" id="{64AB4A22-14FB-485E-9FE7-B36CC3C6F766}"/>
              </a:ext>
            </a:extLst>
          </p:cNvPr>
          <p:cNvSpPr>
            <a:spLocks xmlns:a="http://schemas.openxmlformats.org/drawingml/2006/main" noGrp="1"/>
          </p:cNvSpPr>
          <p:nvPr/>
        </p:nvSpPr>
        <p:spPr>
          <a:xfrm xmlns:a="http://schemas.openxmlformats.org/drawingml/2006/main">
            <a:off x="6429375"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Begin small paid campaigns after a usable MVP. Increase spend when conversion and acquisition costs justify it.</a:t>
            </a:r>
          </a:p>
        </p:txBody>
      </p:sp>
    </p:spTree>
    <p:extLst>
      <p:ext uri="{BB962C8B-B14F-4D97-AF65-F5344CB8AC3E}">
        <p14:creationId xmlns:p14="http://schemas.microsoft.com/office/powerpoint/2010/main" val="1637638519"/>
      </p:ext>
    </p:extLst>
  </p:cSld>
</p:sld>
</file>

<file path=ppt/slides/slide2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50983D-8052-4411-8D1E-74DAF1F45DC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Why Base and BEF</a:t>
            </a:r>
          </a:p>
        </p:txBody>
      </p:sp>
      <p:sp>
        <p:nvSpPr>
          <p:cNvPr id="2" name="">
            <a:extLst xmlns:a="http://schemas.openxmlformats.org/drawingml/2006/main">
              <a:ext uri="{FF2B5EF4-FFF2-40B4-BE49-F238E27FC236}">
                <a16:creationId xmlns:a16="http://schemas.microsoft.com/office/drawing/2014/main" id="{81148967-FCBD-400E-A93A-EEB08F44091C}"/>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29</a:t>
            </a:r>
          </a:p>
        </p:txBody>
      </p:sp>
      <p:sp>
        <p:nvSpPr>
          <p:cNvPr id="3" name="">
            <a:extLst xmlns:a="http://schemas.openxmlformats.org/drawingml/2006/main">
              <a:ext uri="{FF2B5EF4-FFF2-40B4-BE49-F238E27FC236}">
                <a16:creationId xmlns:a16="http://schemas.microsoft.com/office/drawing/2014/main" id="{953B16B8-78FE-4809-A114-917B0B910C89}"/>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concrete onchain workflow</a:t>
            </a:r>
          </a:p>
        </p:txBody>
      </p:sp>
      <p:sp>
        <p:nvSpPr>
          <p:cNvPr id="4" name="">
            <a:extLst xmlns:a="http://schemas.openxmlformats.org/drawingml/2006/main">
              <a:ext uri="{FF2B5EF4-FFF2-40B4-BE49-F238E27FC236}">
                <a16:creationId xmlns:a16="http://schemas.microsoft.com/office/drawing/2014/main" id="{64DAF493-09A7-4BB5-B416-1718ED9902FC}"/>
              </a:ext>
            </a:extLst>
          </p:cNvPr>
          <p:cNvSpPr>
            <a:spLocks xmlns:a="http://schemas.openxmlformats.org/drawingml/2006/main" noGrp="1"/>
          </p:cNvSpPr>
          <p:nvPr/>
        </p:nvSpPr>
        <p:spPr>
          <a:xfrm xmlns:a="http://schemas.openxmlformats.org/drawingml/2006/main">
            <a:off x="609600"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Accepted content registration, ownership records, studio-service orders and protected delivery connect production to commerce.</a:t>
            </a:r>
          </a:p>
        </p:txBody>
      </p:sp>
      <p:sp>
        <p:nvSpPr>
          <p:cNvPr id="5" name="">
            <a:extLst xmlns:a="http://schemas.openxmlformats.org/drawingml/2006/main">
              <a:ext uri="{FF2B5EF4-FFF2-40B4-BE49-F238E27FC236}">
                <a16:creationId xmlns:a16="http://schemas.microsoft.com/office/drawing/2014/main" id="{74B00054-0602-46AD-9547-0946A464736F}"/>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ecosystem activity</a:t>
            </a:r>
          </a:p>
        </p:txBody>
      </p:sp>
      <p:sp>
        <p:nvSpPr>
          <p:cNvPr id="6" name="">
            <a:extLst xmlns:a="http://schemas.openxmlformats.org/drawingml/2006/main">
              <a:ext uri="{FF2B5EF4-FFF2-40B4-BE49-F238E27FC236}">
                <a16:creationId xmlns:a16="http://schemas.microsoft.com/office/drawing/2014/main" id="{24A462DE-CA4B-4DB7-8C2C-F91BA49C699C}"/>
              </a:ext>
            </a:extLst>
          </p:cNvPr>
          <p:cNvSpPr>
            <a:spLocks xmlns:a="http://schemas.openxmlformats.org/drawingml/2006/main" noGrp="1"/>
          </p:cNvSpPr>
          <p:nvPr/>
        </p:nvSpPr>
        <p:spPr>
          <a:xfrm xmlns:a="http://schemas.openxmlformats.org/drawingml/2006/main">
            <a:off x="6429375"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working product could bring creators, studios, buyers and recurring service transactions into Base-based workflows.</a:t>
            </a:r>
          </a:p>
        </p:txBody>
      </p:sp>
      <p:sp>
        <p:nvSpPr>
          <p:cNvPr id="7" name="">
            <a:extLst xmlns:a="http://schemas.openxmlformats.org/drawingml/2006/main">
              <a:ext uri="{FF2B5EF4-FFF2-40B4-BE49-F238E27FC236}">
                <a16:creationId xmlns:a16="http://schemas.microsoft.com/office/drawing/2014/main" id="{939B9C0D-4E5D-4351-8CE2-799A6831E146}"/>
              </a:ext>
            </a:extLst>
          </p:cNvPr>
          <p:cNvSpPr>
            <a:spLocks xmlns:a="http://schemas.openxmlformats.org/drawingml/2006/main" noGrp="1"/>
          </p:cNvSpPr>
          <p:nvPr/>
        </p:nvSpPr>
        <p:spPr>
          <a:xfrm xmlns:a="http://schemas.openxmlformats.org/drawingml/2006/main">
            <a:off x="609600" y="43338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What support would accelerate</a:t>
            </a:r>
          </a:p>
        </p:txBody>
      </p:sp>
      <p:sp>
        <p:nvSpPr>
          <p:cNvPr id="8" name="">
            <a:extLst xmlns:a="http://schemas.openxmlformats.org/drawingml/2006/main">
              <a:ext uri="{FF2B5EF4-FFF2-40B4-BE49-F238E27FC236}">
                <a16:creationId xmlns:a16="http://schemas.microsoft.com/office/drawing/2014/main" id="{858A6454-DC30-4C3A-A53A-4411A6FE9731}"/>
              </a:ext>
            </a:extLst>
          </p:cNvPr>
          <p:cNvSpPr>
            <a:spLocks xmlns:a="http://schemas.openxmlformats.org/drawingml/2006/main" noGrp="1"/>
          </p:cNvSpPr>
          <p:nvPr/>
        </p:nvSpPr>
        <p:spPr>
          <a:xfrm xmlns:a="http://schemas.openxmlformats.org/drawingml/2006/main">
            <a:off x="609600" y="5095875"/>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Pre-seed funding, technical feedback, infrastructure support and introductions to relevant Base ecosystem partners.</a:t>
            </a:r>
          </a:p>
        </p:txBody>
      </p:sp>
    </p:spTree>
    <p:extLst>
      <p:ext uri="{BB962C8B-B14F-4D97-AF65-F5344CB8AC3E}">
        <p14:creationId xmlns:p14="http://schemas.microsoft.com/office/powerpoint/2010/main" val="1889406956"/>
      </p:ext>
    </p:extLst>
  </p:cSld>
</p:sld>
</file>

<file path=ppt/slides/slide3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BFA6694-7FAB-4463-9FEA-738C567BD3D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Development milestones after funding</a:t>
            </a:r>
          </a:p>
        </p:txBody>
      </p:sp>
      <p:sp>
        <p:nvSpPr>
          <p:cNvPr id="2" name="">
            <a:extLst xmlns:a="http://schemas.openxmlformats.org/drawingml/2006/main">
              <a:ext uri="{FF2B5EF4-FFF2-40B4-BE49-F238E27FC236}">
                <a16:creationId xmlns:a16="http://schemas.microsoft.com/office/drawing/2014/main" id="{41932EA8-F782-4D6B-8BDE-3039B1ACCC3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30</a:t>
            </a:r>
          </a:p>
        </p:txBody>
      </p:sp>
      <p:graphicFrame>
        <p:nvGraphicFramePr>
          <p:cNvPr id="7" name=""/>
          <p:cNvGraphicFramePr/>
          <p:nvPr/>
        </p:nvGraphicFramePr>
        <p:xfrm>
          <a:off xmlns:a="http://schemas.openxmlformats.org/drawingml/2006/main" x="609600" y="1666875"/>
          <a:ext xmlns:a="http://schemas.openxmlformats.org/drawingml/2006/main" cx="10972800" cy="3619500"/>
        </p:xfrm>
        <a:graphic xmlns:a="http://schemas.openxmlformats.org/drawingml/2006/main">
          <a:graphicData uri="http://schemas.openxmlformats.org/drawingml/2006/table">
            <a:tbl>
              <a:tblPr/>
              <a:tblGrid>
                <a:gridCol w="1809750"/>
                <a:gridCol w="3429000"/>
                <a:gridCol w="5734050"/>
              </a:tblGrid>
              <a:tr h="723900">
                <a:tc>
                  <a:txBody>
                    <a:bodyPr lIns="114300" tIns="95250" rIns="114300" bIns="76200">
                      <a:noAutofit/>
                    </a:bodyPr>
                    <a:lstStyle/>
                    <a:p>
                      <a:r>
                        <a:rPr sz="1800" b="1">
                          <a:solidFill>
                            <a:srgbClr val="FFFFFF"/>
                          </a:solidFill>
                          <a:latin typeface="Helvetica Neue"/>
                          <a:ea typeface="Helvetica Neue"/>
                          <a:cs typeface="Helvetica Neue"/>
                        </a:rPr>
                        <a:t>Period</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Primary outcome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Evidence required</a:t>
                      </a:r>
                    </a:p>
                  </a:txBody>
                  <a:tcPr marL="91440" marR="91440" marT="45720" marB="45720" anchor="ctr">
                    <a:solidFill>
                      <a:srgbClr val="12384C"/>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1–4</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Integrated internal prototype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Repeatable production, recovery, quality and cost measurements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4–6</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Limited external MVP</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Customer connections, account isolation, job tracking and delivery</a:t>
                      </a:r>
                    </a:p>
                  </a:txBody>
                  <a:tcPr marL="91440" marR="91440" marT="45720" marB="45720" anchor="ctr">
                    <a:solidFill>
                      <a:srgbClr val="102938"/>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6–9</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Limited public cloud beta</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Load tests, usage controls, monitoring and first acquisition tests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9–12</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Reliability and initial expansion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Lower unit costs, user feedback and broader publishing coverage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9544CFBC-4724-48EF-B32B-46ECF2286CD8}"/>
              </a:ext>
            </a:extLst>
          </p:cNvPr>
          <p:cNvSpPr>
            <a:spLocks xmlns:a="http://schemas.openxmlformats.org/drawingml/2006/main" noGrp="1"/>
          </p:cNvSpPr>
          <p:nvPr/>
        </p:nvSpPr>
        <p:spPr>
          <a:xfrm xmlns:a="http://schemas.openxmlformats.org/drawingml/2006/main">
            <a:off x="609600" y="55816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56DBD0"/>
                </a:solidFill>
                <a:latin typeface="Helvetica Neue"/>
                <a:ea typeface="Helvetica Neue"/>
                <a:cs typeface="Helvetica Neue"/>
              </a:defRPr>
            </a:pPr>
            <a:r>
              <a:rPr sz="1875" b="1">
                <a:solidFill>
                  <a:srgbClr val="56DBD0"/>
                </a:solidFill>
                <a:latin typeface="Helvetica Neue"/>
                <a:ea typeface="Helvetica Neue"/>
                <a:cs typeface="Helvetica Neue"/>
              </a:rPr>
              <a:t>Targets depend on validation. Broader social-platform coverage and business workflows follow the core release.</a:t>
            </a:r>
          </a:p>
        </p:txBody>
      </p:sp>
    </p:spTree>
    <p:extLst>
      <p:ext uri="{BB962C8B-B14F-4D97-AF65-F5344CB8AC3E}">
        <p14:creationId xmlns:p14="http://schemas.microsoft.com/office/powerpoint/2010/main" val="2112952536"/>
      </p:ext>
    </p:extLst>
  </p:cSld>
</p:sld>
</file>

<file path=ppt/slides/slide3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8DA006-D6EF-4D25-8461-B0A81250F50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US$90,000 for the first 12 months</a:t>
            </a:r>
          </a:p>
        </p:txBody>
      </p:sp>
      <p:sp>
        <p:nvSpPr>
          <p:cNvPr id="2" name="">
            <a:extLst xmlns:a="http://schemas.openxmlformats.org/drawingml/2006/main">
              <a:ext uri="{FF2B5EF4-FFF2-40B4-BE49-F238E27FC236}">
                <a16:creationId xmlns:a16="http://schemas.microsoft.com/office/drawing/2014/main" id="{031428D1-55D0-4C6F-8211-0D1D469BB42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31</a:t>
            </a:r>
          </a:p>
        </p:txBody>
      </p:sp>
      <p:graphicFrame>
        <p:nvGraphicFramePr>
          <p:cNvPr id="9" name=""/>
          <p:cNvGraphicFramePr/>
          <p:nvPr/>
        </p:nvGraphicFramePr>
        <p:xfrm>
          <a:off xmlns:a="http://schemas.openxmlformats.org/drawingml/2006/main" x="609600" y="1514475"/>
          <a:ext xmlns:a="http://schemas.openxmlformats.org/drawingml/2006/main" cx="8334375" cy="4524375"/>
        </p:xfrm>
        <a:graphic xmlns:a="http://schemas.openxmlformats.org/drawingml/2006/main">
          <a:graphicData uri="http://schemas.openxmlformats.org/drawingml/2006/table">
            <a:tbl>
              <a:tblPr/>
              <a:tblGrid>
                <a:gridCol w="6572250"/>
                <a:gridCol w="1762125"/>
              </a:tblGrid>
              <a:tr h="411307">
                <a:tc>
                  <a:txBody>
                    <a:bodyPr lIns="114300" tIns="95250" rIns="114300" bIns="76200">
                      <a:noAutofit/>
                    </a:bodyPr>
                    <a:lstStyle/>
                    <a:p>
                      <a:r>
                        <a:rPr sz="1650" b="1">
                          <a:solidFill>
                            <a:srgbClr val="FFFFFF"/>
                          </a:solidFill>
                          <a:latin typeface="Helvetica Neue"/>
                          <a:ea typeface="Helvetica Neue"/>
                          <a:cs typeface="Helvetica Neue"/>
                        </a:rPr>
                        <a:t>Use of funds</a:t>
                      </a:r>
                    </a:p>
                  </a:txBody>
                  <a:tcPr marL="91440" marR="91440" marT="45720" marB="45720" anchor="ctr">
                    <a:solidFill>
                      <a:srgbClr val="12384C"/>
                    </a:solidFill>
                  </a:tcPr>
                </a:tc>
                <a:tc>
                  <a:txBody>
                    <a:bodyPr lIns="114300" tIns="95250" rIns="114300" bIns="76200">
                      <a:noAutofit/>
                    </a:bodyPr>
                    <a:lstStyle/>
                    <a:p>
                      <a:r>
                        <a:rPr sz="1650" b="1">
                          <a:solidFill>
                            <a:srgbClr val="FFFFFF"/>
                          </a:solidFill>
                          <a:latin typeface="Helvetica Neue"/>
                          <a:ea typeface="Helvetica Neue"/>
                          <a:cs typeface="Helvetica Neue"/>
                        </a:rPr>
                        <a:t>USD</a:t>
                      </a:r>
                    </a:p>
                  </a:txBody>
                  <a:tcPr marL="91440" marR="91440" marT="45720" marB="45720" anchor="ctr">
                    <a:solidFill>
                      <a:srgbClr val="12384C"/>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AI coding tools and development capacity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$24,000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Internal video generation and owned channels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Image-generation tools and test assets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$1,200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Hosting, databases, storage and transfer</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Cloud CPU/GPU, rendering and runtime models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$18,000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Deployment, monitoring and targeted review</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$3,600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Initial marketing and acquisition tests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$10,000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Existing workstation upgrades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Contingency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$6,200</a:t>
                      </a:r>
                    </a:p>
                  </a:txBody>
                  <a:tcPr marL="91440" marR="91440" marT="45720" marB="45720" anchor="ctr">
                    <a:solidFill>
                      <a:srgbClr val="0E2230"/>
                    </a:solidFill>
                  </a:tcPr>
                </a:tc>
              </a:tr>
              <a:tr h="411307">
                <a:tc>
                  <a:txBody>
                    <a:bodyPr lIns="114300" tIns="76200" rIns="114300" bIns="76200">
                      <a:noAutofit/>
                    </a:bodyPr>
                    <a:lstStyle/>
                    <a:p>
                      <a:r>
                        <a:rPr sz="1800" b="1">
                          <a:solidFill>
                            <a:srgbClr val="FFFFFF"/>
                          </a:solidFill>
                          <a:latin typeface="Helvetica Neue"/>
                          <a:ea typeface="Helvetica Neue"/>
                          <a:cs typeface="Helvetica Neue"/>
                        </a:rPr>
                        <a:t>Total</a:t>
                      </a:r>
                    </a:p>
                  </a:txBody>
                  <a:tcPr marL="91440" marR="91440" marT="45720" marB="45720" anchor="ctr">
                    <a:solidFill>
                      <a:srgbClr val="12384C"/>
                    </a:solidFill>
                  </a:tcPr>
                </a:tc>
                <a:tc>
                  <a:txBody>
                    <a:bodyPr lIns="114300" tIns="76200" rIns="114300" bIns="76200">
                      <a:noAutofit/>
                    </a:bodyPr>
                    <a:lstStyle/>
                    <a:p>
                      <a:r>
                        <a:rPr sz="1800" b="1">
                          <a:solidFill>
                            <a:srgbClr val="FFFFFF"/>
                          </a:solidFill>
                          <a:latin typeface="Helvetica Neue"/>
                          <a:ea typeface="Helvetica Neue"/>
                          <a:cs typeface="Helvetica Neue"/>
                        </a:rPr>
                        <a:t>$90,000</a:t>
                      </a:r>
                    </a:p>
                  </a:txBody>
                  <a:tcPr marL="91440" marR="91440" marT="45720" marB="45720" anchor="ctr">
                    <a:solidFill>
                      <a:srgbClr val="12384C"/>
                    </a:solidFill>
                  </a:tcPr>
                </a:tc>
              </a:tr>
            </a:tbl>
          </a:graphicData>
        </a:graphic>
      </p:graphicFrame>
      <p:sp>
        <p:nvSpPr>
          <p:cNvPr id="4" name="">
            <a:extLst xmlns:a="http://schemas.openxmlformats.org/drawingml/2006/main">
              <a:ext uri="{FF2B5EF4-FFF2-40B4-BE49-F238E27FC236}">
                <a16:creationId xmlns:a16="http://schemas.microsoft.com/office/drawing/2014/main" id="{74352F7D-B3F2-41C9-8D25-1A523489679B}"/>
              </a:ext>
            </a:extLst>
          </p:cNvPr>
          <p:cNvSpPr>
            <a:spLocks xmlns:a="http://schemas.openxmlformats.org/drawingml/2006/main" noGrp="1"/>
          </p:cNvSpPr>
          <p:nvPr/>
        </p:nvSpPr>
        <p:spPr>
          <a:xfrm xmlns:a="http://schemas.openxmlformats.org/drawingml/2006/main">
            <a:off x="9344025" y="1733550"/>
            <a:ext cx="22574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56DBD0"/>
                </a:solidFill>
                <a:latin typeface="Helvetica Neue"/>
                <a:ea typeface="Helvetica Neue"/>
                <a:cs typeface="Helvetica Neue"/>
              </a:defRPr>
            </a:pPr>
            <a:r>
              <a:rPr sz="2250" b="1">
                <a:solidFill>
                  <a:srgbClr val="56DBD0"/>
                </a:solidFill>
                <a:latin typeface="Helvetica Neue"/>
                <a:ea typeface="Helvetica Neue"/>
                <a:cs typeface="Helvetica Neue"/>
              </a:rPr>
              <a:t>Phased spend</a:t>
            </a:r>
          </a:p>
        </p:txBody>
      </p:sp>
      <p:sp>
        <p:nvSpPr>
          <p:cNvPr id="5" name="">
            <a:extLst xmlns:a="http://schemas.openxmlformats.org/drawingml/2006/main">
              <a:ext uri="{FF2B5EF4-FFF2-40B4-BE49-F238E27FC236}">
                <a16:creationId xmlns:a16="http://schemas.microsoft.com/office/drawing/2014/main" id="{52A36C8D-D9FB-439A-AECA-6F8B0344DC4D}"/>
              </a:ext>
            </a:extLst>
          </p:cNvPr>
          <p:cNvSpPr>
            <a:spLocks xmlns:a="http://schemas.openxmlformats.org/drawingml/2006/main" noGrp="1"/>
          </p:cNvSpPr>
          <p:nvPr/>
        </p:nvSpPr>
        <p:spPr>
          <a:xfrm xmlns:a="http://schemas.openxmlformats.org/drawingml/2006/main">
            <a:off x="9344025" y="2381250"/>
            <a:ext cx="2238375"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Development first.</a:t>
            </a:r>
          </a:p>
          <a:p xmlns:a="http://schemas.openxmlformats.org/drawingml/2006/main">
            <a:r>
              <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Cloud capacity grows with measured load.</a:t>
            </a:r>
          </a:p>
          <a:p xmlns:a="http://schemas.openxmlformats.org/drawingml/2006/main">
            <a:r>
              <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Marketing starts with a usable MVP.</a:t>
            </a:r>
          </a:p>
        </p:txBody>
      </p:sp>
      <p:sp>
        <p:nvSpPr>
          <p:cNvPr id="6" name="">
            <a:extLst xmlns:a="http://schemas.openxmlformats.org/drawingml/2006/main">
              <a:ext uri="{FF2B5EF4-FFF2-40B4-BE49-F238E27FC236}">
                <a16:creationId xmlns:a16="http://schemas.microsoft.com/office/drawing/2014/main" id="{7090EA50-F3E6-4F24-AD1C-6D14D50E8AD7}"/>
              </a:ext>
            </a:extLst>
          </p:cNvPr>
          <p:cNvSpPr>
            <a:spLocks xmlns:a="http://schemas.openxmlformats.org/drawingml/2006/main" noGrp="1"/>
          </p:cNvSpPr>
          <p:nvPr/>
        </p:nvSpPr>
        <p:spPr>
          <a:xfrm xmlns:a="http://schemas.openxmlformats.org/drawingml/2006/main">
            <a:off x="609600" y="6296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A9BDC9"/>
                </a:solidFill>
                <a:latin typeface="Helvetica Neue"/>
                <a:ea typeface="Helvetica Neue"/>
                <a:cs typeface="Helvetica Neue"/>
              </a:defRPr>
            </a:pPr>
            <a:r>
              <a:rPr sz="1425" b="0">
                <a:solidFill>
                  <a:srgbClr val="A9BDC9"/>
                </a:solidFill>
                <a:latin typeface="Helvetica Neue"/>
                <a:ea typeface="Helvetica Neue"/>
                <a:cs typeface="Helvetica Neue"/>
              </a:rPr>
              <a:t>Planning allocations. Existing hardware remains in use. Founder living costs are excluded.</a:t>
            </a:r>
          </a:p>
        </p:txBody>
      </p:sp>
    </p:spTree>
    <p:extLst>
      <p:ext uri="{BB962C8B-B14F-4D97-AF65-F5344CB8AC3E}">
        <p14:creationId xmlns:p14="http://schemas.microsoft.com/office/powerpoint/2010/main" val="1821547715"/>
      </p:ext>
    </p:extLst>
  </p:cSld>
</p:sld>
</file>

<file path=ppt/slides/slide3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D1D4C6-6437-4FCB-84EF-5AC0CD41ED0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Local capacity and optional expansion</a:t>
            </a:r>
          </a:p>
        </p:txBody>
      </p:sp>
      <p:sp>
        <p:nvSpPr>
          <p:cNvPr id="2" name="">
            <a:extLst xmlns:a="http://schemas.openxmlformats.org/drawingml/2006/main">
              <a:ext uri="{FF2B5EF4-FFF2-40B4-BE49-F238E27FC236}">
                <a16:creationId xmlns:a16="http://schemas.microsoft.com/office/drawing/2014/main" id="{E9D5C4D5-8393-43C7-A58D-839560AC9FC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32</a:t>
            </a:r>
          </a:p>
        </p:txBody>
      </p:sp>
      <p:sp>
        <p:nvSpPr>
          <p:cNvPr id="3" name="">
            <a:extLst xmlns:a="http://schemas.openxmlformats.org/drawingml/2006/main">
              <a:ext uri="{FF2B5EF4-FFF2-40B4-BE49-F238E27FC236}">
                <a16:creationId xmlns:a16="http://schemas.microsoft.com/office/drawing/2014/main" id="{552C8AE1-3179-403F-8CEF-250F1F6FA5C0}"/>
              </a:ext>
            </a:extLst>
          </p:cNvPr>
          <p:cNvSpPr>
            <a:spLocks xmlns:a="http://schemas.openxmlformats.org/drawingml/2006/main" noGrp="1"/>
          </p:cNvSpPr>
          <p:nvPr/>
        </p:nvSpPr>
        <p:spPr>
          <a:xfrm xmlns:a="http://schemas.openxmlformats.org/drawingml/2006/main">
            <a:off x="609600"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Core hardware requirement</a:t>
            </a:r>
          </a:p>
        </p:txBody>
      </p:sp>
      <p:sp>
        <p:nvSpPr>
          <p:cNvPr id="4" name="">
            <a:extLst xmlns:a="http://schemas.openxmlformats.org/drawingml/2006/main">
              <a:ext uri="{FF2B5EF4-FFF2-40B4-BE49-F238E27FC236}">
                <a16:creationId xmlns:a16="http://schemas.microsoft.com/office/drawing/2014/main" id="{5F776C06-3D91-48EB-A259-354BAC268A61}"/>
              </a:ext>
            </a:extLst>
          </p:cNvPr>
          <p:cNvSpPr>
            <a:spLocks xmlns:a="http://schemas.openxmlformats.org/drawingml/2006/main" noGrp="1"/>
          </p:cNvSpPr>
          <p:nvPr/>
        </p:nvSpPr>
        <p:spPr>
          <a:xfrm xmlns:a="http://schemas.openxmlformats.org/drawingml/2006/main">
            <a:off x="609600"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Upgrade the existing RTX 5070 Ti workstation to at least 96 GB RAM and add a 4 TB SSD.</a:t>
            </a:r>
          </a:p>
        </p:txBody>
      </p:sp>
      <p:sp>
        <p:nvSpPr>
          <p:cNvPr id="5" name="">
            <a:extLst xmlns:a="http://schemas.openxmlformats.org/drawingml/2006/main">
              <a:ext uri="{FF2B5EF4-FFF2-40B4-BE49-F238E27FC236}">
                <a16:creationId xmlns:a16="http://schemas.microsoft.com/office/drawing/2014/main" id="{C69BC6E3-1320-461D-A559-E628BB3888FB}"/>
              </a:ext>
            </a:extLst>
          </p:cNvPr>
          <p:cNvSpPr>
            <a:spLocks xmlns:a="http://schemas.openxmlformats.org/drawingml/2006/main" noGrp="1"/>
          </p:cNvSpPr>
          <p:nvPr/>
        </p:nvSpPr>
        <p:spPr>
          <a:xfrm xmlns:a="http://schemas.openxmlformats.org/drawingml/2006/main">
            <a:off x="609600"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Within the US$3,000 equipment allocation</a:t>
            </a:r>
          </a:p>
        </p:txBody>
      </p:sp>
      <p:sp>
        <p:nvSpPr>
          <p:cNvPr id="6" name="">
            <a:extLst xmlns:a="http://schemas.openxmlformats.org/drawingml/2006/main">
              <a:ext uri="{FF2B5EF4-FFF2-40B4-BE49-F238E27FC236}">
                <a16:creationId xmlns:a16="http://schemas.microsoft.com/office/drawing/2014/main" id="{3DA4182C-99EB-492D-B90F-257166AD7FC9}"/>
              </a:ext>
            </a:extLst>
          </p:cNvPr>
          <p:cNvSpPr>
            <a:spLocks xmlns:a="http://schemas.openxmlformats.org/drawingml/2006/main" noGrp="1"/>
          </p:cNvSpPr>
          <p:nvPr/>
        </p:nvSpPr>
        <p:spPr>
          <a:xfrm xmlns:a="http://schemas.openxmlformats.org/drawingml/2006/main">
            <a:off x="6429375"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Additional compute workstation</a:t>
            </a:r>
          </a:p>
        </p:txBody>
      </p:sp>
      <p:sp>
        <p:nvSpPr>
          <p:cNvPr id="7" name="">
            <a:extLst xmlns:a="http://schemas.openxmlformats.org/drawingml/2006/main">
              <a:ext uri="{FF2B5EF4-FFF2-40B4-BE49-F238E27FC236}">
                <a16:creationId xmlns:a16="http://schemas.microsoft.com/office/drawing/2014/main" id="{69F0D702-ECE8-41C2-83B9-4E3871DC4A0B}"/>
              </a:ext>
            </a:extLst>
          </p:cNvPr>
          <p:cNvSpPr>
            <a:spLocks xmlns:a="http://schemas.openxmlformats.org/drawingml/2006/main" noGrp="1"/>
          </p:cNvSpPr>
          <p:nvPr/>
        </p:nvSpPr>
        <p:spPr>
          <a:xfrm xmlns:a="http://schemas.openxmlformats.org/drawingml/2006/main">
            <a:off x="6429375"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Desktop RTX 5090 with 32 GB VRAM, 128 GB system RAM and a 4 TB SSD.</a:t>
            </a:r>
          </a:p>
        </p:txBody>
      </p:sp>
      <p:sp>
        <p:nvSpPr>
          <p:cNvPr id="8" name="">
            <a:extLst xmlns:a="http://schemas.openxmlformats.org/drawingml/2006/main">
              <a:ext uri="{FF2B5EF4-FFF2-40B4-BE49-F238E27FC236}">
                <a16:creationId xmlns:a16="http://schemas.microsoft.com/office/drawing/2014/main" id="{6DB633C1-A70F-42E0-AD65-C204F41F9F5F}"/>
              </a:ext>
            </a:extLst>
          </p:cNvPr>
          <p:cNvSpPr>
            <a:spLocks xmlns:a="http://schemas.openxmlformats.org/drawingml/2006/main" noGrp="1"/>
          </p:cNvSpPr>
          <p:nvPr/>
        </p:nvSpPr>
        <p:spPr>
          <a:xfrm xmlns:a="http://schemas.openxmlformats.org/drawingml/2006/main">
            <a:off x="6429375"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Up to US$10,000 additional funding</a:t>
            </a:r>
          </a:p>
        </p:txBody>
      </p:sp>
      <p:sp>
        <p:nvSpPr>
          <p:cNvPr id="9" name="">
            <a:extLst xmlns:a="http://schemas.openxmlformats.org/drawingml/2006/main">
              <a:ext uri="{FF2B5EF4-FFF2-40B4-BE49-F238E27FC236}">
                <a16:creationId xmlns:a16="http://schemas.microsoft.com/office/drawing/2014/main" id="{58C48115-9646-4D1E-BC1E-20CF591B02A6}"/>
              </a:ext>
            </a:extLst>
          </p:cNvPr>
          <p:cNvSpPr>
            <a:spLocks xmlns:a="http://schemas.openxmlformats.org/drawingml/2006/main" noGrp="1"/>
          </p:cNvSpPr>
          <p:nvPr/>
        </p:nvSpPr>
        <p:spPr>
          <a:xfrm xmlns:a="http://schemas.openxmlformats.org/drawingml/2006/main">
            <a:off x="609600" y="51625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61A3FF"/>
                </a:solidFill>
                <a:latin typeface="Helvetica Neue"/>
                <a:ea typeface="Helvetica Neue"/>
                <a:cs typeface="Helvetica Neue"/>
              </a:defRPr>
            </a:pPr>
            <a:r>
              <a:rPr sz="3000" b="1">
                <a:solidFill>
                  <a:srgbClr val="61A3FF"/>
                </a:solidFill>
                <a:latin typeface="Helvetica Neue"/>
                <a:ea typeface="Helvetica Neue"/>
                <a:cs typeface="Helvetica Neue"/>
              </a:rPr>
              <a:t>Expanded funding target: up to US$100,000</a:t>
            </a:r>
          </a:p>
        </p:txBody>
      </p:sp>
      <p:sp>
        <p:nvSpPr>
          <p:cNvPr id="10" name="">
            <a:extLst xmlns:a="http://schemas.openxmlformats.org/drawingml/2006/main">
              <a:ext uri="{FF2B5EF4-FFF2-40B4-BE49-F238E27FC236}">
                <a16:creationId xmlns:a16="http://schemas.microsoft.com/office/drawing/2014/main" id="{85A17E7F-5BA5-412E-B851-34E5A2441D1E}"/>
              </a:ext>
            </a:extLst>
          </p:cNvPr>
          <p:cNvSpPr>
            <a:spLocks xmlns:a="http://schemas.openxmlformats.org/drawingml/2006/main" noGrp="1"/>
          </p:cNvSpPr>
          <p:nvPr/>
        </p:nvSpPr>
        <p:spPr>
          <a:xfrm xmlns:a="http://schemas.openxmlformats.org/drawingml/2006/main">
            <a:off x="609600" y="59245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EAF1F5"/>
                </a:solidFill>
                <a:latin typeface="Helvetica Neue"/>
                <a:ea typeface="Helvetica Neue"/>
                <a:cs typeface="Helvetica Neue"/>
              </a:defRPr>
            </a:pPr>
            <a:r>
              <a:rPr sz="1800" b="0">
                <a:solidFill>
                  <a:srgbClr val="EAF1F5"/>
                </a:solidFill>
                <a:latin typeface="Helvetica Neue"/>
                <a:ea typeface="Helvetica Neue"/>
                <a:cs typeface="Helvetica Neue"/>
              </a:rPr>
              <a:t>The additional worker would support local inference, rendering and parallel tests under the existing orchestrator.</a:t>
            </a:r>
          </a:p>
        </p:txBody>
      </p:sp>
    </p:spTree>
    <p:extLst>
      <p:ext uri="{BB962C8B-B14F-4D97-AF65-F5344CB8AC3E}">
        <p14:creationId xmlns:p14="http://schemas.microsoft.com/office/powerpoint/2010/main" val="1512587413"/>
      </p:ext>
    </p:extLst>
  </p:cSld>
</p:sld>
</file>

<file path=ppt/slides/slide3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EE05D2-02FC-494C-AA11-63CDEE637F3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Founder, ownership and funding request</a:t>
            </a:r>
          </a:p>
        </p:txBody>
      </p:sp>
      <p:sp>
        <p:nvSpPr>
          <p:cNvPr id="2" name="">
            <a:extLst xmlns:a="http://schemas.openxmlformats.org/drawingml/2006/main">
              <a:ext uri="{FF2B5EF4-FFF2-40B4-BE49-F238E27FC236}">
                <a16:creationId xmlns:a16="http://schemas.microsoft.com/office/drawing/2014/main" id="{40547BC2-7835-4CA6-B240-D073D6B9217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33</a:t>
            </a:r>
          </a:p>
        </p:txBody>
      </p:sp>
      <p:sp>
        <p:nvSpPr>
          <p:cNvPr id="3" name="">
            <a:extLst xmlns:a="http://schemas.openxmlformats.org/drawingml/2006/main">
              <a:ext uri="{FF2B5EF4-FFF2-40B4-BE49-F238E27FC236}">
                <a16:creationId xmlns:a16="http://schemas.microsoft.com/office/drawing/2014/main" id="{7F3693D2-B964-4825-8DF5-81803E339350}"/>
              </a:ext>
            </a:extLst>
          </p:cNvPr>
          <p:cNvSpPr>
            <a:spLocks xmlns:a="http://schemas.openxmlformats.org/drawingml/2006/main" noGrp="1"/>
          </p:cNvSpPr>
          <p:nvPr/>
        </p:nvSpPr>
        <p:spPr>
          <a:xfrm xmlns:a="http://schemas.openxmlformats.org/drawingml/2006/main">
            <a:off x="609600"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Vitalii Pavlichuk</a:t>
            </a:r>
          </a:p>
        </p:txBody>
      </p:sp>
      <p:sp>
        <p:nvSpPr>
          <p:cNvPr id="4" name="">
            <a:extLst xmlns:a="http://schemas.openxmlformats.org/drawingml/2006/main">
              <a:ext uri="{FF2B5EF4-FFF2-40B4-BE49-F238E27FC236}">
                <a16:creationId xmlns:a16="http://schemas.microsoft.com/office/drawing/2014/main" id="{FD51030F-73E2-43DE-9D64-1A4BCB525395}"/>
              </a:ext>
            </a:extLst>
          </p:cNvPr>
          <p:cNvSpPr>
            <a:spLocks xmlns:a="http://schemas.openxmlformats.org/drawingml/2006/main" noGrp="1"/>
          </p:cNvSpPr>
          <p:nvPr/>
        </p:nvSpPr>
        <p:spPr>
          <a:xfrm xmlns:a="http://schemas.openxmlformats.org/drawingml/2006/main">
            <a:off x="609600"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Solo founder and product architect. Created the concept, system logic and development plan. First software venture, approximately four months of active development.</a:t>
            </a:r>
          </a:p>
        </p:txBody>
      </p:sp>
      <p:sp>
        <p:nvSpPr>
          <p:cNvPr id="5" name="">
            <a:extLst xmlns:a="http://schemas.openxmlformats.org/drawingml/2006/main">
              <a:ext uri="{FF2B5EF4-FFF2-40B4-BE49-F238E27FC236}">
                <a16:creationId xmlns:a16="http://schemas.microsoft.com/office/drawing/2014/main" id="{750B00AD-16A8-4905-9D02-3E5124DD6E93}"/>
              </a:ext>
            </a:extLst>
          </p:cNvPr>
          <p:cNvSpPr>
            <a:spLocks xmlns:a="http://schemas.openxmlformats.org/drawingml/2006/main" noGrp="1"/>
          </p:cNvSpPr>
          <p:nvPr/>
        </p:nvSpPr>
        <p:spPr>
          <a:xfrm xmlns:a="http://schemas.openxmlformats.org/drawingml/2006/main">
            <a:off x="6429375"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Funding request</a:t>
            </a:r>
          </a:p>
        </p:txBody>
      </p:sp>
      <p:sp>
        <p:nvSpPr>
          <p:cNvPr id="6" name="">
            <a:extLst xmlns:a="http://schemas.openxmlformats.org/drawingml/2006/main">
              <a:ext uri="{FF2B5EF4-FFF2-40B4-BE49-F238E27FC236}">
                <a16:creationId xmlns:a16="http://schemas.microsoft.com/office/drawing/2014/main" id="{BF9C4CCF-2265-49C5-8F26-70068A7797A9}"/>
              </a:ext>
            </a:extLst>
          </p:cNvPr>
          <p:cNvSpPr>
            <a:spLocks xmlns:a="http://schemas.openxmlformats.org/drawingml/2006/main" noGrp="1"/>
          </p:cNvSpPr>
          <p:nvPr/>
        </p:nvSpPr>
        <p:spPr>
          <a:xfrm xmlns:a="http://schemas.openxmlformats.org/drawingml/2006/main">
            <a:off x="6429375"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US$90,000 for 12 months of intensive development, testing, cloud deployment and initial marketing. Optional expansion to US$100,000 for additional local compute.</a:t>
            </a:r>
          </a:p>
        </p:txBody>
      </p:sp>
      <p:sp>
        <p:nvSpPr>
          <p:cNvPr id="7" name="">
            <a:extLst xmlns:a="http://schemas.openxmlformats.org/drawingml/2006/main">
              <a:ext uri="{FF2B5EF4-FFF2-40B4-BE49-F238E27FC236}">
                <a16:creationId xmlns:a16="http://schemas.microsoft.com/office/drawing/2014/main" id="{A8C66020-DD5F-44A1-9DA2-AB0ACC07A03C}"/>
              </a:ext>
            </a:extLst>
          </p:cNvPr>
          <p:cNvSpPr>
            <a:spLocks xmlns:a="http://schemas.openxmlformats.org/drawingml/2006/main" noGrp="1"/>
          </p:cNvSpPr>
          <p:nvPr/>
        </p:nvSpPr>
        <p:spPr>
          <a:xfrm xmlns:a="http://schemas.openxmlformats.org/drawingml/2006/main">
            <a:off x="609600" y="4124325"/>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Implementation uses Codex and Claude Code, guided by the founder’s architecture and acceptance requirements.</a:t>
            </a:r>
          </a:p>
        </p:txBody>
      </p:sp>
      <p:sp>
        <p:nvSpPr>
          <p:cNvPr id="8" name="">
            <a:extLst xmlns:a="http://schemas.openxmlformats.org/drawingml/2006/main">
              <a:ext uri="{FF2B5EF4-FFF2-40B4-BE49-F238E27FC236}">
                <a16:creationId xmlns:a16="http://schemas.microsoft.com/office/drawing/2014/main" id="{B640D876-116E-4829-B351-BC9A1CD487CB}"/>
              </a:ext>
            </a:extLst>
          </p:cNvPr>
          <p:cNvSpPr>
            <a:spLocks xmlns:a="http://schemas.openxmlformats.org/drawingml/2006/main" noGrp="1"/>
          </p:cNvSpPr>
          <p:nvPr/>
        </p:nvSpPr>
        <p:spPr>
          <a:xfrm xmlns:a="http://schemas.openxmlformats.org/drawingml/2006/main">
            <a:off x="609600" y="5362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dc9432ee56414c09"/>
              </a:rPr>
              <a:t>Public source and demo evidence</a:t>
            </a:r>
          </a:p>
        </p:txBody>
      </p:sp>
      <p:sp>
        <p:nvSpPr>
          <p:cNvPr id="9" name="">
            <a:extLst xmlns:a="http://schemas.openxmlformats.org/drawingml/2006/main">
              <a:ext uri="{FF2B5EF4-FFF2-40B4-BE49-F238E27FC236}">
                <a16:creationId xmlns:a16="http://schemas.microsoft.com/office/drawing/2014/main" id="{F5E5DC1B-334E-4F43-AC5E-6FCD0646DE6B}"/>
              </a:ext>
            </a:extLst>
          </p:cNvPr>
          <p:cNvSpPr>
            <a:spLocks xmlns:a="http://schemas.openxmlformats.org/drawingml/2006/main" noGrp="1"/>
          </p:cNvSpPr>
          <p:nvPr/>
        </p:nvSpPr>
        <p:spPr>
          <a:xfrm xmlns:a="http://schemas.openxmlformats.org/drawingml/2006/main">
            <a:off x="6429375" y="5362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c4923a5a20cb40ba"/>
              </a:rPr>
              <a:t>Founder LinkedIn</a:t>
            </a:r>
          </a:p>
        </p:txBody>
      </p:sp>
      <p:sp>
        <p:nvSpPr>
          <p:cNvPr id="10" name="">
            <a:extLst xmlns:a="http://schemas.openxmlformats.org/drawingml/2006/main">
              <a:ext uri="{FF2B5EF4-FFF2-40B4-BE49-F238E27FC236}">
                <a16:creationId xmlns:a16="http://schemas.microsoft.com/office/drawing/2014/main" id="{F0013EF9-0B9C-4C2D-BDCC-945DEAD47C5E}"/>
              </a:ext>
            </a:extLst>
          </p:cNvPr>
          <p:cNvSpPr>
            <a:spLocks xmlns:a="http://schemas.openxmlformats.org/drawingml/2006/main" noGrp="1"/>
          </p:cNvSpPr>
          <p:nvPr/>
        </p:nvSpPr>
        <p:spPr>
          <a:xfrm xmlns:a="http://schemas.openxmlformats.org/drawingml/2006/main">
            <a:off x="609600" y="60293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5C4CD"/>
                </a:solidFill>
                <a:latin typeface="Helvetica Neue"/>
                <a:ea typeface="Helvetica Neue"/>
                <a:cs typeface="Helvetica Neue"/>
              </a:defRPr>
            </a:pPr>
            <a:r>
              <a:rPr sz="1725" b="0">
                <a:solidFill>
                  <a:srgbClr val="B5C4CD"/>
                </a:solidFill>
                <a:latin typeface="Helvetica Neue"/>
                <a:ea typeface="Helvetica Neue"/>
                <a:cs typeface="Helvetica Neue"/>
              </a:rPr>
              <a:t>Private studio source is available for controlled technical review.</a:t>
            </a:r>
          </a:p>
        </p:txBody>
      </p:sp>
    </p:spTree>
    <p:extLst>
      <p:ext uri="{BB962C8B-B14F-4D97-AF65-F5344CB8AC3E}">
        <p14:creationId xmlns:p14="http://schemas.microsoft.com/office/powerpoint/2010/main" val="1544038868"/>
      </p:ext>
    </p:extLst>
  </p:cSld>
</p:sld>
</file>

<file path=ppt/slides/slide3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92C827-13DF-4960-87F9-5226309F095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Evidence and review links</a:t>
            </a:r>
          </a:p>
        </p:txBody>
      </p:sp>
      <p:sp>
        <p:nvSpPr>
          <p:cNvPr id="2" name="">
            <a:extLst xmlns:a="http://schemas.openxmlformats.org/drawingml/2006/main">
              <a:ext uri="{FF2B5EF4-FFF2-40B4-BE49-F238E27FC236}">
                <a16:creationId xmlns:a16="http://schemas.microsoft.com/office/drawing/2014/main" id="{C746F435-1E6F-4143-BAD9-2A36AF62CD8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34</a:t>
            </a:r>
          </a:p>
        </p:txBody>
      </p:sp>
      <p:sp>
        <p:nvSpPr>
          <p:cNvPr id="3" name="">
            <a:extLst xmlns:a="http://schemas.openxmlformats.org/drawingml/2006/main">
              <a:ext uri="{FF2B5EF4-FFF2-40B4-BE49-F238E27FC236}">
                <a16:creationId xmlns:a16="http://schemas.microsoft.com/office/drawing/2014/main" id="{867212B6-96E7-4B63-A338-61937043858C}"/>
              </a:ext>
            </a:extLst>
          </p:cNvPr>
          <p:cNvSpPr>
            <a:spLocks xmlns:a="http://schemas.openxmlformats.org/drawingml/2006/main" noGrp="1"/>
          </p:cNvSpPr>
          <p:nvPr/>
        </p:nvSpPr>
        <p:spPr>
          <a:xfrm xmlns:a="http://schemas.openxmlformats.org/drawingml/2006/main">
            <a:off x="609600" y="17145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c077acb878344209"/>
              </a:rPr>
              <a:t>Public blockchain source and marketplace</a:t>
            </a:r>
          </a:p>
        </p:txBody>
      </p:sp>
      <p:sp>
        <p:nvSpPr>
          <p:cNvPr id="4" name="">
            <a:extLst xmlns:a="http://schemas.openxmlformats.org/drawingml/2006/main">
              <a:ext uri="{FF2B5EF4-FFF2-40B4-BE49-F238E27FC236}">
                <a16:creationId xmlns:a16="http://schemas.microsoft.com/office/drawing/2014/main" id="{DAB92DA1-93AE-4C43-BEF8-7BB88CB72601}"/>
              </a:ext>
            </a:extLst>
          </p:cNvPr>
          <p:cNvSpPr>
            <a:spLocks xmlns:a="http://schemas.openxmlformats.org/drawingml/2006/main" noGrp="1"/>
          </p:cNvSpPr>
          <p:nvPr/>
        </p:nvSpPr>
        <p:spPr>
          <a:xfrm xmlns:a="http://schemas.openxmlformats.org/drawingml/2006/main">
            <a:off x="609600" y="24574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7a06df5ca45e4040"/>
              </a:rPr>
              <a:t>Verification: 176 passing tests</a:t>
            </a:r>
          </a:p>
        </p:txBody>
      </p:sp>
      <p:sp>
        <p:nvSpPr>
          <p:cNvPr id="5" name="">
            <a:extLst xmlns:a="http://schemas.openxmlformats.org/drawingml/2006/main">
              <a:ext uri="{FF2B5EF4-FFF2-40B4-BE49-F238E27FC236}">
                <a16:creationId xmlns:a16="http://schemas.microsoft.com/office/drawing/2014/main" id="{D486E5E8-5754-4DDA-BCEC-C99A5940B960}"/>
              </a:ext>
            </a:extLst>
          </p:cNvPr>
          <p:cNvSpPr>
            <a:spLocks xmlns:a="http://schemas.openxmlformats.org/drawingml/2006/main" noGrp="1"/>
          </p:cNvSpPr>
          <p:nvPr/>
        </p:nvSpPr>
        <p:spPr>
          <a:xfrm xmlns:a="http://schemas.openxmlformats.org/drawingml/2006/main">
            <a:off x="609600" y="32004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820f80b23e004e48"/>
              </a:rPr>
              <a:t>Demo record and transaction references</a:t>
            </a:r>
          </a:p>
        </p:txBody>
      </p:sp>
      <p:sp>
        <p:nvSpPr>
          <p:cNvPr id="6" name="">
            <a:extLst xmlns:a="http://schemas.openxmlformats.org/drawingml/2006/main">
              <a:ext uri="{FF2B5EF4-FFF2-40B4-BE49-F238E27FC236}">
                <a16:creationId xmlns:a16="http://schemas.microsoft.com/office/drawing/2014/main" id="{F05CDE80-E591-4D5D-946F-35B0A68A32E1}"/>
              </a:ext>
            </a:extLst>
          </p:cNvPr>
          <p:cNvSpPr>
            <a:spLocks xmlns:a="http://schemas.openxmlformats.org/drawingml/2006/main" noGrp="1"/>
          </p:cNvSpPr>
          <p:nvPr/>
        </p:nvSpPr>
        <p:spPr>
          <a:xfrm xmlns:a="http://schemas.openxmlformats.org/drawingml/2006/main">
            <a:off x="609600" y="39433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6e58ccbbe20f459a"/>
              </a:rPr>
              <a:t>Recorded MetaMask purchase and digital delivery</a:t>
            </a:r>
          </a:p>
        </p:txBody>
      </p:sp>
      <p:sp>
        <p:nvSpPr>
          <p:cNvPr id="7" name="">
            <a:extLst xmlns:a="http://schemas.openxmlformats.org/drawingml/2006/main">
              <a:ext uri="{FF2B5EF4-FFF2-40B4-BE49-F238E27FC236}">
                <a16:creationId xmlns:a16="http://schemas.microsoft.com/office/drawing/2014/main" id="{4D29DB8B-7B6C-423C-B2B1-438D8FBF1FFB}"/>
              </a:ext>
            </a:extLst>
          </p:cNvPr>
          <p:cNvSpPr>
            <a:spLocks xmlns:a="http://schemas.openxmlformats.org/drawingml/2006/main" noGrp="1"/>
          </p:cNvSpPr>
          <p:nvPr/>
        </p:nvSpPr>
        <p:spPr>
          <a:xfrm xmlns:a="http://schemas.openxmlformats.org/drawingml/2006/main">
            <a:off x="609600" y="46863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2f7c5a567ca74be3"/>
              </a:rPr>
              <a:t>Founder: Vitalii Pavlichuk</a:t>
            </a:r>
          </a:p>
        </p:txBody>
      </p:sp>
      <p:sp>
        <p:nvSpPr>
          <p:cNvPr id="8" name="">
            <a:extLst xmlns:a="http://schemas.openxmlformats.org/drawingml/2006/main">
              <a:ext uri="{FF2B5EF4-FFF2-40B4-BE49-F238E27FC236}">
                <a16:creationId xmlns:a16="http://schemas.microsoft.com/office/drawing/2014/main" id="{D0CE3F7E-E5B6-467F-9FE7-58BD55745E62}"/>
              </a:ext>
            </a:extLst>
          </p:cNvPr>
          <p:cNvSpPr>
            <a:spLocks xmlns:a="http://schemas.openxmlformats.org/drawingml/2006/main" noGrp="1"/>
          </p:cNvSpPr>
          <p:nvPr/>
        </p:nvSpPr>
        <p:spPr>
          <a:xfrm xmlns:a="http://schemas.openxmlformats.org/drawingml/2006/main">
            <a:off x="609600" y="56483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The AI studio remains private. Controlled access can be arranged for technical review.</a:t>
            </a:r>
          </a:p>
        </p:txBody>
      </p:sp>
    </p:spTree>
    <p:extLst>
      <p:ext uri="{BB962C8B-B14F-4D97-AF65-F5344CB8AC3E}">
        <p14:creationId xmlns:p14="http://schemas.microsoft.com/office/powerpoint/2010/main" val="14678171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2026-10-05T08:08:14.3170000Z</dcterms:created>
  <dcterms:modified xsi:type="dcterms:W3CDTF">2026-10-05T08:08:14.3170000Z</dcterms:modified>
</coreProperties>
</file>