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163e7d21c340c8" /><Relationship Type="http://schemas.openxmlformats.org/officeDocument/2006/relationships/extended-properties" Target="/docProps/app.xml" Id="Rcd77dd66dfab4747" /><Relationship Type="http://schemas.openxmlformats.org/officeDocument/2006/relationships/officeDocument" Target="/ppt/presentation.xml" Id="R77ebcb54ce6d4a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f9cfc57952411a"/>
  </p:sldMasterIdLst>
  <p:notesMasterIdLst>
    <p:notesMasterId xmlns:r="http://schemas.openxmlformats.org/officeDocument/2006/relationships" r:id="R3f172132c0744595"/>
  </p:notesMasterIdLst>
  <p:sldIdLst>
    <p:sldId xmlns:r="http://schemas.openxmlformats.org/officeDocument/2006/relationships" id="256" r:id="R674ad9c8c0f041bc"/>
    <p:sldId xmlns:r="http://schemas.openxmlformats.org/officeDocument/2006/relationships" id="257" r:id="R3882980f6a9b4f96"/>
    <p:sldId xmlns:r="http://schemas.openxmlformats.org/officeDocument/2006/relationships" id="258" r:id="R926fb0f43664480a"/>
    <p:sldId xmlns:r="http://schemas.openxmlformats.org/officeDocument/2006/relationships" id="259" r:id="R801f57b77c1e422d"/>
    <p:sldId xmlns:r="http://schemas.openxmlformats.org/officeDocument/2006/relationships" id="260" r:id="Ra1a1047ae55c47a6"/>
    <p:sldId xmlns:r="http://schemas.openxmlformats.org/officeDocument/2006/relationships" id="261" r:id="R0c0479ea9e844494"/>
    <p:sldId xmlns:r="http://schemas.openxmlformats.org/officeDocument/2006/relationships" id="262" r:id="Rc36fd91f725d4871"/>
    <p:sldId xmlns:r="http://schemas.openxmlformats.org/officeDocument/2006/relationships" id="263" r:id="R00b89ae1cdca4370"/>
    <p:sldId xmlns:r="http://schemas.openxmlformats.org/officeDocument/2006/relationships" id="264" r:id="R9eec08d322254f56"/>
    <p:sldId xmlns:r="http://schemas.openxmlformats.org/officeDocument/2006/relationships" id="265" r:id="Rc03e90bd6c764964"/>
    <p:sldId xmlns:r="http://schemas.openxmlformats.org/officeDocument/2006/relationships" id="266" r:id="Re86ceb8ec02f4a0c"/>
    <p:sldId xmlns:r="http://schemas.openxmlformats.org/officeDocument/2006/relationships" id="267" r:id="Rdc24ad3fc1434792"/>
    <p:sldId xmlns:r="http://schemas.openxmlformats.org/officeDocument/2006/relationships" id="268" r:id="R76854dcec42c4cd2"/>
    <p:sldId xmlns:r="http://schemas.openxmlformats.org/officeDocument/2006/relationships" id="269" r:id="Rff798e697e134ba4"/>
    <p:sldId xmlns:r="http://schemas.openxmlformats.org/officeDocument/2006/relationships" id="270" r:id="R01ce6e7017794c32"/>
    <p:sldId xmlns:r="http://schemas.openxmlformats.org/officeDocument/2006/relationships" id="271" r:id="Rc5d062ba07e04513"/>
    <p:sldId xmlns:r="http://schemas.openxmlformats.org/officeDocument/2006/relationships" id="272" r:id="Red3ed8f4b5c045b0"/>
    <p:sldId xmlns:r="http://schemas.openxmlformats.org/officeDocument/2006/relationships" id="273" r:id="Re0de5a822bb34db2"/>
    <p:sldId xmlns:r="http://schemas.openxmlformats.org/officeDocument/2006/relationships" id="274" r:id="R9122fcf82f3c46c7"/>
    <p:sldId xmlns:r="http://schemas.openxmlformats.org/officeDocument/2006/relationships" id="275" r:id="Rfa136cf0c5444c70"/>
    <p:sldId xmlns:r="http://schemas.openxmlformats.org/officeDocument/2006/relationships" id="276" r:id="Rcaf93a75e91a47a2"/>
    <p:sldId xmlns:r="http://schemas.openxmlformats.org/officeDocument/2006/relationships" id="277" r:id="Rcd82d4e53c4f4507"/>
    <p:sldId xmlns:r="http://schemas.openxmlformats.org/officeDocument/2006/relationships" id="278" r:id="R9572961151ae4e66"/>
    <p:sldId xmlns:r="http://schemas.openxmlformats.org/officeDocument/2006/relationships" id="279" r:id="Ra50321466cd04c17"/>
    <p:sldId xmlns:r="http://schemas.openxmlformats.org/officeDocument/2006/relationships" id="280" r:id="Rba03ae52afcd404c"/>
    <p:sldId xmlns:r="http://schemas.openxmlformats.org/officeDocument/2006/relationships" id="281" r:id="R3fa7b7fca3fe4571"/>
    <p:sldId xmlns:r="http://schemas.openxmlformats.org/officeDocument/2006/relationships" id="282" r:id="R2dcfb699dc954e92"/>
    <p:sldId xmlns:r="http://schemas.openxmlformats.org/officeDocument/2006/relationships" id="283" r:id="R39fa4ef19d344073"/>
    <p:sldId xmlns:r="http://schemas.openxmlformats.org/officeDocument/2006/relationships" id="284" r:id="Rf66922f125ec4023"/>
    <p:sldId xmlns:r="http://schemas.openxmlformats.org/officeDocument/2006/relationships" id="285" r:id="Ra9a08027d7f74dd1"/>
    <p:sldId xmlns:r="http://schemas.openxmlformats.org/officeDocument/2006/relationships" id="286" r:id="Rd6f5d14428bf44df"/>
    <p:sldId xmlns:r="http://schemas.openxmlformats.org/officeDocument/2006/relationships" id="287" r:id="R3c1ce8da5d3e48a9"/>
    <p:sldId xmlns:r="http://schemas.openxmlformats.org/officeDocument/2006/relationships" id="288" r:id="R0d1fa832fb7345a1"/>
    <p:sldId xmlns:r="http://schemas.openxmlformats.org/officeDocument/2006/relationships" id="289" r:id="R3252b9b666ea4e89"/>
    <p:sldId xmlns:r="http://schemas.openxmlformats.org/officeDocument/2006/relationships" id="290" r:id="Rc7f5cf5fa00543ba"/>
    <p:sldId xmlns:r="http://schemas.openxmlformats.org/officeDocument/2006/relationships" id="291" r:id="R5da5430ce6a14f17"/>
    <p:sldId xmlns:r="http://schemas.openxmlformats.org/officeDocument/2006/relationships" id="292" r:id="R91594ead666a42ec"/>
    <p:sldId xmlns:r="http://schemas.openxmlformats.org/officeDocument/2006/relationships" id="293" r:id="Raca1b36a285a4c9f"/>
    <p:sldId xmlns:r="http://schemas.openxmlformats.org/officeDocument/2006/relationships" id="294" r:id="Ref0202cf9aaa45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aeda82095e4241" /><Relationship Type="http://schemas.openxmlformats.org/officeDocument/2006/relationships/slideMaster" Target="/ppt/slideMasters/slideMaster1.xml" Id="R83f9cfc57952411a" /><Relationship Type="http://schemas.openxmlformats.org/officeDocument/2006/relationships/notesMaster" Target="/ppt/notesMasters/notesMaster1.xml" Id="R3f172132c0744595" /><Relationship Type="http://schemas.openxmlformats.org/officeDocument/2006/relationships/presProps" Target="/ppt/presProps.xml" Id="Rec6434dcf89e4491" /><Relationship Type="http://schemas.openxmlformats.org/officeDocument/2006/relationships/tableStyles" Target="/ppt/tableStyles.xml" Id="Re48be2ab08ef4fa3" /><Relationship Type="http://schemas.openxmlformats.org/officeDocument/2006/relationships/slide" Target="/ppt/slides/slide1.xml" Id="R674ad9c8c0f041bc" /><Relationship Type="http://schemas.openxmlformats.org/officeDocument/2006/relationships/slide" Target="/ppt/slides/slide2.xml" Id="R3882980f6a9b4f96" /><Relationship Type="http://schemas.openxmlformats.org/officeDocument/2006/relationships/slide" Target="/ppt/slides/slide3.xml" Id="R926fb0f43664480a" /><Relationship Type="http://schemas.openxmlformats.org/officeDocument/2006/relationships/slide" Target="/ppt/slides/slide4.xml" Id="R801f57b77c1e422d" /><Relationship Type="http://schemas.openxmlformats.org/officeDocument/2006/relationships/slide" Target="/ppt/slides/slide5.xml" Id="Ra1a1047ae55c47a6" /><Relationship Type="http://schemas.openxmlformats.org/officeDocument/2006/relationships/slide" Target="/ppt/slides/slide6.xml" Id="R0c0479ea9e844494" /><Relationship Type="http://schemas.openxmlformats.org/officeDocument/2006/relationships/slide" Target="/ppt/slides/slide7.xml" Id="Rc36fd91f725d4871" /><Relationship Type="http://schemas.openxmlformats.org/officeDocument/2006/relationships/slide" Target="/ppt/slides/slide8.xml" Id="R00b89ae1cdca4370" /><Relationship Type="http://schemas.openxmlformats.org/officeDocument/2006/relationships/slide" Target="/ppt/slides/slide9.xml" Id="R9eec08d322254f56" /><Relationship Type="http://schemas.openxmlformats.org/officeDocument/2006/relationships/slide" Target="/ppt/slides/slide10.xml" Id="Rc03e90bd6c764964" /><Relationship Type="http://schemas.openxmlformats.org/officeDocument/2006/relationships/slide" Target="/ppt/slides/slide11.xml" Id="Re86ceb8ec02f4a0c" /><Relationship Type="http://schemas.openxmlformats.org/officeDocument/2006/relationships/slide" Target="/ppt/slides/slide12.xml" Id="Rdc24ad3fc1434792" /><Relationship Type="http://schemas.openxmlformats.org/officeDocument/2006/relationships/slide" Target="/ppt/slides/slide13.xml" Id="R76854dcec42c4cd2" /><Relationship Type="http://schemas.openxmlformats.org/officeDocument/2006/relationships/slide" Target="/ppt/slides/slide14.xml" Id="Rff798e697e134ba4" /><Relationship Type="http://schemas.openxmlformats.org/officeDocument/2006/relationships/slide" Target="/ppt/slides/slide15.xml" Id="R01ce6e7017794c32" /><Relationship Type="http://schemas.openxmlformats.org/officeDocument/2006/relationships/slide" Target="/ppt/slides/slide16.xml" Id="Rc5d062ba07e04513" /><Relationship Type="http://schemas.openxmlformats.org/officeDocument/2006/relationships/slide" Target="/ppt/slides/slide17.xml" Id="Red3ed8f4b5c045b0" /><Relationship Type="http://schemas.openxmlformats.org/officeDocument/2006/relationships/slide" Target="/ppt/slides/slide18.xml" Id="Re0de5a822bb34db2" /><Relationship Type="http://schemas.openxmlformats.org/officeDocument/2006/relationships/slide" Target="/ppt/slides/slide19.xml" Id="R9122fcf82f3c46c7" /><Relationship Type="http://schemas.openxmlformats.org/officeDocument/2006/relationships/slide" Target="/ppt/slides/slide20.xml" Id="Rfa136cf0c5444c70" /><Relationship Type="http://schemas.openxmlformats.org/officeDocument/2006/relationships/slide" Target="/ppt/slides/slide21.xml" Id="Rcaf93a75e91a47a2" /><Relationship Type="http://schemas.openxmlformats.org/officeDocument/2006/relationships/slide" Target="/ppt/slides/slide22.xml" Id="Rcd82d4e53c4f4507" /><Relationship Type="http://schemas.openxmlformats.org/officeDocument/2006/relationships/slide" Target="/ppt/slides/slide23.xml" Id="R9572961151ae4e66" /><Relationship Type="http://schemas.openxmlformats.org/officeDocument/2006/relationships/slide" Target="/ppt/slides/slide24.xml" Id="Ra50321466cd04c17" /><Relationship Type="http://schemas.openxmlformats.org/officeDocument/2006/relationships/slide" Target="/ppt/slides/slide25.xml" Id="Rba03ae52afcd404c" /><Relationship Type="http://schemas.openxmlformats.org/officeDocument/2006/relationships/slide" Target="/ppt/slides/slide26.xml" Id="R3fa7b7fca3fe4571" /><Relationship Type="http://schemas.openxmlformats.org/officeDocument/2006/relationships/slide" Target="/ppt/slides/slide27.xml" Id="R2dcfb699dc954e92" /><Relationship Type="http://schemas.openxmlformats.org/officeDocument/2006/relationships/slide" Target="/ppt/slides/slide28.xml" Id="R39fa4ef19d344073" /><Relationship Type="http://schemas.openxmlformats.org/officeDocument/2006/relationships/slide" Target="/ppt/slides/slide29.xml" Id="Rf66922f125ec4023" /><Relationship Type="http://schemas.openxmlformats.org/officeDocument/2006/relationships/slide" Target="/ppt/slides/slide30.xml" Id="Ra9a08027d7f74dd1" /><Relationship Type="http://schemas.openxmlformats.org/officeDocument/2006/relationships/slide" Target="/ppt/slides/slide31.xml" Id="Rd6f5d14428bf44df" /><Relationship Type="http://schemas.openxmlformats.org/officeDocument/2006/relationships/slide" Target="/ppt/slides/slide32.xml" Id="R3c1ce8da5d3e48a9" /><Relationship Type="http://schemas.openxmlformats.org/officeDocument/2006/relationships/slide" Target="/ppt/slides/slide33.xml" Id="R0d1fa832fb7345a1" /><Relationship Type="http://schemas.openxmlformats.org/officeDocument/2006/relationships/slide" Target="/ppt/slides/slide34.xml" Id="R3252b9b666ea4e89" /><Relationship Type="http://schemas.openxmlformats.org/officeDocument/2006/relationships/slide" Target="/ppt/slides/slide35.xml" Id="Rc7f5cf5fa00543ba" /><Relationship Type="http://schemas.openxmlformats.org/officeDocument/2006/relationships/slide" Target="/ppt/slides/slide36.xml" Id="R5da5430ce6a14f17" /><Relationship Type="http://schemas.openxmlformats.org/officeDocument/2006/relationships/slide" Target="/ppt/slides/slide37.xml" Id="R91594ead666a42ec" /><Relationship Type="http://schemas.openxmlformats.org/officeDocument/2006/relationships/slide" Target="/ppt/slides/slide38.xml" Id="Raca1b36a285a4c9f" /><Relationship Type="http://schemas.openxmlformats.org/officeDocument/2006/relationships/slide" Target="/ppt/slides/slide39.xml" Id="Ref0202cf9aaa45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52c694019948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d74fe2d3134842" /><Relationship Type="http://schemas.openxmlformats.org/officeDocument/2006/relationships/notesMaster" Target="/ppt/notesMasters/notesMaster1.xml" Id="R71c982a6a9d446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5364f5d4ee49b0" /><Relationship Type="http://schemas.openxmlformats.org/officeDocument/2006/relationships/notesMaster" Target="/ppt/notesMasters/notesMaster1.xml" Id="Re2a92084f9cc41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83a06aeef64a75" /><Relationship Type="http://schemas.openxmlformats.org/officeDocument/2006/relationships/notesMaster" Target="/ppt/notesMasters/notesMaster1.xml" Id="Rddd91ef229714a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46235188004096" /><Relationship Type="http://schemas.openxmlformats.org/officeDocument/2006/relationships/notesMaster" Target="/ppt/notesMasters/notesMaster1.xml" Id="R5e0ed65a353e46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442f1a29fd4adf" /><Relationship Type="http://schemas.openxmlformats.org/officeDocument/2006/relationships/notesMaster" Target="/ppt/notesMasters/notesMaster1.xml" Id="R62691631d4354a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d62a3b012a4705" /><Relationship Type="http://schemas.openxmlformats.org/officeDocument/2006/relationships/notesMaster" Target="/ppt/notesMasters/notesMaster1.xml" Id="R060a81a702e046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70eadc3e184bf6" /><Relationship Type="http://schemas.openxmlformats.org/officeDocument/2006/relationships/notesMaster" Target="/ppt/notesMasters/notesMaster1.xml" Id="Re7a483e1a7964e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5a34338425d46e4" /><Relationship Type="http://schemas.openxmlformats.org/officeDocument/2006/relationships/notesMaster" Target="/ppt/notesMasters/notesMaster1.xml" Id="R37ae8cf43b3e4a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2db475d1124123" /><Relationship Type="http://schemas.openxmlformats.org/officeDocument/2006/relationships/notesMaster" Target="/ppt/notesMasters/notesMaster1.xml" Id="R359dc242b6e144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79bff2f95a4612" /><Relationship Type="http://schemas.openxmlformats.org/officeDocument/2006/relationships/notesMaster" Target="/ppt/notesMasters/notesMaster1.xml" Id="R52a200c8ce1640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1c386673b649c3" /><Relationship Type="http://schemas.openxmlformats.org/officeDocument/2006/relationships/notesMaster" Target="/ppt/notesMasters/notesMaster1.xml" Id="Rca8bab4da50444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a4924731334921" /><Relationship Type="http://schemas.openxmlformats.org/officeDocument/2006/relationships/notesMaster" Target="/ppt/notesMasters/notesMaster1.xml" Id="R201cb0e2c321487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40e8c9033a84be8" /><Relationship Type="http://schemas.openxmlformats.org/officeDocument/2006/relationships/notesMaster" Target="/ppt/notesMasters/notesMaster1.xml" Id="R316354bbcdb2452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10e2e0765244b69" /><Relationship Type="http://schemas.openxmlformats.org/officeDocument/2006/relationships/notesMaster" Target="/ppt/notesMasters/notesMaster1.xml" Id="R633db53de1214f3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b64cd8d3dda462a" /><Relationship Type="http://schemas.openxmlformats.org/officeDocument/2006/relationships/notesMaster" Target="/ppt/notesMasters/notesMaster1.xml" Id="R1b1d8e83d3614ff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f2263e39f0d4aa0" /><Relationship Type="http://schemas.openxmlformats.org/officeDocument/2006/relationships/notesMaster" Target="/ppt/notesMasters/notesMaster1.xml" Id="Rc87341eda4f04e6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c7998b296bb432e" /><Relationship Type="http://schemas.openxmlformats.org/officeDocument/2006/relationships/notesMaster" Target="/ppt/notesMasters/notesMaster1.xml" Id="Rc48970db191247d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1328256c5f1453c" /><Relationship Type="http://schemas.openxmlformats.org/officeDocument/2006/relationships/notesMaster" Target="/ppt/notesMasters/notesMaster1.xml" Id="Rbcf0e80d8abf4de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d063ad317714660" /><Relationship Type="http://schemas.openxmlformats.org/officeDocument/2006/relationships/notesMaster" Target="/ppt/notesMasters/notesMaster1.xml" Id="Rc8f54a3b5727477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8de3e62af164f1c" /><Relationship Type="http://schemas.openxmlformats.org/officeDocument/2006/relationships/notesMaster" Target="/ppt/notesMasters/notesMaster1.xml" Id="R62ba5cf3b4c24b0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335b260511f48ea" /><Relationship Type="http://schemas.openxmlformats.org/officeDocument/2006/relationships/notesMaster" Target="/ppt/notesMasters/notesMaster1.xml" Id="R58959e2ae36349d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0f16b214ef242cd" /><Relationship Type="http://schemas.openxmlformats.org/officeDocument/2006/relationships/notesMaster" Target="/ppt/notesMasters/notesMaster1.xml" Id="R486775d188754f9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a73102a4d2d4944" /><Relationship Type="http://schemas.openxmlformats.org/officeDocument/2006/relationships/notesMaster" Target="/ppt/notesMasters/notesMaster1.xml" Id="Re407f95526d9475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c2ac257435847ee" /><Relationship Type="http://schemas.openxmlformats.org/officeDocument/2006/relationships/notesMaster" Target="/ppt/notesMasters/notesMaster1.xml" Id="R9daf9a473c5048a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3695ac0f6e84921" /><Relationship Type="http://schemas.openxmlformats.org/officeDocument/2006/relationships/notesMaster" Target="/ppt/notesMasters/notesMaster1.xml" Id="R4e69e1f2d8a54b7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25a5578a1924cb3" /><Relationship Type="http://schemas.openxmlformats.org/officeDocument/2006/relationships/notesMaster" Target="/ppt/notesMasters/notesMaster1.xml" Id="R25836b5dfe9643d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bdb8a145a9e4c67" /><Relationship Type="http://schemas.openxmlformats.org/officeDocument/2006/relationships/notesMaster" Target="/ppt/notesMasters/notesMaster1.xml" Id="Ra4b0cfadb9fa43f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900a1f696ca42d2" /><Relationship Type="http://schemas.openxmlformats.org/officeDocument/2006/relationships/notesMaster" Target="/ppt/notesMasters/notesMaster1.xml" Id="R653bd9bbf9464a3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5223f1e074d42f0" /><Relationship Type="http://schemas.openxmlformats.org/officeDocument/2006/relationships/notesMaster" Target="/ppt/notesMasters/notesMaster1.xml" Id="Rcdf46542a68a4b6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aeee6cc284f432a" /><Relationship Type="http://schemas.openxmlformats.org/officeDocument/2006/relationships/notesMaster" Target="/ppt/notesMasters/notesMaster1.xml" Id="R6325b29920564a1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8efd2daef114e13" /><Relationship Type="http://schemas.openxmlformats.org/officeDocument/2006/relationships/notesMaster" Target="/ppt/notesMasters/notesMaster1.xml" Id="Rfd272f1d59c94bd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33645cf8a5544f3" /><Relationship Type="http://schemas.openxmlformats.org/officeDocument/2006/relationships/notesMaster" Target="/ppt/notesMasters/notesMaster1.xml" Id="R800672a643924be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459582f54a54750" /><Relationship Type="http://schemas.openxmlformats.org/officeDocument/2006/relationships/notesMaster" Target="/ppt/notesMasters/notesMaster1.xml" Id="R379acd63e2e84a1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e1ba5362bf64f84" /><Relationship Type="http://schemas.openxmlformats.org/officeDocument/2006/relationships/notesMaster" Target="/ppt/notesMasters/notesMaster1.xml" Id="Rb97a0289a52d492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b8d8eee389d426f" /><Relationship Type="http://schemas.openxmlformats.org/officeDocument/2006/relationships/notesMaster" Target="/ppt/notesMasters/notesMaster1.xml" Id="R13c425d3aaf3403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31e30ef80d145f2" /><Relationship Type="http://schemas.openxmlformats.org/officeDocument/2006/relationships/notesMaster" Target="/ppt/notesMasters/notesMaster1.xml" Id="R02f4fcbf60e749b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9990f586eb949ac" /><Relationship Type="http://schemas.openxmlformats.org/officeDocument/2006/relationships/notesMaster" Target="/ppt/notesMasters/notesMaster1.xml" Id="R6b1834cc32a5453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fc2883a2c5d4a39" /><Relationship Type="http://schemas.openxmlformats.org/officeDocument/2006/relationships/notesMaster" Target="/ppt/notesMasters/notesMaster1.xml" Id="R0bbe78c46289485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a3fec68f31e4a9d" /><Relationship Type="http://schemas.openxmlformats.org/officeDocument/2006/relationships/notesMaster" Target="/ppt/notesMasters/notesMaster1.xml" Id="R46fe3ff550b24a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founder-approved 12-month financing scenarios: USD 150,000 solo, USD 400,000 with two developers. Each includes USD 50,000 founder compensation. Website: https://vantemio.com/en/ . Source: founder instructions, 8 October 2026. Artwork is conceptual.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structure: https://vantemio.com/en/whitepaper/ and https://vantemio.com/en/docs/ . Founder confirms that the full editing/publication chain is not yet operational. Studio is the first application, not the original purpose of the automation 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 problem definition, 8 October 2026. Proposed workflow separates high-level cloud reasoning from local routine execution and connects quality and agreed rights to commerce. No elimination of all fraud or fee-free settlement is asserted.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post read directly in the founder’s Chrome on 5 October 2026. Author reports a 12-hour run after supplying a prompt, Midjourney and a moodboard. This does not establish 12 hours of human labor, 100 prompts, an 18-hour duration, or a comparable benchmark. The minutes-to-hours target is founder-defined and unvalidated. Manual prompting and repeated corrections are a separate problem from elapsed autonomous runtime. Source: https://x.com/anabology/status/2103534482930491441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Engineering rationale based on the existing orchestration, matrix, repair and distributed-execution design. Speedup is a hypothesis to validate, not a current measured result. Provider latency, media generation and rendering remain constraints.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 integrated lifecycle. Research, production and quality components exist; full publishing and feedback integration is in development. The return arrow represents recorded feedback informing the next operation.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Architecture: https://vantemio.com/en/docs/ . Station owns the operating studio. Registered executors run bounded tasks. Cloudflare hosts website and planned commerce interfaces; it does not replace Station or execute heavy rendering.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status follows the founder’s 8 October 2026 clarification. Code/components and isolated checks do not establish a working editing product. Source references: https://vantemio.com/en/docs/ and https://github.com/pavlichuckcrypt-maker/Vantemio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Founder-reported implemented matrices and production logic. Current engineering evidence supports component work, not completed acceptance of every integrated audio/video output. No proprietary source disclosed.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Operational learning and project memory: https://vantemio.com/en/cloud-edition/ and https://vantemio.com/en/docs/ . Reuse of approved experience is distinct from automatic training of model weights. The integrated learning/production loop is still under development.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Founder’s architecture instructions and current engineering status, October 2026. Station, Book and MacBook are the currently known nodes, not a fixed fleet limit. The existing registry supports expansion. Full fleet readiness and legacy queue handoff are still under validation. No network addresses, credentials or private source are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Baseline roles derive from https://vantemio.com/en/docs/ and https://vantemio.com/en/licenses/ . Qwen names describe baseline integrations, not confirmation that every resident is active. Audio generation, weights, voice rights and accepted output require separate checks. No GPT-OSS or local image generator is represented as currently deployed.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economics and comparison method: https://vantemio.com/en/whitepaper/ and https://vantemio.com/en/docs/ . The previous 70–80% figure was an unvalidated target. No measured percentage or total-cost saving is claimed in this revision. Compare complete costs, including hardware and operator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mature operating mode. Existing engine components are still being integrated. Initial configuration does not eliminate all maintenance, exceptions or provider/platform constraints.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Founder-defined next target, 8 October 2026: several days to two weeks for the first complete presentation, tokenization and publication. This is not a public-product launch promise. Documentation describes channel connectivity, whereas the founder confirms that the complete production chain remains unfinished.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Platform list and future scope supplied by founder. Posting and analytics depend on supported platform interfaces, permissions and connection validation. No claim that all listed platforms are integrated today.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initial model uses customer-paid generation when needed. Future local generation/private deployments are described at https://vantemio.com/en/home-edition/ . MCP is a tool interface and does not convert a web subscription into free API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profiles: https://vantemio.com/en/home-edition/ , https://vantemio.com/en/cloud-edition/ and https://vantemio.com/en/pricing/ . There is no public full-product installer or implemented external developer API. Selected source publication does not disclose the proprietary 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delivery profiles: https://vantemio.com/en/home-edition/ and https://vantemio.com/en/cloud-edition/ . At the minimum Home needs an extra production device. Cloud clients do not automatically become fleet workers. Fully private installations require model rights, compatible resources and independent deployment acceptance.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marketing-agency use case. SEO and full campaign automation are planned extensions, not claimed current functions. Customer-level permissions, context isolation and outcome validation are required.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Extension architecture and final-stage loyalty-token concept: https://vantemio.com/en/whitepaper/ and https://vantemio.com/en/roadmap/ . Token issuance, terms and legal preparation are separate future work. No token offering or sale finances the current proposal.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evidence: https://github.com/pavlichuckcrypt-maker/Vantemio/blob/main/docs/DEMO_EVIDENCE.md . New fulfillment design: https://vantemio.com/en/market/ . Historical purchase/completion/download does not prove quality-gated settlement or full Studio production.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https://github.com/pavlichuckcrypt-maker/Vantemio/blob/main/docs/DEMO_EVIDENCE.md . Base Sepolia integration. Content passport is distinct from Boson redeemable NFT. Terms govern licensed rights; no legal guarantee is asserted.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Founder-requested roadmap addition, 5 October 2026. These screening, evidence-review and enforcement integrations are not implemented or validated. Intended for original content and authorized supporting assets, including customer-created videos produced outside Vantemio. No YouTube Content ID approval, provider agreement or universal pre-upload scanning API is claimed. Content ID access is restricted to qualifying rights holders and approved partners. A match is evidence to review, not a legal ownership decision, and no match does not prove clearance. Automated and manual checks reduce risk but cannot guarantee detection of every infringement. Sources: https://support.google.com/youtube/answer/1311402?hl=en and https://support.google.com/youtube/answer/2797370?hl=en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Latest marketplace specification: https://vantemio.com/en/market/ . Ready-made packages and commissioned services use different acceptance/refund terms. Mandatory buyer rights, corrupt files and non-delivery remain covered. This is a development roadmap, not a live public market.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 custom-service sequence: https://vantemio.com/en/market/ and https://github.com/pavlichuckcrypt-maker/Vantemio/blob/main/docs/project/market-fulfillment.md . Immutable revision and terms bind QA, delivery and buyer acceptance. Full refunds, targeted revisions and protected deadlines are development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Design requirements: https://github.com/pavlichuckcrypt-maker/Vantemio/blob/main/docs/project/market-fulfillment.md and https://vantemio.com/en/market/ . Smart contracts check authorized signatures, commitments and state, not artistic quality. Supported mandatory settlement enforcement must be established before a strict paid profile. Ready-made digital goods have separate listing, delivery and buyer-remedy terms.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Donations platform: https://vantemio.com/en/whitepaper/ . 24/7 expressive avatars and audience interaction are founder-specified plans from 8 October 2026, not a deployed service. Streaming infrastructure carries the media; Base supports settlement. Model, voice and likeness rights require admission.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record: https://github.com/pavlichuckcrypt-maker/Vantemio/blob/main/docs/VERIFICATION.json and https://github.com/pavlichuckcrypt-maker/Vantemio/blob/main/docs/DEMO_EVIDENCE.md . The 176 count is a dated commerce record, not a current full-system test count or an independent audit. The displayed MetaMask image preserves historical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Founder-confirmed current stage, 8 October 2026. This overrides interpretations of documentation suggesting completed integrated production. Channel connectivity, code components and historical testnet receipts are distinct from a working customer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Business objective, not a financial forecast. Profitability depends on audience growth, monetization eligibility, demand, quality and operating costs. Current revenue is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Prospective revenue models: https://vantemio.com/en/pricing/ and https://vantemio.com/en/market/ . No revenue or profitability currently validated. Donations refers to creator support, not charitable tax-receipted donations. Prices and fees remain to be defined.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Founder’s proposed go-to-market plan. Customer profiles and willingness to pay remain hypotheses. The project currently has no live customer product or revenue. No invented TAM, conversion rate or acquisition-cost forecast is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 is the Base strategic investment arm for pre-seed/seed startups: https://www.base.org/ecosystem-fund . This is an investment request with terms to agree, not an awarded cash grant.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Near-term window follows founder update of 8 October 2026. The 12-week repeatability stage derives from https://vantemio.com/en/grants/ . Old broad month-by-month promises are replaced by acceptance-gated stages. This deck does not assert a fixed cloud launch date.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Latest founder-authorized proposal, 8 October 2026. Solo total = 100,000 + 50,000 = 150,000. Team total = 100,000 + 50,000 + 240,000 + 10,000 = 400,000. Development resource amount is an envelope, not a verified itemized cost estimate. Website and public investor documents use the same USD150k / USD400k scenarios. DGX Spark cost is included, not added twice. Two developers are proposed, not hired.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Price/specifications checked 8 October 2026: https://marketplace.nvidia.com/en-us/enterprise/personal-ai-supercomputers/dgx-spark/ . NVIDIA lists USD 6,950, 128 GB coherent unified system memory and 4 TB NVMe. Direct store listed out of stock at verification. https://docs.nvidia.com/dgx/dgx-spark/hardware.html specifies 128 GB LPDDR5X shared CPU/GPU memory and 273 GB/s, not a discrete 128 GB VRAM card. Founder wants to offload Qwen 27B or a compatible larger model and suitable local specialists, preserving Station authority and freeing its graphics/render capacity. After installation, the intended normal operating mode is resident Qwen 27B alongside TTS and audio tools. Additional models load on demand; the main model remains replaceable. Supplier availability, tax/shipping, ARM compatibility and measured memory/throughput require procurement and acceptance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Founder-supplied biography, 8 October 2026. Education concerns transport machinery and mechanisms, not a professional software-development career. Marketing was a personal interest. The founder works solo and uses AI coding tools. Website: https://vantemio.com/en/ . LinkedIn: https://www.linkedin.com/in/vitalii-pavlichuk-98206122a/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public materials: https://vantemio.com/en/ , https://vantemio.com/en/docs/ , https://vantemio.com/en/market/ , https://github.com/pavlichuckcrypt-maker/Vantemio and https://github.com/pavlichuckcrypt-maker/Vantemio/blob/main/docs/DEMO_EVIDENCE.md . Source publication is scoped to selected development modules.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aea08a9f914eb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2516ab9eb44df1" /><Relationship Type="http://schemas.openxmlformats.org/officeDocument/2006/relationships/slideLayout" Target="/ppt/slideLayouts/slideLayout1.xml" Id="Re3826fd3e11f49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826fd3e11f49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eafd6c38d4802" /><Relationship Type="http://schemas.openxmlformats.org/officeDocument/2006/relationships/image" Target="/ppt/media/image.png" Id="Rdb070cfe6b3c4520" /><Relationship Type="http://schemas.openxmlformats.org/officeDocument/2006/relationships/notesSlide" Target="/ppt/notesSlides/notesSlide1.xml" Id="R9c20f70b919f44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175df618a4b1c" /><Relationship Type="http://schemas.openxmlformats.org/officeDocument/2006/relationships/notesSlide" Target="/ppt/notesSlides/notesSlide2.xml" Id="Rc7ee67e5bbaa41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851076be31484f" /><Relationship Type="http://schemas.openxmlformats.org/officeDocument/2006/relationships/notesSlide" Target="/ppt/notesSlides/notesSlide3.xml" Id="R0c9db7e70e2a41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e9b3b13e34de3" /><Relationship Type="http://schemas.openxmlformats.org/officeDocument/2006/relationships/hyperlink" Target="https://x.com/anabology/status/2103534482930491441" TargetMode="External" Id="R7d2401ad8e784e53" /><Relationship Type="http://schemas.openxmlformats.org/officeDocument/2006/relationships/notesSlide" Target="/ppt/notesSlides/notesSlide4.xml" Id="R285c6ad8a18b43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f35eb82301491c" /><Relationship Type="http://schemas.openxmlformats.org/officeDocument/2006/relationships/notesSlide" Target="/ppt/notesSlides/notesSlide5.xml" Id="R7906e57386ac4d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8e04587764946" /><Relationship Type="http://schemas.openxmlformats.org/officeDocument/2006/relationships/notesSlide" Target="/ppt/notesSlides/notesSlide6.xml" Id="R3e41efa78be847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96623df344fc3" /><Relationship Type="http://schemas.openxmlformats.org/officeDocument/2006/relationships/notesSlide" Target="/ppt/notesSlides/notesSlide7.xml" Id="Rabeaab2cebbe41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bd4dfc3f34e8f" /><Relationship Type="http://schemas.openxmlformats.org/officeDocument/2006/relationships/notesSlide" Target="/ppt/notesSlides/notesSlide8.xml" Id="R96ada61a4ccb496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6f67e0e404f69" /><Relationship Type="http://schemas.openxmlformats.org/officeDocument/2006/relationships/notesSlide" Target="/ppt/notesSlides/notesSlide9.xml" Id="R15e1fb53139a45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3c8c4ce1084e3d" /><Relationship Type="http://schemas.openxmlformats.org/officeDocument/2006/relationships/notesSlide" Target="/ppt/notesSlides/notesSlide10.xml" Id="R2510201ec6b0496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4cb464e6e24007" /><Relationship Type="http://schemas.openxmlformats.org/officeDocument/2006/relationships/notesSlide" Target="/ppt/notesSlides/notesSlide11.xml" Id="R99f9c63c22f0406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3f3df6c094e42" /><Relationship Type="http://schemas.openxmlformats.org/officeDocument/2006/relationships/notesSlide" Target="/ppt/notesSlides/notesSlide12.xml" Id="Re9dbedaaa4864b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600982d204336" /><Relationship Type="http://schemas.openxmlformats.org/officeDocument/2006/relationships/notesSlide" Target="/ppt/notesSlides/notesSlide13.xml" Id="R0d175a5f6f45412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3611c2cfd45af" /><Relationship Type="http://schemas.openxmlformats.org/officeDocument/2006/relationships/notesSlide" Target="/ppt/notesSlides/notesSlide14.xml" Id="R5701e052b60c4f0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963db18234ff1" /><Relationship Type="http://schemas.openxmlformats.org/officeDocument/2006/relationships/notesSlide" Target="/ppt/notesSlides/notesSlide15.xml" Id="Rcdabc47f910c4e3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79aafa2b3f41eb" /><Relationship Type="http://schemas.openxmlformats.org/officeDocument/2006/relationships/notesSlide" Target="/ppt/notesSlides/notesSlide16.xml" Id="R8c06a99febc549d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bc5f3f484401f" /><Relationship Type="http://schemas.openxmlformats.org/officeDocument/2006/relationships/notesSlide" Target="/ppt/notesSlides/notesSlide17.xml" Id="R31cc906c10fe498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e071697894c90" /><Relationship Type="http://schemas.openxmlformats.org/officeDocument/2006/relationships/notesSlide" Target="/ppt/notesSlides/notesSlide18.xml" Id="R65eeb4fd983d420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e0dab787b4d3d" /><Relationship Type="http://schemas.openxmlformats.org/officeDocument/2006/relationships/notesSlide" Target="/ppt/notesSlides/notesSlide19.xml" Id="R72fd228a1de4470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ff713a2c94acc" /><Relationship Type="http://schemas.openxmlformats.org/officeDocument/2006/relationships/notesSlide" Target="/ppt/notesSlides/notesSlide20.xml" Id="Rcac51a96eaff48a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53fbd81ff5415f" /><Relationship Type="http://schemas.openxmlformats.org/officeDocument/2006/relationships/notesSlide" Target="/ppt/notesSlides/notesSlide21.xml" Id="R3fe292e7359e4ad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a8c3352984aa8" /><Relationship Type="http://schemas.openxmlformats.org/officeDocument/2006/relationships/notesSlide" Target="/ppt/notesSlides/notesSlide22.xml" Id="R4dfc99e38e4d4c9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8a8b4d7e6a46af" /><Relationship Type="http://schemas.openxmlformats.org/officeDocument/2006/relationships/notesSlide" Target="/ppt/notesSlides/notesSlide23.xml" Id="R7f6b80c137d0485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c7b819f904de8" /><Relationship Type="http://schemas.openxmlformats.org/officeDocument/2006/relationships/notesSlide" Target="/ppt/notesSlides/notesSlide24.xml" Id="R2785cffb5034451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8b0ec69774e6b" /><Relationship Type="http://schemas.openxmlformats.org/officeDocument/2006/relationships/notesSlide" Target="/ppt/notesSlides/notesSlide25.xml" Id="R014857ab44ff458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5c2f8ceda45cb" /><Relationship Type="http://schemas.openxmlformats.org/officeDocument/2006/relationships/notesSlide" Target="/ppt/notesSlides/notesSlide26.xml" Id="R55e5d6352fb047f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45c42959a24ff6" /><Relationship Type="http://schemas.openxmlformats.org/officeDocument/2006/relationships/notesSlide" Target="/ppt/notesSlides/notesSlide27.xml" Id="Rb033fabf2efc47f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5d5d25212473a" /><Relationship Type="http://schemas.openxmlformats.org/officeDocument/2006/relationships/notesSlide" Target="/ppt/notesSlides/notesSlide28.xml" Id="Rf5a110fb2798427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6a979d8ee54063" /><Relationship Type="http://schemas.openxmlformats.org/officeDocument/2006/relationships/hyperlink" Target="https://github.com/pavlichuckcrypt-maker/Vantemio/blob/main/docs/VERIFICATION.json" TargetMode="External" Id="R391a5791b2774502" /><Relationship Type="http://schemas.openxmlformats.org/officeDocument/2006/relationships/image" Target="/ppt/media/image2.png" Id="Rce3d070aada74a58" /><Relationship Type="http://schemas.openxmlformats.org/officeDocument/2006/relationships/notesSlide" Target="/ppt/notesSlides/notesSlide29.xml" Id="R63a6205a99ba444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560939fb14b05" /><Relationship Type="http://schemas.openxmlformats.org/officeDocument/2006/relationships/notesSlide" Target="/ppt/notesSlides/notesSlide30.xml" Id="Rc13fe3f19da044f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b00566b0846bc" /><Relationship Type="http://schemas.openxmlformats.org/officeDocument/2006/relationships/notesSlide" Target="/ppt/notesSlides/notesSlide31.xml" Id="R4515bec371f64c9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32610688bc41a7" /><Relationship Type="http://schemas.openxmlformats.org/officeDocument/2006/relationships/notesSlide" Target="/ppt/notesSlides/notesSlide32.xml" Id="R4f16befd81a84a6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7ce0dd5154464f" /><Relationship Type="http://schemas.openxmlformats.org/officeDocument/2006/relationships/notesSlide" Target="/ppt/notesSlides/notesSlide33.xml" Id="R92ae18010879457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04285fbfa7439a" /><Relationship Type="http://schemas.openxmlformats.org/officeDocument/2006/relationships/notesSlide" Target="/ppt/notesSlides/notesSlide34.xml" Id="R19dde2e903f64d5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079f7434a4dce" /><Relationship Type="http://schemas.openxmlformats.org/officeDocument/2006/relationships/notesSlide" Target="/ppt/notesSlides/notesSlide35.xml" Id="Rfa430eb3c68647a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704b48d5d4c16" /><Relationship Type="http://schemas.openxmlformats.org/officeDocument/2006/relationships/notesSlide" Target="/ppt/notesSlides/notesSlide36.xml" Id="R9bb89cdfe702448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61d996e6c94af6" /><Relationship Type="http://schemas.openxmlformats.org/officeDocument/2006/relationships/notesSlide" Target="/ppt/notesSlides/notesSlide37.xml" Id="R3be0d25d2bd74c0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1ab6bb8da4a64" /><Relationship Type="http://schemas.openxmlformats.org/officeDocument/2006/relationships/hyperlink" Target="https://vantemio.com/en/" TargetMode="External" Id="R262027d37d2a421c" /><Relationship Type="http://schemas.openxmlformats.org/officeDocument/2006/relationships/hyperlink" Target="https://www.linkedin.com/in/vitalii-pavlichuk-98206122a/" TargetMode="External" Id="Reb416a6e27994f62" /><Relationship Type="http://schemas.openxmlformats.org/officeDocument/2006/relationships/notesSlide" Target="/ppt/notesSlides/notesSlide38.xml" Id="Rc542a7792cdf4a6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f1cd9e8b74fb9" /><Relationship Type="http://schemas.openxmlformats.org/officeDocument/2006/relationships/hyperlink" Target="https://vantemio.com/en/docs/" TargetMode="External" Id="R432dfd460a7e441e" /><Relationship Type="http://schemas.openxmlformats.org/officeDocument/2006/relationships/hyperlink" Target="https://github.com/pavlichuckcrypt-maker/Vantemio" TargetMode="External" Id="R1d85f95103ab40ac" /><Relationship Type="http://schemas.openxmlformats.org/officeDocument/2006/relationships/hyperlink" Target="https://github.com/pavlichuckcrypt-maker/Vantemio/blob/main/docs/DEMO_EVIDENCE.md" TargetMode="External" Id="Rc94fe2620f974898" /><Relationship Type="http://schemas.openxmlformats.org/officeDocument/2006/relationships/hyperlink" Target="https://vantemio.com/en/market/" TargetMode="External" Id="Rede1f4dcc46a45bd" /><Relationship Type="http://schemas.openxmlformats.org/officeDocument/2006/relationships/hyperlink" Target="https://www.linkedin.com/in/vitalii-pavlichuk-98206122a/" TargetMode="External" Id="R9b5539ab93e948e8" /><Relationship Type="http://schemas.openxmlformats.org/officeDocument/2006/relationships/notesSlide" Target="/ppt/notesSlides/notesSlide39.xml" Id="Rb2dc468737e746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E18A95-E969-4DF9-A2F8-35BE6CF03A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070cfe6b3c452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31E07-DF6A-4BB8-BC0C-6B93B6AF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619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6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Vantemio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05F2B-FC69-4FB8-8333-7FB6AC73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33625"/>
            <a:ext cx="7810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AI automation core</a:t>
            </a:r>
          </a:p>
          <a:p xmlns:a="http://schemas.openxmlformats.org/drawingml/2006/main">
            <a:pPr algn="l">
              <a:buNone/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Studio, services and commerce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2595BB-9C7A-4892-B12B-F31EEF51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05375"/>
            <a:ext cx="4572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Pre-seed proposal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8 October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C0594-FFED-4C2F-9FE4-BD8258D2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Vitalii Pavlichuk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Founder and Product Architect</a:t>
            </a:r>
          </a:p>
        </p:txBody>
      </p:sp>
    </p:spTree>
    <p:extLst>
      <p:ext uri="{BB962C8B-B14F-4D97-AF65-F5344CB8AC3E}">
        <p14:creationId xmlns:p14="http://schemas.microsoft.com/office/powerpoint/2010/main" val="19932214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DDC7A-67C2-4DE0-99AC-7FED43C8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Core and application modules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7492-DE65-4C2C-AA0C-8CD3349E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60A26-010E-4A23-B4FF-A5D21C93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Reusable orchestration and execution core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3B4679-4B97-4145-86E8-49E32089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5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One core links task context, tools, execution records and accepted output versions.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C3D8B-44B6-4D21-9792-BDF44243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Studio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FFF7D4-796E-4428-A637-1D2C1231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5191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First testing and monetization stage: editing, motion graphics and audio for Vantemio’s own channels.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4AC38-8401-4B3E-94EF-53B734D1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480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Market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D55CB-E17A-4C2E-9324-CE4FE2BB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43375"/>
            <a:ext cx="5191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marketplace for ready-made assets, custom services and independent sellers, using Base and Boson Protocol.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53381C-A31F-43B6-9A28-77430544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Next modules: Social, Marketing, CRM and Donations. Integrated production remains in development.</a:t>
            </a:r>
          </a:p>
        </p:txBody>
      </p:sp>
    </p:spTree>
    <p:extLst>
      <p:ext uri="{BB962C8B-B14F-4D97-AF65-F5344CB8AC3E}">
        <p14:creationId xmlns:p14="http://schemas.microsoft.com/office/powerpoint/2010/main" val="6488169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B26ED-A791-4DA6-89D1-F71D3224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production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3DB5E-A781-437D-95B0-90F8DB06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D5227C-677D-41D0-8410-C1AF64C5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Cloud tokens spent on routine 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43E4F-8B5D-4004-933A-E6E6886A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Repeated prompts, corrections and context transfers increase cloud usage and production time.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7C0105-121F-448B-A19A-D7D8B089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Artistic production and reusable experience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E1690-27DC-4B84-BE5C-B4718588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7620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Direction, pacing and sound need coherent execution. Recorded lessons should improve the next production.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DC1BC8-5280-4637-83E4-FD10593A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Quality, rights and trustworthy sales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B91B8-71CA-4250-BF9A-484155EB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Buyers need clear terms, verified files and correct delivery. Crypto settlement still carries network and protocol fees.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28D045-C5C2-46FD-9A1A-F6C3821E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52625"/>
            <a:ext cx="25717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Creators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Small studios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Agencies</a:t>
            </a:r>
          </a:p>
        </p:txBody>
      </p:sp>
    </p:spTree>
    <p:extLst>
      <p:ext uri="{BB962C8B-B14F-4D97-AF65-F5344CB8AC3E}">
        <p14:creationId xmlns:p14="http://schemas.microsoft.com/office/powerpoint/2010/main" val="8162116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4F94F0-3E3C-4904-B51C-CAFA52C7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Short videos can still require long production runs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95E0B-00BA-40F7-9863-3EC4FE2E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2D9BA-B546-40A5-BBC3-334372A0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02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502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12 hours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BEFAA-4259-4FB4-8F72-6EE4E968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509587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Reported by @anabology for an AI-directed video produced from a prompt, tools and a moodboard.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11CBE-C914-43DE-805D-5EBC497A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764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Minutes to hours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57BAE-A255-4104-B81D-BA5D8847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819400"/>
            <a:ext cx="50958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Tens of minutes for simple work, hours for complex graphics. This remains a target for equivalent tasks and quality.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B58CE-D429-4835-BF47-910FE1A5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5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Track manual prompts, corrections and elapsed production time. Measure rendering separately.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049B07-3AB3-409A-BC66-FCFCE651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7d2401ad8e784e53"/>
              </a:rPr>
              <a:t>Reference: @anabology’s production example</a:t>
            </a:r>
          </a:p>
        </p:txBody>
      </p:sp>
    </p:spTree>
    <p:extLst>
      <p:ext uri="{BB962C8B-B14F-4D97-AF65-F5344CB8AC3E}">
        <p14:creationId xmlns:p14="http://schemas.microsoft.com/office/powerpoint/2010/main" val="4333481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F4D94-F0C6-41D9-8ECC-0CCF357F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How production time should decrease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C6CBD0-57D3-4B4D-B0C4-E399B372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1A4AEC-E4DE-43FC-8081-6E2DF592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Plan before execution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B308B-B725-44A8-9FD6-AC0BAF9D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Keep scene intent, timing, rights and sound requirements in structured plans shared by downstream tools.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E4E76-46BB-4EB0-B64F-B14C99F5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Repair only failed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0E6F1C-CCF7-443B-B43D-6F9C5E8D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Preserve accepted results. Recheck failed components and their dependencies before assembling a new version.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1C0D1-2453-4AAE-987C-CDC136A4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Use available machines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B1326-260D-4DD6-98FB-96F2509B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Distribute independent admitted jobs and graphics work across bounded workers under Station control.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86E3F0-83FE-42D1-AE4E-943F3EC6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05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Benchmark the complete job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70B5B5-ADF1-4903-A0CD-F273EE73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0055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Track elapsed time, render time, cost, output quality and human interventions on equivalent briefs.</a:t>
            </a:r>
          </a:p>
        </p:txBody>
      </p:sp>
    </p:spTree>
    <p:extLst>
      <p:ext uri="{BB962C8B-B14F-4D97-AF65-F5344CB8AC3E}">
        <p14:creationId xmlns:p14="http://schemas.microsoft.com/office/powerpoint/2010/main" val="21259406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AD9429-81DD-4D0C-B26A-C35F2D86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intended end-to-end service 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31257-8158-493F-9BE4-6D9B77CD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3E161-DABF-494B-877F-BFFDC477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Idea or order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7637E9-BC82-40E1-BE20-D0321E7D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Research and 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8EA88-1EC8-4B81-85E0-C4D4A5F1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85950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Create and execute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580AF-E6A5-49E2-9C0D-E998662C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5762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Validate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DFBBB-40BC-45A0-BDC3-2DC6A9BB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5762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Publish or deliver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A0D4E-AB82-44C6-8ED6-205971B5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Learn from outcomes</a:t>
            </a:r>
          </a:p>
        </p:txBody>
      </p: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53AF2E-8469-4E17-876A-5AC11BB15FCF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409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80CF69-F096-488A-ADEF-261311A76E3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409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A5EE20-14D5-49B6-A6D3-071EA9D6A33F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925050" y="2933700"/>
            <a:ext cx="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9EB707-1B2F-4C5E-99F6-905BA1E0C8FE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753350" y="43815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09EA3F-8C6A-4C34-BDFE-51B638C7BADC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3924300" y="43815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45A5BF-8064-44FE-9150-A4D21C7F0B34}"/>
              </a:ext>
            </a:extLst>
          </p:cNvPr>
          <p:cNvCxnSpPr>
            <a:stCxn xmlns:a="http://schemas.openxmlformats.org/drawingml/2006/main" id="8" idx="0"/>
            <a:endCxn xmlns:a="http://schemas.openxmlformats.org/drawingml/2006/main" id="3" idx="2"/>
          </p:cNvCxnSpPr>
          <p:nvPr/>
        </p:nvCxnSpPr>
        <p:spPr>
          <a:xfrm xmlns:a="http://schemas.openxmlformats.org/drawingml/2006/main" flipV="1">
            <a:off x="2266950" y="2933700"/>
            <a:ext cx="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F81ACB-A560-46B9-BF19-038C2744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One recorded workflow carries task context, accepted assets and execution history between stages.</a:t>
            </a:r>
          </a:p>
        </p:txBody>
      </p:sp>
    </p:spTree>
    <p:extLst>
      <p:ext uri="{BB962C8B-B14F-4D97-AF65-F5344CB8AC3E}">
        <p14:creationId xmlns:p14="http://schemas.microsoft.com/office/powerpoint/2010/main" val="14573128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DEA1A-768E-42B2-A53F-92CBDD3D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reusable technical 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21A92-8CC9-46C4-8C5B-CE0C7769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33C2A-A13F-4848-911F-DBC5A5BD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514475"/>
            <a:ext cx="8763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Application modules: Studio, Social, Marketing, CRM, Market, Donations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721182-B0F8-47EA-B7A8-68972DB5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86050"/>
            <a:ext cx="876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Station core: task admission, queues, memory, registry and recovery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FAACAC-7ACC-48A3-B9A2-6A0ACB23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Agents and structured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task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5A348-6CA7-4164-927E-5DF68923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481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Code-enforced validation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and execution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752C2-F722-40EE-9988-F8EF091E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481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Memory, graph and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execution registries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E3B5BD-AA62-49BD-9D40-CE8411D6E417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4" idx="0"/>
          </p:cNvCxnSpPr>
          <p:nvPr/>
        </p:nvCxnSpPr>
        <p:spPr>
          <a:xfrm xmlns:a="http://schemas.openxmlformats.org/drawingml/2006/main">
            <a:off x="6096000" y="2162175"/>
            <a:ext cx="0" cy="5238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214AFE-3AC4-496F-A017-B6448C8FD397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2266950" y="3429000"/>
            <a:ext cx="3829050" cy="619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821667-B3BD-43B0-983A-BC8179DFC645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6096000" y="3429000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FFADA6-387C-44F6-A5F0-53DA4A196995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96000" y="3429000"/>
            <a:ext cx="3829050" cy="619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9DE401-B4FD-4E45-9E10-06D9E117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Bounded executors and service adapters perform the admitted work and return results.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1717F6-F36A-4A9F-A417-88EF9646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Python core, Remotion and Blender graphics, FFmpeg and Vidra/MLT, Node.js and Solidity</a:t>
            </a:r>
          </a:p>
        </p:txBody>
      </p:sp>
    </p:spTree>
    <p:extLst>
      <p:ext uri="{BB962C8B-B14F-4D97-AF65-F5344CB8AC3E}">
        <p14:creationId xmlns:p14="http://schemas.microsoft.com/office/powerpoint/2010/main" val="13751961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2C2EB-BD52-460F-AB3A-F5C87F81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Production components in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87C3D-92CC-497E-BFD2-099C0089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D754A7-E242-4CD4-BF59-5C21C1FE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Video and sound matrices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470759-CB3F-47C7-A0EF-D18A9ED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Scene timing, visual assets, voice, music and effects are represented in structured production plans.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997FF-AB63-4B29-BFD8-73807F54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Editing and graphics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B99C74-414D-4D14-B22D-6176C8F2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Source includes assembly, graphics, transitions and render logic. Reliable integrated output is still being developed.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DB5ED-7509-4F9D-BE03-9689CA79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Audio workflows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D2D7D-9C40-4263-8543-EAB6F5D2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Voice, music and event sounds have separate timing and processing rules. Mixing and quality integration continue.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9745AA-99D0-4BA9-BB8F-7F2021E1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62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Memory and repair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72EEE3-F1FA-43B8-B9A9-72384137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57625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Memory, registry and repair mechanisms retain task context and recorded outcomes for later decisions.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34E20B-2515-4A28-9ED4-64403573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Working today: automated YouTube competitor analysis. Full Studio execution remains the next integration target.</a:t>
            </a:r>
          </a:p>
        </p:txBody>
      </p:sp>
    </p:spTree>
    <p:extLst>
      <p:ext uri="{BB962C8B-B14F-4D97-AF65-F5344CB8AC3E}">
        <p14:creationId xmlns:p14="http://schemas.microsoft.com/office/powerpoint/2010/main" val="9178686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72CB68-92D6-439B-9ECA-0783B631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Video and audio are structured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139A4-FA7A-4418-B920-12DD28ED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BB92D-4C1D-4D84-8BC4-CA8C40CE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Video 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6B32CF-553F-4C36-86FB-DB351691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Scenes, shot intent, assets, timing, transitions and composition become explicit instructions for assembly and review.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F3245-5543-448F-B8C5-EADD462A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Sound matrix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0C0D3-E0E1-42B1-A493-A1E3DC80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Narration, music and effects are separate layers with timing, synchronization, processing and mixing instructions.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79CEE-E534-413F-B874-B7994516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Creative direction in 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8FA7A-3A4D-4BAF-BC2B-F7DFC0D5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Rules connect script intent with pacing, scene continuity, visual presentation and the audio plan.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138C33-B4B3-4CA9-815B-213701AF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528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Current engineering work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D1645-F7D7-474A-964A-A5505E1F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4817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Improve output quality, remove integration failures and make complete productions repeatable.</a:t>
            </a:r>
          </a:p>
        </p:txBody>
      </p:sp>
    </p:spTree>
    <p:extLst>
      <p:ext uri="{BB962C8B-B14F-4D97-AF65-F5344CB8AC3E}">
        <p14:creationId xmlns:p14="http://schemas.microsoft.com/office/powerpoint/2010/main" val="15388460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47C13-08EB-43E0-8895-B7D5510E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Experience-based learning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A8A80-36CE-4ABE-B422-652E070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011EB-5F7F-4154-96DF-AD11EE5B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Record the 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75DA5-7073-4C17-8A86-A47E1C72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Evaluate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D57F9-15AE-413E-898B-6A3875C7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Create repair tasks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47E6C-1C12-4975-B645-DE945012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Reuse verified lessons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F9F56C-4865-4CF1-9F0A-ED2AA9B16922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181350" y="2238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50EF99-EC1C-4E30-9DB6-A3851D639FA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981700" y="2238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F0C189-1275-4366-85BB-DAB434FA3BD1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782050" y="2238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A11B6-304E-4122-9138-492954A1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Persistent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17653-CB42-4B71-A820-EDD4DAC7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design retains task history, versions, errors and decisions in persistent memory and graph relationships.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9B82BA-6161-4EFB-89D2-E404E6EA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004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Controlled improvement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22CBE5-666D-42F3-8B49-E4D9BF33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957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Approved lessons guide direction, prompt design, editing, motion graphics and sound in later tasks.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A24E7-BC14-49ED-9835-80C2F2B3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Planned shared learning uses isolated customer workspaces. Model training needs a separate data-use basis.</a:t>
            </a:r>
          </a:p>
        </p:txBody>
      </p:sp>
    </p:spTree>
    <p:extLst>
      <p:ext uri="{BB962C8B-B14F-4D97-AF65-F5344CB8AC3E}">
        <p14:creationId xmlns:p14="http://schemas.microsoft.com/office/powerpoint/2010/main" val="8785996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DB27-CF78-4EF5-B33F-8011EFD2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Station controls distributed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7D8FEB-3FF8-40E5-8A6C-BEEDED18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5F23B-C521-47BA-97C3-C88A7DA1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Python orchestration core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C207A-9A34-4B38-B1E2-E2BBC278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Task admission, persistent memory, registries and production state remain under the central workstation.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7CDC0-12A3-4D09-BE0E-4B920B53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8B951-CB53-4900-8C69-E146FA4B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3429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RTX 5070 Ti workstation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Owns queues and orchestration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Runs local computation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583A31-4D85-40DA-8BB7-74928DA3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7662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Windows laptop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C72D8-6AFC-4D8B-874E-F3777736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71925"/>
            <a:ext cx="333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Qwen Coder 7B helper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Receives admitted tasks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Returns results and receipts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8D795B-7B61-404A-A734-9ED70342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7662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MacBook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BE4006-F656-4353-91D5-4F1123BB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71925"/>
            <a:ext cx="333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Development and client work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Receives bounded jobs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Returns outputs and receipts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114543-99BD-452A-A5E5-7D012B0A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The registry admits additional compute nodes. Readiness and resource budgets govern each assignment.</a:t>
            </a:r>
          </a:p>
        </p:txBody>
      </p:sp>
    </p:spTree>
    <p:extLst>
      <p:ext uri="{BB962C8B-B14F-4D97-AF65-F5344CB8AC3E}">
        <p14:creationId xmlns:p14="http://schemas.microsoft.com/office/powerpoint/2010/main" val="8060955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282E62-D02D-4720-8E34-8896BFED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Cloud and local AI roles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CEA8C-BAD9-4190-B0B7-B1B2CDE0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AD775-CE53-4084-9F14-7296E11F33B2}"/>
              </a:ext>
            </a:extLst>
          </p:cNvPr>
          <p:cNvGraphicFramePr/>
          <p:nvPr/>
        </p:nvGraphicFramePr>
        <p:xfrm>
          <a:off xmlns:a="http://schemas.openxmlformats.org/drawingml/2006/main" x="609600" y="1552575"/>
          <a:ext xmlns:a="http://schemas.openxmlformats.org/drawingml/2006/main" cx="10972800" cy="3800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09875"/>
                <a:gridCol w="4048125"/>
                <a:gridCol w="4114800"/>
              </a:tblGrid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 / role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Assigned work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Integration requirement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Cloud reasoning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Direction, dramaturgy and complex planning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access, bounded cost and validated output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Qwen 27B / Coder 7B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Local planning and bounded code tasks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Resource admission and recorded request results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Vision adapters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Scene and frame screening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Coverage, task context and separate quality review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Qwen3-TTS / Whisper / VAD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Narration and timestamped speech analysis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Voice rights, timing and intelligibility checks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ACE-Step / FFmpeg / CLAP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Music, sound processing and semantic analysis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Commercial model clearance and mix validation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B05FB1-5733-4945-AB26-766B30B4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Replaceable baseline. MMAudio and AudioLDM remain research components pending rights and quality checks.</a:t>
            </a:r>
          </a:p>
        </p:txBody>
      </p:sp>
    </p:spTree>
    <p:extLst>
      <p:ext uri="{BB962C8B-B14F-4D97-AF65-F5344CB8AC3E}">
        <p14:creationId xmlns:p14="http://schemas.microsoft.com/office/powerpoint/2010/main" val="17729796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939C30-76BA-4933-84E4-07C68179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Cloud reasoning and local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C53D5-0B8B-4765-907D-0D02E247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8F05A-FFA7-439F-BF74-73DBF08E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34290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67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7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Fewer tokens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189AC-86C1-4D5F-B89F-1736F737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41910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Cloud models handle global planning. Local models and tools carry out routine production tasks.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1FBD6-341D-4F74-866A-4FA4D363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419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Measure tokens, retries, human work and cost per accepted output on the same brief.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06987-7539-4F0B-923F-C0047C35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95450"/>
            <a:ext cx="6172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Station coordinator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Queues, memory,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E3348-D119-4AB3-9B5A-4786A34F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76600"/>
            <a:ext cx="29337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DGX Spark after installation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Resident Qwen 27B + TTS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6A730-F772-465E-8980-A6E95243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76600"/>
            <a:ext cx="29337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Registered workers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Book coder + compute jobs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386194-8649-4F89-8212-65B843C1247C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6877050" y="2571750"/>
            <a:ext cx="1619250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015DD3-C035-4D6A-ABE1-798EA7FEAB0B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496300" y="2571750"/>
            <a:ext cx="1619250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15618-D1ED-42AB-9A4C-72503C0F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581525"/>
            <a:ext cx="61722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Models can change with hardware and workload. Adapters preserve task schemas, validation and coordinator authority.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6EA466-F4CA-42B9-BF6E-3544FD52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External generation remains the initial path. Local generation is a planned, workload-tested option.</a:t>
            </a:r>
          </a:p>
        </p:txBody>
      </p:sp>
    </p:spTree>
    <p:extLst>
      <p:ext uri="{BB962C8B-B14F-4D97-AF65-F5344CB8AC3E}">
        <p14:creationId xmlns:p14="http://schemas.microsoft.com/office/powerpoint/2010/main" val="10388945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1342A-509C-474C-A884-9F3CDD13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Configured production workflows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A787B-D8E5-4250-9BF8-1E9603A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08F92-870E-4752-802D-2BAE0FEF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Initial configuration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3D3AC-AA86-430D-BA15-88EC850C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Define a brand profile, sources, channels, schedule, budget and authorization rules before running a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40714-7EE2-4908-9CA4-91AD42EA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Autonomous operating target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9C864-61C5-420A-8873-C1D13EC2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target loop researches, plans, produces and reviews content, then publishes through permitted interfaces.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7B89D-DDBE-4C7E-B1DD-E6A98F9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Publication authorization and recovery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3A54A-8AC4-47EC-8882-1F17D02F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Bind publication to the approved account and asset version. Reconcile interrupted operations before retrying.</a:t>
            </a:r>
          </a:p>
        </p:txBody>
      </p:sp>
    </p:spTree>
    <p:extLst>
      <p:ext uri="{BB962C8B-B14F-4D97-AF65-F5344CB8AC3E}">
        <p14:creationId xmlns:p14="http://schemas.microsoft.com/office/powerpoint/2010/main" val="109303274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7DEF6E-DAB5-4E4F-8EF6-066C7D95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First integrated YouTube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EB146-818B-473F-BAB7-76DB90B4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8D0406-2E32-47DE-9BB2-890779B1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Days to two weeks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E7258-A362-476A-A134-D84FED88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Founder estimate from 8 October 2026, subject to integration and tests.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EBFA0-40F6-4E9D-BAEA-E630DA27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Motion-graphics project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366AA-C4B1-416D-B622-6BBF43ED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Complete graphics, editing, audio, review and tokenization, then publish automatically to Vantemio’s official YouTube channel.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469B1-1ADD-4ADF-BD1B-FFD8FC7E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290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Repeatability before 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3B05F-0F78-43CA-B179-789E965A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2432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Test recovery and output quality, record lessons and refine the next run before adding channels.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22F61C-E890-4D4B-93DE-22E6C9FA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The full chain is not yet operational. Channel/API connection alone does not establish completed production.</a:t>
            </a:r>
          </a:p>
        </p:txBody>
      </p:sp>
    </p:spTree>
    <p:extLst>
      <p:ext uri="{BB962C8B-B14F-4D97-AF65-F5344CB8AC3E}">
        <p14:creationId xmlns:p14="http://schemas.microsoft.com/office/powerpoint/2010/main" val="15493676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078DA-07C1-4B5B-82B5-05554218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Social-media operations across channels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181633-C6F9-4658-8B7D-A42B650C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48D33-B063-4FD6-BCFC-1DE8A82F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YouTube, X, Facebook, Instagram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TikTok, Pinterest and LinkedIn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94370-5668-467B-862B-A7FD3F9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One content strategy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3994B-95E8-4898-9B87-D56AE9F6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Competitor research, audience hypotheses and a shared content plan guide platform-specific videos, posts and visual assets.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AD396-3CD4-43B9-AEC4-C8A69C9E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99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 measured feedback cycle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A725E-B259-494B-9C61-B2B59F61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052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Analyze response to published content, identify effective topics and formats, and adjust subsequent production and scheduling.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DBDBE-83B3-4FD5-8E95-FE2DA603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Working starting point: YouTube competitor analysis. Cross-platform publishing and feedback integration are planned.</a:t>
            </a:r>
          </a:p>
        </p:txBody>
      </p:sp>
    </p:spTree>
    <p:extLst>
      <p:ext uri="{BB962C8B-B14F-4D97-AF65-F5344CB8AC3E}">
        <p14:creationId xmlns:p14="http://schemas.microsoft.com/office/powerpoint/2010/main" val="16731222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A3F543-9EFB-4739-ADC8-5596E92D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customer-owned generation connections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76639-510C-45C3-82CB-3E66928F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E8F37-F8EC-4AFE-AC5B-E0D8C7F9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3314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Customer-owned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provider accounts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0C0C0-984E-4D5B-9001-E03C86E8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81200"/>
            <a:ext cx="3314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Supported MCP / API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connections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990C08-5F9B-40BF-920B-137CA265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81200"/>
            <a:ext cx="3314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planning,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editing and delivery</a:t>
            </a:r>
          </a:p>
        </p:txBody>
      </p: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306D5B-B15F-46F2-928E-3E401FE76DB8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543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DA09DA-7F2E-4977-9245-6E00D403E74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543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EA0E9-EE74-45FD-A58C-75DC100E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Customer expense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566B4-9A2C-4C77-A291-A7958447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Customers use their own permitted generation access. Provider compatibility, billing and account isolation need validation.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F019E4-B6AA-40D9-9745-60944C06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481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expense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A6D3B2-F334-4BFC-9F11-ED7C3117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434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pays for its own tests and content. Runtime calls, rendering and storage remain separate operating costs.</a:t>
            </a:r>
          </a:p>
        </p:txBody>
      </p:sp>
    </p:spTree>
    <p:extLst>
      <p:ext uri="{BB962C8B-B14F-4D97-AF65-F5344CB8AC3E}">
        <p14:creationId xmlns:p14="http://schemas.microsoft.com/office/powerpoint/2010/main" val="39394600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F5918-14E9-4628-8BDC-794485E6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Future product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E9053-FB2B-4F80-86C2-96973A4E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7BB6ED-3B93-4756-A814-CCF646ACAD73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095750"/>
                <a:gridCol w="4305300"/>
              </a:tblGrid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Format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 value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 direction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Vantemio Home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Run on customer-owned hardware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Installer, licensing and supported workflows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Vantemio Cloud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Use heavy compute through a laptop client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Isolation, quotas, delivery and recovery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Developer API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Build applications around jobs and results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interfaces, examples and validation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Business deployment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Adapt to agency or enterprise workflows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Domain rules and private/hybrid configuration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2AB74-E684-45AA-948A-F4F1E03B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5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Selected modules are public today. A limited installable release and commercial extensions are planned.</a:t>
            </a:r>
          </a:p>
        </p:txBody>
      </p:sp>
    </p:spTree>
    <p:extLst>
      <p:ext uri="{BB962C8B-B14F-4D97-AF65-F5344CB8AC3E}">
        <p14:creationId xmlns:p14="http://schemas.microsoft.com/office/powerpoint/2010/main" val="123996453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F5918-14E9-4628-8BDC-794485E6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Deployment profiles in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E9053-FB2B-4F80-86C2-96973A4E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7BB6ED-3B93-4756-A814-CCF646ACAD73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4333875"/>
                <a:gridCol w="4210050"/>
              </a:tblGrid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Profile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Where work runs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Preparation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 station and registered devices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Installer, models, licensing and hardware tests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Cloud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Vantemio compute; laptop client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Tenant isolation, quotas, storage and recovery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Hybrid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Agreed local and cloud routes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Permissions, data transfers and cost accounting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Private enterprise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Principal reasoning and production on own servers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Permitted models, private updates and no cloud fallback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2AB74-E684-45AA-948A-F4F1E03B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5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2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Home design baseline: RTX 5070 Ti 16 GB, 32 GB RAM, 1 TB SSD and an additional production device.</a:t>
            </a:r>
          </a:p>
        </p:txBody>
      </p:sp>
    </p:spTree>
    <p:extLst>
      <p:ext uri="{BB962C8B-B14F-4D97-AF65-F5344CB8AC3E}">
        <p14:creationId xmlns:p14="http://schemas.microsoft.com/office/powerpoint/2010/main" val="123996453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3FD64-C69B-40B8-8CAA-E3FD8232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workflows for marketing agencies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AE3CC-650C-4683-BEEF-3C09AB4F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5C509-46A0-4935-96D9-8607F75F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Configure each client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68369-ED80-4689-92BC-A54A3751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Brand rules, target audience, approved sources, service accounts, campaign goals and review policy.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6F3B9-881E-4E5C-B936-EC22DF5F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Run recurring production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61E38-A5CF-4B7E-ADE1-467A28B8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Prepare content calendars, scripts, videos and posts; schedule publication and coordinate channel-specific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D6541-E990-45D9-9885-5D5343D4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Measure and improve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28F58-0361-4211-B1C1-D3A5E407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Compare audience response, content performance and campaign results. Update the next content cycle.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02F52-30B3-40BF-AFB7-45810F5C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Expand the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B6788C-835F-4BF6-BCAE-B3C62763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Add SEO planning, campaign analysis and related digital-service tasks through dedicated adapters and validation rules.</a:t>
            </a:r>
          </a:p>
        </p:txBody>
      </p:sp>
    </p:spTree>
    <p:extLst>
      <p:ext uri="{BB962C8B-B14F-4D97-AF65-F5344CB8AC3E}">
        <p14:creationId xmlns:p14="http://schemas.microsoft.com/office/powerpoint/2010/main" val="59718296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7C682E-DBD3-4C02-A60E-E6F20325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Extensions built around one 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CD4E0D-B9A5-4FB4-9C18-3A0EA9F2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2F57A-6A21-45F6-9F24-DDD92A9B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5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New services reuse the same operating pattern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E89B9-F8DB-4776-A053-8DFBD6E7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Task intake, planning, execution, review, delivery and recorded experience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5AEC8-8F88-44DA-8478-9C7B5D24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Potential applications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A46DE-7327-4FD5-907D-BEF73E50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5191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Marketing, CRM, studios and other digital-service businesses. Travel workflows remain a later domain example.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0651C-602D-4F51-81F1-FE8A0BA4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00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How the engine expands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22C76-B640-4EDE-B999-9511987C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895850"/>
            <a:ext cx="5191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Each extension adds domain knowledge, connectors, execution rules and acceptance tests around the core.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C65610-71B6-4D39-8591-82B0F8D2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Later research: a loyalty token for rewards and service access, outside the current funding source.</a:t>
            </a:r>
          </a:p>
        </p:txBody>
      </p:sp>
    </p:spTree>
    <p:extLst>
      <p:ext uri="{BB962C8B-B14F-4D97-AF65-F5344CB8AC3E}">
        <p14:creationId xmlns:p14="http://schemas.microsoft.com/office/powerpoint/2010/main" val="68820570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B9BD4-84A8-4881-B5B8-E38AAF26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Base tokenization and Boson commerce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00131A-6C02-4CAC-9B07-37054C5D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C1C1B-37E9-413A-93D8-7284A644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Content registration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9B898-6506-491D-A529-71E4CDDD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Historical testnet demos bind an accepted file hash, recipient and terms to a content passport.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C201FD-0383-4489-B280-F6AA8F99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Commercial exchange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EAC2B-5D86-4DE5-9EFF-E293B5EA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Boson manages offers, vouchers, exchange states and dispute deadlines. Production has separate states.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434F7-4249-4979-A658-50C934D8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Studio-service orders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BF68DF-3FCD-4052-9BC1-3B8B76E7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planned workflow connects a buyer brief, admitted Studio tasks, result review and the order version.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00FB5-330B-45F7-9004-48CDDE5F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337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Protected delivery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2E2BE-6887-4D01-99BF-4390D9B1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029075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checks entitlement and asset identity before granting limited access to private files.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41243-F050-4951-B93A-ED9E7967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The content passport identifies the asset. The Boson NFT represents its commercial exchange.</a:t>
            </a:r>
          </a:p>
        </p:txBody>
      </p:sp>
    </p:spTree>
    <p:extLst>
      <p:ext uri="{BB962C8B-B14F-4D97-AF65-F5344CB8AC3E}">
        <p14:creationId xmlns:p14="http://schemas.microsoft.com/office/powerpoint/2010/main" val="140158532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A11F37-9DD5-4F0A-AB9E-529CDB88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Tokenization, provenance and rights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655EA4-DD8F-44AC-9F37-944A0E94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C5346A-EFEB-4E58-A920-9B2A8A99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Accepted video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Exact asset hash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13657-68BD-43C4-A5FD-C5C8919B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573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Content passport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Base Sepolia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CB55C-135B-47DB-9DAB-A8CE15D1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573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Owner / recipient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and attached terms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E9157D-B613-4AF4-946A-26CB7C3003AD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3812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30163D-C1C6-4450-9B04-57E2064ECCE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3812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EA1F6D-02DD-45AE-B91A-37B7C58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Version-specific provenance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30B2A1-4B58-4204-BCEF-A0DFEC28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 digest links exact file bytes to a provenance record. Revised assets retain their earlier version history.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E03F8-1AF4-4227-B6D8-140607A8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099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Rights and attribution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9D157-120B-4226-984E-8F760485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0527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licence defines use and transfer rights. A content record references attribution, terms and entitled recipients.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61239-1369-4CD5-894E-B9DBAB51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5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Token ownership and onchain attribution do not by themselves prove authorship or transfer copyright.</a:t>
            </a:r>
          </a:p>
        </p:txBody>
      </p:sp>
    </p:spTree>
    <p:extLst>
      <p:ext uri="{BB962C8B-B14F-4D97-AF65-F5344CB8AC3E}">
        <p14:creationId xmlns:p14="http://schemas.microsoft.com/office/powerpoint/2010/main" val="23974295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6E19B7-9592-4F33-9C60-9D2D7088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copyright checks for uploaded media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E84CE-A21A-455F-BD32-39C116CF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5DDBD-02A9-4D78-A69D-40390834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Original content and rights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06FFE-8641-4501-B1C9-089EAD31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Require uploaders to identify the source and provide ownership or licensing evidence for externally created videos and their components.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DB506-62B6-4492-B15F-2017F87F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Audio and visual matching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617BE-5F1D-4488-AB6E-292DD875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Screen external uploads through available fingerprinting services. Consider YouTube Content ID only where approved access and permitted workflows allow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0E648-FB5A-4413-8477-ECD2DD4D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Block unauthorized reuse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4FE61-426A-4334-80C9-899AC790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Prohibit unauthorized copying, clipping and remixing. Hold flagged or unresolved uploads before editing, publication, tokenization or marketplace delivery.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B139F-DD23-4046-B760-93E9807D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Review and record decisions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D8B88-A6D1-4575-B67F-54ADF600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Review disputed matches and rights evidence. Retain the source, asset hash, check results and decision for each accepted version.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46320-AD74-4DEF-912A-AB601A59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Planned safeguards. Matching can miss content or flag licensed use; no complete copyright guarantee.</a:t>
            </a:r>
          </a:p>
        </p:txBody>
      </p:sp>
    </p:spTree>
    <p:extLst>
      <p:ext uri="{BB962C8B-B14F-4D97-AF65-F5344CB8AC3E}">
        <p14:creationId xmlns:p14="http://schemas.microsoft.com/office/powerpoint/2010/main" val="20885776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417D0-C3B9-4A80-BBB1-FF4AAB2E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Market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E7BA7-BA9F-4B2D-BF72-5FCA4556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0597F-0DE5-4A96-9B90-6252135E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as the first seller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2C686-CF73-4BA1-AF1F-457FD683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Own motion scenes, infographics, audio materials, Blender assets, templates and effects, with distribution rights verified.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3DE33-E142-49A3-8AAB-D256CE31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Ready-made goods and custom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31672-D587-4701-B6C3-8EC06A91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Buy a defined package or commission editing, graphics and audio. Each order specifies contents, licence and delivery terms.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A4B2D-1BB6-48E2-B43B-C87F0C9E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7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Independent sellers and broader commerce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AB70C-C868-424F-BF84-AC97D6E7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Seller onboarding, storefronts and support follow the initial catalog. Physical goods require separate shipping and return workflows.</a:t>
            </a:r>
          </a:p>
        </p:txBody>
      </p:sp>
    </p:spTree>
    <p:extLst>
      <p:ext uri="{BB962C8B-B14F-4D97-AF65-F5344CB8AC3E}">
        <p14:creationId xmlns:p14="http://schemas.microsoft.com/office/powerpoint/2010/main" val="19741091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BAAB83-14B4-45CD-9CED-4A2994A5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Service fulfillment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F7BC0C-8451-41A1-A86C-23D61B93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D51DF-417A-4359-B213-A57538F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Agreed brief and order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D38EE6-37E9-44E0-AC11-994F7F42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192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Admitted production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170BF-72E4-4CB8-A063-E8FB8FE3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192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Version and QA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C227E-ACB9-4FD4-878C-D469F18E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766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Delivery for buyer 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7618E-B3AF-45B4-AA42-4018020C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766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Accept, revise or refund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9C374-D55D-47C5-BF98-8A32120B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Reconciled settlement</a:t>
            </a:r>
          </a:p>
        </p:txBody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4ABFCD-BD18-4734-A0C6-64F09A9851B2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3431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A7C02A-7B7B-4F5E-8179-8676848DA97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3431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44D394-ED0D-4E3B-9764-75F60E564516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925050" y="2867025"/>
            <a:ext cx="0" cy="10096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6EB339-4EA7-406E-B4F5-FBA5F37A593E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753350" y="44005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F70B6A-A3D5-41FA-932A-D6C792DACF9D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3924300" y="44005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795569-1C73-45C8-873A-F7178BEF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Target workflow: QA precedes buyer access. Buyer acceptance and financial settlement remain distinct events.</a:t>
            </a:r>
          </a:p>
        </p:txBody>
      </p:sp>
    </p:spTree>
    <p:extLst>
      <p:ext uri="{BB962C8B-B14F-4D97-AF65-F5344CB8AC3E}">
        <p14:creationId xmlns:p14="http://schemas.microsoft.com/office/powerpoint/2010/main" val="171988425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6E19B7-9592-4F33-9C60-9D2D7088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Quality checks, revisions and settlement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E84CE-A21A-455F-BD32-39C116CF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5DDBD-02A9-4D78-A69D-40390834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Agreed criteria before payment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06FFE-8641-4501-B1C9-089EAD31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order fixes deliverables, formats, rights, deadlines and revision allowance. Each service has its own review profile.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DB506-62B6-4492-B15F-2017F87F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Version-bound quality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617BE-5F1D-4488-AB6E-292DD875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Machine measurements, substantive review and signed attestations bind the exact file and accepted terms.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0E648-FB5A-4413-8477-ECD2DD4D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Buyer review and targeted revisions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4FE61-426A-4334-80C9-899AC790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Deliver for review after QA. Correct named scenes or components, create a new revision and recheck dependencies.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B139F-DD23-4046-B760-93E9807D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Full-refund path and deadlines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D8B88-A6D1-4575-B67F-54ADF600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service profile defines full refunds and dispute handling. A support ticket does not pause protocol deadlines.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46320-AD74-4DEF-912A-AB601A59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Standard Boson completion has no Vantemio QA gate. Mandatory payout enforcement remains a launch dependency.</a:t>
            </a:r>
          </a:p>
        </p:txBody>
      </p:sp>
    </p:spTree>
    <p:extLst>
      <p:ext uri="{BB962C8B-B14F-4D97-AF65-F5344CB8AC3E}">
        <p14:creationId xmlns:p14="http://schemas.microsoft.com/office/powerpoint/2010/main" val="208857760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3FD64-C69B-40B8-8CAA-E3FD8232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Donations and AI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AE3CC-650C-4683-BEEF-3C09AB4F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5C509-46A0-4935-96D9-8607F75F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Creator-support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68369-ED80-4689-92BC-A54A3751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Creator pages, live streams and audience support, with Base handling the payment layer.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6F3B9-881E-4E5C-B936-EC22DF5F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24/7 AI avatar streams, planned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61E38-A5CF-4B7E-ADE1-467A28B8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Expressive movement, voice and coherent behavior instead of short repetitive animation loops.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D6541-E990-45D9-9885-5D5343D4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Audience interaction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28F58-0361-4211-B1C1-D3A5E407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Avatars react to chat messages and comments, retain context and coordinate speech with gestures.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02F52-30B3-40BF-AFB7-45810F5C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Prototype and operating checks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B6788C-835F-4BF6-BCAE-B3C62763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Test response latency, motion continuity, moderation and uninterrupted operation before launch.</a:t>
            </a:r>
          </a:p>
        </p:txBody>
      </p:sp>
    </p:spTree>
    <p:extLst>
      <p:ext uri="{BB962C8B-B14F-4D97-AF65-F5344CB8AC3E}">
        <p14:creationId xmlns:p14="http://schemas.microsoft.com/office/powerpoint/2010/main" val="59718296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B36FFF-2B54-466B-ACEE-2FD77374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Historical commerce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D9F977-0068-459C-BA96-88E9CE00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54DE3-D4B0-49DD-AC31-7E7B6104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6671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35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35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176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37BAA0-CBBA-4EB4-A547-C6240A81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commerce checks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AA7DC-2020-4B34-80D9-31442ED8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619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105 module tests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71 interface/account tests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Verified 4 October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FE5295-0B09-49E8-9FB4-7B03F9FA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391a5791b2774502"/>
              </a:rPr>
              <a:t>Open verification record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1B372A-4F88-457B-875F-E900C87878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d070aada74a58"/>
          <a:stretch xmlns:a="http://schemas.openxmlformats.org/drawingml/2006/main"/>
        </p:blipFill>
        <p:spPr>
          <a:xfrm xmlns:a="http://schemas.openxmlformats.org/drawingml/2006/main">
            <a:off x="4610100" y="1639491"/>
            <a:ext cx="6972300" cy="39219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C30E97-E027-40D8-A3D0-35029C85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676900"/>
            <a:ext cx="6972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External MetaMask flow: purchase, redemption, completion and verified download.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0DFD4D-CD5B-4F85-9271-FF7A44EC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3762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Historical module checks.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Integrated Studio is still unfinished.</a:t>
            </a:r>
          </a:p>
        </p:txBody>
      </p:sp>
    </p:spTree>
    <p:extLst>
      <p:ext uri="{BB962C8B-B14F-4D97-AF65-F5344CB8AC3E}">
        <p14:creationId xmlns:p14="http://schemas.microsoft.com/office/powerpoint/2010/main" val="149607310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54285-081D-41F6-8632-8EE07849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Current stage and next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1D762F-DF07-45B9-AB19-4CBC7E2A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EACA2-0966-49AF-83B7-B2F5C288B42A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4095750"/>
                <a:gridCol w="4448175"/>
              </a:tblGrid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Area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state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Next milestone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Research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Automated YouTube competitor analysis works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Feed results into repeatable production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Studio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Editing, graphics and audio in development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accepted integrated output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Core and workers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Memory and execution mechanisms in code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Recovery and bounded execution checks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Base / Market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Historical testnet purchase/delivery demos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Quality, rights and Studio-order integration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 release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live customer product or revenue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Isolated pilot, installer/API and cloud checks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A2600-DDC9-46E9-BF55-0C78A397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5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Next evidence: one complete motion-graphics presentation, tokenization and authorized YouTube publication.</a:t>
            </a:r>
          </a:p>
        </p:txBody>
      </p:sp>
    </p:spTree>
    <p:extLst>
      <p:ext uri="{BB962C8B-B14F-4D97-AF65-F5344CB8AC3E}">
        <p14:creationId xmlns:p14="http://schemas.microsoft.com/office/powerpoint/2010/main" val="202138715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1ABEB-794E-481A-9796-A7F5FD1E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path to self-funding before customer scale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CC0373-A19C-4300-A2C0-3990636F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4403D-384E-4889-9223-85965F4A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81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Own content operations can be a revenue source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6AFB6-8333-479C-AADB-FD7ECE2D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810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Use Vantemio’s official channels to test production, build an audience and seek content income that can cover recurring costs.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486EE-4D4C-4F99-9B2D-4167483E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1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4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Paid product access and marketplace activity are additional planned revenue sources.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FA5490-DA0C-4DF9-A39A-82BC5523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Break-even remains a target. Track received revenue against operating and founder costs.</a:t>
            </a:r>
          </a:p>
        </p:txBody>
      </p:sp>
    </p:spTree>
    <p:extLst>
      <p:ext uri="{BB962C8B-B14F-4D97-AF65-F5344CB8AC3E}">
        <p14:creationId xmlns:p14="http://schemas.microsoft.com/office/powerpoint/2010/main" val="168808231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4244F4-5A36-4472-BAF4-FE6F1413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Multiple revenue streams, one reusable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0F763-B0D2-4E44-9674-A9D9CF4F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5C859D-1B9C-4394-B7F4-08C80F1D5EDB}"/>
              </a:ext>
            </a:extLst>
          </p:cNvPr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162425"/>
                <a:gridCol w="4238625"/>
              </a:tblGrid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Revenue source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Proposed model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Validation needed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Official channels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Content income and partnerships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Audience, platform eligibility and costs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 / Cloud / API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Licensed software and managed access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Pricing, usage limits and demand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Business deployments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Setup, integration and support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Effort, rights and service margin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Market / Donations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Asset sales and disclosed platform fees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Demand, fee rules and settlement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AB7522-3D7F-47D2-BBAC-565AA0C5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9728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Reinvest revenue into infrastructure and new modules. Each new workflow still has delivery and support costs.</a:t>
            </a:r>
          </a:p>
        </p:txBody>
      </p:sp>
    </p:spTree>
    <p:extLst>
      <p:ext uri="{BB962C8B-B14F-4D97-AF65-F5344CB8AC3E}">
        <p14:creationId xmlns:p14="http://schemas.microsoft.com/office/powerpoint/2010/main" val="106850976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1E5868-74E5-4B85-BA41-D065BE49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Initial customers and market entry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E6EDF-AE98-454D-AF6E-5285AF73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72CA6-5BB5-4F73-A3C4-B315CAD0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Initial customer profiles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F1243-4E6C-4646-8FF9-3B3F3BCC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Creators managing several channels, small production studios and agencies with repeat content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6DEA8-4C6E-48BC-B1B6-08361195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Founder-operated channels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D1AAB-9CB4-4B3F-8DF7-BBB47746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Use Vantemio in real content workflows. Publish demonstrations and measure production quality and cost.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519A7-01CC-4EF9-8B32-AABD8F30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Limited external MVP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E743D-0509-412C-BE3B-2D66FF4F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Start with a small tester group. Measure time to output, failed jobs, manual intervention and willingness to pay.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88221-6EC5-4249-A0B1-BD336A7A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147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Measured acquisition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E85657-0166-491F-9D37-73255261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100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Begin small paid campaigns after a usable MVP. Increase spend when conversion and acquisition costs justify it.</a:t>
            </a:r>
          </a:p>
        </p:txBody>
      </p:sp>
    </p:spTree>
    <p:extLst>
      <p:ext uri="{BB962C8B-B14F-4D97-AF65-F5344CB8AC3E}">
        <p14:creationId xmlns:p14="http://schemas.microsoft.com/office/powerpoint/2010/main" val="17519962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8040F-12C8-49F0-B2EC-A907A685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Why Base and BEF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082043-AC24-46F1-A63A-6090AEFF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0F43E-85E9-4C8D-9D38-122E36FC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Production linked to onchain orders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84B0C-03CE-4F3D-A0F6-2F0DD36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Base/Boson is the proposed commerce layer for version records, service orders, buyer rights and delivery.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E3310-25ED-406D-A840-45CB7156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Potential ecosystem activity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6DEC8-C41D-4051-B4D2-8B41AC42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Market and the planned Donations platform could bring creators, buyers and recurring payments onto Base.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AB7DF-24E9-4A31-BE8A-3657AFB9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What support would accelerate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B27EF-FB81-4B0C-B7ED-250F10C5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Pre-seed funding, technical feedback, infrastructure support and introductions to relevant Base ecosystem partners.</a:t>
            </a:r>
          </a:p>
        </p:txBody>
      </p:sp>
    </p:spTree>
    <p:extLst>
      <p:ext uri="{BB962C8B-B14F-4D97-AF65-F5344CB8AC3E}">
        <p14:creationId xmlns:p14="http://schemas.microsoft.com/office/powerpoint/2010/main" val="143140198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DBFB49-37DE-4E47-A832-439C0DF1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Delivery milestones and dependencies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B1DD1B-BC23-499A-96E4-48C82FBD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1623B-9600-4201-B023-AEC5E6FFF0B9}"/>
              </a:ext>
            </a:extLst>
          </p:cNvPr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52625"/>
                <a:gridCol w="3619500"/>
                <a:gridCol w="5400675"/>
              </a:tblGrid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Stage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Primary outcome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required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Days–2 weeks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internal presentation run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Graphics, sound, QA, tokenization and publication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Next 12 weeks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Repeatable Studio / YouTube workflow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outputs, recovery, costs and intervention records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After acceptance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Limited customer and cloud pilot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Tenant isolation, usage limits, delivery and load tests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Further stages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Home, API and additional modules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Release-specific installation and integration checks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175EB-DD93-41E5-83E4-393D50F6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The first-run window is a founder estimate. Customer and cloud release dates follow integration results.</a:t>
            </a:r>
          </a:p>
        </p:txBody>
      </p:sp>
    </p:spTree>
    <p:extLst>
      <p:ext uri="{BB962C8B-B14F-4D97-AF65-F5344CB8AC3E}">
        <p14:creationId xmlns:p14="http://schemas.microsoft.com/office/powerpoint/2010/main" val="112016102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1D750D-2A9A-44C3-BF43-B5EF953B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12-month funding scenarios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331B7-6145-4020-B11D-022ED220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36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87961E-3143-49E8-9CDF-02926318E112}"/>
              </a:ext>
            </a:extLst>
          </p:cNvPr>
          <p:cNvGraphicFramePr/>
          <p:nvPr/>
        </p:nvGraphicFramePr>
        <p:xfrm>
          <a:off xmlns:a="http://schemas.openxmlformats.org/drawingml/2006/main" x="609600" y="1514475"/>
          <a:ext xmlns:a="http://schemas.openxmlformats.org/drawingml/2006/main" cx="8334375" cy="4524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24375"/>
                <a:gridCol w="1905000"/>
                <a:gridCol w="1905000"/>
              </a:tblGrid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12-month use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Solo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Two developers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 and operating resources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$100,000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$100,000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Founder compensation / living support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$50,000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$50,000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Developer compensation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$240,000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Hiring / contingency reserve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$10,000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Total request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$150,000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$400,000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0D751-EBE2-4B74-A40F-71C46CD5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1733550"/>
            <a:ext cx="22574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Hiring assumption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16997-CA27-43FF-AAF6-7BC3A0E6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381250"/>
            <a:ext cx="2238375" cy="3190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$10,000 per developer per month.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Two developers for 12 months: $240,000.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DGX Spark is included in the base budget.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35321B-9738-4B16-9261-4054491F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76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USD planning budgets. Supplier, payroll and investment terms require agreement. No funding received.</a:t>
            </a:r>
          </a:p>
        </p:txBody>
      </p:sp>
    </p:spTree>
    <p:extLst>
      <p:ext uri="{BB962C8B-B14F-4D97-AF65-F5344CB8AC3E}">
        <p14:creationId xmlns:p14="http://schemas.microsoft.com/office/powerpoint/2010/main" val="86391277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F7281D-8F87-4FF9-AD51-03919DAE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local AI capacity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AAC83-743E-436D-B58F-555F9F10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E9F445-26D2-4FB7-B5CA-6FF8C7A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NVIDIA DGX Spark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7F9CF-E9A3-4A34-8CB6-C14CDF8F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128 GB shared CPU/GPU memory and 4 TB SSD.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150 × 150 × 50.5 mm, 1.2 kg.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Compact enough to move with the workstation.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5C692-EA16-4BDD-9F30-21A223F7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91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US$6,950 before tax and delivery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076B4C-12CD-408E-B4A5-106617F1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33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Offload the local AI stack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03736-B663-4217-B7DA-A0F3A4D6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2885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Keep Qwen 27B, TTS and audio tools loaded on Spark. Station handles graphics, editing, rendering and development in parallel.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4D53A-EAB7-44DF-ACCE-F0303BBE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05250"/>
            <a:ext cx="5191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Persistent AI stack · flexible model upgrades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7B206A-DBAB-4540-B29A-3A1495C8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7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Included in the US$100,000 resource 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68E63-2F24-47EC-91CC-9C37F9D1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main stack stays loaded between jobs. Additional models load as needed; development work can move from MacBook to Station.</a:t>
            </a:r>
          </a:p>
        </p:txBody>
      </p:sp>
    </p:spTree>
    <p:extLst>
      <p:ext uri="{BB962C8B-B14F-4D97-AF65-F5344CB8AC3E}">
        <p14:creationId xmlns:p14="http://schemas.microsoft.com/office/powerpoint/2010/main" val="89832026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F3BDF-9820-4AB5-BC95-4E86D634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Founder and current funding request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09453-F502-4E07-A8A9-0D653546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8B271-3270-4B22-AE8E-9F8D87EB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Vitalii Pavlichuk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835C2-9B86-424C-8692-E44973C4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Mechanical design engineering background. Conceived Vantemio and designs its architecture and workflows. First software project, about seven months in development.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41CC2-DD03-4FAB-B684-884D3AD0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764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Funding 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7ED93-E6BE-4BB3-B0B5-E7135137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717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US$150,000 solo or US$400,000 with two developers. Both include US$50,000 founder compensation for 12 months of full-time work.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7D1F3-A465-4B64-8364-6DB1F89E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Informal marketing and promotion experience supports product strategy. Implementation uses AI coding tools.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325B5-1267-4049-B4F4-2A7A2C14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262027d37d2a421c"/>
              </a:rPr>
              <a:t>Website and current documentation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EBADA-D817-4D18-9B45-8E09BA4F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3625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eb416a6e27994f62"/>
              </a:rPr>
              <a:t>Founder LinkedIn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B2C42-8196-48CB-9DE4-05A5480D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Private studio source is available for controlled technical review.</a:t>
            </a:r>
          </a:p>
        </p:txBody>
      </p:sp>
    </p:spTree>
    <p:extLst>
      <p:ext uri="{BB962C8B-B14F-4D97-AF65-F5344CB8AC3E}">
        <p14:creationId xmlns:p14="http://schemas.microsoft.com/office/powerpoint/2010/main" val="74997768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F3121-3661-40F0-AD92-5B77DBCB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Evidence and review links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CAD016-175B-45C8-BC3A-E3BFE266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EF3AC-9F9E-4BE9-A4F0-7941B799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432dfd460a7e441e"/>
              </a:rPr>
              <a:t>Website and technical documentation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95B57D-FBBB-4AD2-A96B-01E337CA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1d85f95103ab40ac"/>
              </a:rPr>
              <a:t>Public source and development modules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7250A-DC6E-4FB7-BCB0-9F3FCA9F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c94fe2620f974898"/>
              </a:rPr>
              <a:t>Historical demo and transaction references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82931-7C84-4B5C-B358-C88AC039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ede1f4dcc46a45bd"/>
              </a:rPr>
              <a:t>Market specification and fulfillment 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01FE59-8959-4301-A4FD-E0CE03BD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9b5539ab93e948e8"/>
              </a:rPr>
              <a:t>Founder: Vitalii Pavlichuk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A4151-B2D4-4028-9B28-022C304D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Public source covers selected modules. The proprietary core and private production data remain closed.</a:t>
            </a:r>
          </a:p>
        </p:txBody>
      </p:sp>
    </p:spTree>
    <p:extLst>
      <p:ext uri="{BB962C8B-B14F-4D97-AF65-F5344CB8AC3E}">
        <p14:creationId xmlns:p14="http://schemas.microsoft.com/office/powerpoint/2010/main" val="13395616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2026-10-09T01:44:22.6300000Z</dcterms:created>
  <dcterms:modified xsi:type="dcterms:W3CDTF">2026-10-09T01:44:22.6300000Z</dcterms:modified>
</coreProperties>
</file>