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bd03c9689e74b18" /><Relationship Type="http://schemas.openxmlformats.org/officeDocument/2006/relationships/extended-properties" Target="/docProps/app.xml" Id="R8f770a955b0049ee" /><Relationship Type="http://schemas.openxmlformats.org/officeDocument/2006/relationships/officeDocument" Target="/ppt/presentation.xml" Id="Ra04bb1ea2bc74c3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e1061816ba54ae9"/>
  </p:sldMasterIdLst>
  <p:notesMasterIdLst>
    <p:notesMasterId xmlns:r="http://schemas.openxmlformats.org/officeDocument/2006/relationships" r:id="Rf6c38c16b6f846c9"/>
  </p:notesMasterIdLst>
  <p:sldIdLst>
    <p:sldId xmlns:r="http://schemas.openxmlformats.org/officeDocument/2006/relationships" id="256" r:id="R500d854b88834223"/>
    <p:sldId xmlns:r="http://schemas.openxmlformats.org/officeDocument/2006/relationships" id="257" r:id="R234616e2ec9240e7"/>
    <p:sldId xmlns:r="http://schemas.openxmlformats.org/officeDocument/2006/relationships" id="258" r:id="R166793dbda654c35"/>
    <p:sldId xmlns:r="http://schemas.openxmlformats.org/officeDocument/2006/relationships" id="259" r:id="Re4ef996e74444037"/>
    <p:sldId xmlns:r="http://schemas.openxmlformats.org/officeDocument/2006/relationships" id="260" r:id="R0d916221078f482b"/>
    <p:sldId xmlns:r="http://schemas.openxmlformats.org/officeDocument/2006/relationships" id="261" r:id="Re60440c0fffe4a12"/>
    <p:sldId xmlns:r="http://schemas.openxmlformats.org/officeDocument/2006/relationships" id="262" r:id="R4c0a102195d64a4a"/>
    <p:sldId xmlns:r="http://schemas.openxmlformats.org/officeDocument/2006/relationships" id="263" r:id="R525e9a481b0b426c"/>
    <p:sldId xmlns:r="http://schemas.openxmlformats.org/officeDocument/2006/relationships" id="264" r:id="R74353ea22ebb4386"/>
    <p:sldId xmlns:r="http://schemas.openxmlformats.org/officeDocument/2006/relationships" id="265" r:id="Rcd632884a18341c6"/>
    <p:sldId xmlns:r="http://schemas.openxmlformats.org/officeDocument/2006/relationships" id="266" r:id="R827cda0dab7e4c8e"/>
    <p:sldId xmlns:r="http://schemas.openxmlformats.org/officeDocument/2006/relationships" id="267" r:id="R1d9f1482970a4175"/>
    <p:sldId xmlns:r="http://schemas.openxmlformats.org/officeDocument/2006/relationships" id="268" r:id="R68f0b9aaaa0c4e8b"/>
    <p:sldId xmlns:r="http://schemas.openxmlformats.org/officeDocument/2006/relationships" id="269" r:id="R4c97b1c1dc894bac"/>
    <p:sldId xmlns:r="http://schemas.openxmlformats.org/officeDocument/2006/relationships" id="270" r:id="R9938e031a87b4a89"/>
    <p:sldId xmlns:r="http://schemas.openxmlformats.org/officeDocument/2006/relationships" id="271" r:id="R8226465017ab4640"/>
    <p:sldId xmlns:r="http://schemas.openxmlformats.org/officeDocument/2006/relationships" id="272" r:id="Rdb98b10f923b4fa9"/>
    <p:sldId xmlns:r="http://schemas.openxmlformats.org/officeDocument/2006/relationships" id="273" r:id="Rbb2fe68779174e52"/>
    <p:sldId xmlns:r="http://schemas.openxmlformats.org/officeDocument/2006/relationships" id="274" r:id="Raeb23837942d4230"/>
    <p:sldId xmlns:r="http://schemas.openxmlformats.org/officeDocument/2006/relationships" id="275" r:id="Rbbdcdc0c230548bb"/>
    <p:sldId xmlns:r="http://schemas.openxmlformats.org/officeDocument/2006/relationships" id="276" r:id="R60d817bad7e84eb3"/>
    <p:sldId xmlns:r="http://schemas.openxmlformats.org/officeDocument/2006/relationships" id="277" r:id="R0b5aa16841e14f18"/>
    <p:sldId xmlns:r="http://schemas.openxmlformats.org/officeDocument/2006/relationships" id="278" r:id="R95f77f5240be4d5b"/>
    <p:sldId xmlns:r="http://schemas.openxmlformats.org/officeDocument/2006/relationships" id="279" r:id="R785f20da6b9245f3"/>
    <p:sldId xmlns:r="http://schemas.openxmlformats.org/officeDocument/2006/relationships" id="280" r:id="Ra6e37ef3fd6d49a6"/>
    <p:sldId xmlns:r="http://schemas.openxmlformats.org/officeDocument/2006/relationships" id="281" r:id="R7e510d10262f494e"/>
    <p:sldId xmlns:r="http://schemas.openxmlformats.org/officeDocument/2006/relationships" id="282" r:id="Rd354b9d0871744b9"/>
    <p:sldId xmlns:r="http://schemas.openxmlformats.org/officeDocument/2006/relationships" id="283" r:id="R056c645302e74c94"/>
    <p:sldId xmlns:r="http://schemas.openxmlformats.org/officeDocument/2006/relationships" id="284" r:id="R1818fb75e1484819"/>
    <p:sldId xmlns:r="http://schemas.openxmlformats.org/officeDocument/2006/relationships" id="285" r:id="R410d9386d394490c"/>
    <p:sldId xmlns:r="http://schemas.openxmlformats.org/officeDocument/2006/relationships" id="286" r:id="Rbcaae547110e415e"/>
    <p:sldId xmlns:r="http://schemas.openxmlformats.org/officeDocument/2006/relationships" id="287" r:id="Rf17834f61cfe4b92"/>
    <p:sldId xmlns:r="http://schemas.openxmlformats.org/officeDocument/2006/relationships" id="288" r:id="R448c6186545b48d5"/>
    <p:sldId xmlns:r="http://schemas.openxmlformats.org/officeDocument/2006/relationships" id="289" r:id="R75491b986ad047b1"/>
    <p:sldId xmlns:r="http://schemas.openxmlformats.org/officeDocument/2006/relationships" id="290" r:id="R02f199a8ebc54e37"/>
    <p:sldId xmlns:r="http://schemas.openxmlformats.org/officeDocument/2006/relationships" id="291" r:id="Ra8c2b0662e55499f"/>
    <p:sldId xmlns:r="http://schemas.openxmlformats.org/officeDocument/2006/relationships" id="292" r:id="R3832b43bc07e4f89"/>
    <p:sldId xmlns:r="http://schemas.openxmlformats.org/officeDocument/2006/relationships" id="293" r:id="Re4bf6ce14ea6430d"/>
    <p:sldId xmlns:r="http://schemas.openxmlformats.org/officeDocument/2006/relationships" id="294" r:id="Rd7447eab138e4b39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4ac8b84a42f41a8" /><Relationship Type="http://schemas.openxmlformats.org/officeDocument/2006/relationships/slideMaster" Target="/ppt/slideMasters/slideMaster1.xml" Id="R7e1061816ba54ae9" /><Relationship Type="http://schemas.openxmlformats.org/officeDocument/2006/relationships/notesMaster" Target="/ppt/notesMasters/notesMaster1.xml" Id="Rf6c38c16b6f846c9" /><Relationship Type="http://schemas.openxmlformats.org/officeDocument/2006/relationships/presProps" Target="/ppt/presProps.xml" Id="R029977b8d1954c73" /><Relationship Type="http://schemas.openxmlformats.org/officeDocument/2006/relationships/tableStyles" Target="/ppt/tableStyles.xml" Id="Rea03e6d21e4b4e4b" /><Relationship Type="http://schemas.openxmlformats.org/officeDocument/2006/relationships/slide" Target="/ppt/slides/slide1.xml" Id="R500d854b88834223" /><Relationship Type="http://schemas.openxmlformats.org/officeDocument/2006/relationships/slide" Target="/ppt/slides/slide2.xml" Id="R234616e2ec9240e7" /><Relationship Type="http://schemas.openxmlformats.org/officeDocument/2006/relationships/slide" Target="/ppt/slides/slide3.xml" Id="R166793dbda654c35" /><Relationship Type="http://schemas.openxmlformats.org/officeDocument/2006/relationships/slide" Target="/ppt/slides/slide4.xml" Id="Re4ef996e74444037" /><Relationship Type="http://schemas.openxmlformats.org/officeDocument/2006/relationships/slide" Target="/ppt/slides/slide5.xml" Id="R0d916221078f482b" /><Relationship Type="http://schemas.openxmlformats.org/officeDocument/2006/relationships/slide" Target="/ppt/slides/slide6.xml" Id="Re60440c0fffe4a12" /><Relationship Type="http://schemas.openxmlformats.org/officeDocument/2006/relationships/slide" Target="/ppt/slides/slide7.xml" Id="R4c0a102195d64a4a" /><Relationship Type="http://schemas.openxmlformats.org/officeDocument/2006/relationships/slide" Target="/ppt/slides/slide8.xml" Id="R525e9a481b0b426c" /><Relationship Type="http://schemas.openxmlformats.org/officeDocument/2006/relationships/slide" Target="/ppt/slides/slide9.xml" Id="R74353ea22ebb4386" /><Relationship Type="http://schemas.openxmlformats.org/officeDocument/2006/relationships/slide" Target="/ppt/slides/slide10.xml" Id="Rcd632884a18341c6" /><Relationship Type="http://schemas.openxmlformats.org/officeDocument/2006/relationships/slide" Target="/ppt/slides/slide11.xml" Id="R827cda0dab7e4c8e" /><Relationship Type="http://schemas.openxmlformats.org/officeDocument/2006/relationships/slide" Target="/ppt/slides/slide12.xml" Id="R1d9f1482970a4175" /><Relationship Type="http://schemas.openxmlformats.org/officeDocument/2006/relationships/slide" Target="/ppt/slides/slide13.xml" Id="R68f0b9aaaa0c4e8b" /><Relationship Type="http://schemas.openxmlformats.org/officeDocument/2006/relationships/slide" Target="/ppt/slides/slide14.xml" Id="R4c97b1c1dc894bac" /><Relationship Type="http://schemas.openxmlformats.org/officeDocument/2006/relationships/slide" Target="/ppt/slides/slide15.xml" Id="R9938e031a87b4a89" /><Relationship Type="http://schemas.openxmlformats.org/officeDocument/2006/relationships/slide" Target="/ppt/slides/slide16.xml" Id="R8226465017ab4640" /><Relationship Type="http://schemas.openxmlformats.org/officeDocument/2006/relationships/slide" Target="/ppt/slides/slide17.xml" Id="Rdb98b10f923b4fa9" /><Relationship Type="http://schemas.openxmlformats.org/officeDocument/2006/relationships/slide" Target="/ppt/slides/slide18.xml" Id="Rbb2fe68779174e52" /><Relationship Type="http://schemas.openxmlformats.org/officeDocument/2006/relationships/slide" Target="/ppt/slides/slide19.xml" Id="Raeb23837942d4230" /><Relationship Type="http://schemas.openxmlformats.org/officeDocument/2006/relationships/slide" Target="/ppt/slides/slide20.xml" Id="Rbbdcdc0c230548bb" /><Relationship Type="http://schemas.openxmlformats.org/officeDocument/2006/relationships/slide" Target="/ppt/slides/slide21.xml" Id="R60d817bad7e84eb3" /><Relationship Type="http://schemas.openxmlformats.org/officeDocument/2006/relationships/slide" Target="/ppt/slides/slide22.xml" Id="R0b5aa16841e14f18" /><Relationship Type="http://schemas.openxmlformats.org/officeDocument/2006/relationships/slide" Target="/ppt/slides/slide23.xml" Id="R95f77f5240be4d5b" /><Relationship Type="http://schemas.openxmlformats.org/officeDocument/2006/relationships/slide" Target="/ppt/slides/slide24.xml" Id="R785f20da6b9245f3" /><Relationship Type="http://schemas.openxmlformats.org/officeDocument/2006/relationships/slide" Target="/ppt/slides/slide25.xml" Id="Ra6e37ef3fd6d49a6" /><Relationship Type="http://schemas.openxmlformats.org/officeDocument/2006/relationships/slide" Target="/ppt/slides/slide26.xml" Id="R7e510d10262f494e" /><Relationship Type="http://schemas.openxmlformats.org/officeDocument/2006/relationships/slide" Target="/ppt/slides/slide27.xml" Id="Rd354b9d0871744b9" /><Relationship Type="http://schemas.openxmlformats.org/officeDocument/2006/relationships/slide" Target="/ppt/slides/slide28.xml" Id="R056c645302e74c94" /><Relationship Type="http://schemas.openxmlformats.org/officeDocument/2006/relationships/slide" Target="/ppt/slides/slide29.xml" Id="R1818fb75e1484819" /><Relationship Type="http://schemas.openxmlformats.org/officeDocument/2006/relationships/slide" Target="/ppt/slides/slide30.xml" Id="R410d9386d394490c" /><Relationship Type="http://schemas.openxmlformats.org/officeDocument/2006/relationships/slide" Target="/ppt/slides/slide31.xml" Id="Rbcaae547110e415e" /><Relationship Type="http://schemas.openxmlformats.org/officeDocument/2006/relationships/slide" Target="/ppt/slides/slide32.xml" Id="Rf17834f61cfe4b92" /><Relationship Type="http://schemas.openxmlformats.org/officeDocument/2006/relationships/slide" Target="/ppt/slides/slide33.xml" Id="R448c6186545b48d5" /><Relationship Type="http://schemas.openxmlformats.org/officeDocument/2006/relationships/slide" Target="/ppt/slides/slide34.xml" Id="R75491b986ad047b1" /><Relationship Type="http://schemas.openxmlformats.org/officeDocument/2006/relationships/slide" Target="/ppt/slides/slide35.xml" Id="R02f199a8ebc54e37" /><Relationship Type="http://schemas.openxmlformats.org/officeDocument/2006/relationships/slide" Target="/ppt/slides/slide36.xml" Id="Ra8c2b0662e55499f" /><Relationship Type="http://schemas.openxmlformats.org/officeDocument/2006/relationships/slide" Target="/ppt/slides/slide37.xml" Id="R3832b43bc07e4f89" /><Relationship Type="http://schemas.openxmlformats.org/officeDocument/2006/relationships/slide" Target="/ppt/slides/slide38.xml" Id="Re4bf6ce14ea6430d" /><Relationship Type="http://schemas.openxmlformats.org/officeDocument/2006/relationships/slide" Target="/ppt/slides/slide39.xml" Id="Rd7447eab138e4b3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69ddd7531cb45d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6caf930cc1d4992" /><Relationship Type="http://schemas.openxmlformats.org/officeDocument/2006/relationships/notesMaster" Target="/ppt/notesMasters/notesMaster1.xml" Id="Raf9492ce117a482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6331788713a4796" /><Relationship Type="http://schemas.openxmlformats.org/officeDocument/2006/relationships/notesMaster" Target="/ppt/notesMasters/notesMaster1.xml" Id="R8496734818c5429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002125f37cd4707" /><Relationship Type="http://schemas.openxmlformats.org/officeDocument/2006/relationships/notesMaster" Target="/ppt/notesMasters/notesMaster1.xml" Id="R909ab162e1d44d6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dabe5d68fbc4fb8" /><Relationship Type="http://schemas.openxmlformats.org/officeDocument/2006/relationships/notesMaster" Target="/ppt/notesMasters/notesMaster1.xml" Id="R9b39807ba008443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4eb176ba75d4a5c" /><Relationship Type="http://schemas.openxmlformats.org/officeDocument/2006/relationships/notesMaster" Target="/ppt/notesMasters/notesMaster1.xml" Id="Rc3fd5cf0d0fc46a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2119b36524a40a8" /><Relationship Type="http://schemas.openxmlformats.org/officeDocument/2006/relationships/notesMaster" Target="/ppt/notesMasters/notesMaster1.xml" Id="Ra77cbdfd9d62448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5d92e79f5a74d9c" /><Relationship Type="http://schemas.openxmlformats.org/officeDocument/2006/relationships/notesMaster" Target="/ppt/notesMasters/notesMaster1.xml" Id="Rcca4a54eb2fb441e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aea570a22a074bfb" /><Relationship Type="http://schemas.openxmlformats.org/officeDocument/2006/relationships/notesMaster" Target="/ppt/notesMasters/notesMaster1.xml" Id="R1af8d9e8810e4411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7bcc131890334c9f" /><Relationship Type="http://schemas.openxmlformats.org/officeDocument/2006/relationships/notesMaster" Target="/ppt/notesMasters/notesMaster1.xml" Id="R9e88bc3cdb464b81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646639936e61430f" /><Relationship Type="http://schemas.openxmlformats.org/officeDocument/2006/relationships/notesMaster" Target="/ppt/notesMasters/notesMaster1.xml" Id="Ra9cabcd442ae4f66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88f76bd7cfef45b6" /><Relationship Type="http://schemas.openxmlformats.org/officeDocument/2006/relationships/notesMaster" Target="/ppt/notesMasters/notesMaster1.xml" Id="R2200627ef8fa45a7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4816bddb61f64f1b" /><Relationship Type="http://schemas.openxmlformats.org/officeDocument/2006/relationships/notesMaster" Target="/ppt/notesMasters/notesMaster1.xml" Id="Ra04064bd81d24460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1e4b5e316830480b" /><Relationship Type="http://schemas.openxmlformats.org/officeDocument/2006/relationships/notesMaster" Target="/ppt/notesMasters/notesMaster1.xml" Id="Ra5cd598fd7b140d3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a74921ae4188471d" /><Relationship Type="http://schemas.openxmlformats.org/officeDocument/2006/relationships/notesMaster" Target="/ppt/notesMasters/notesMaster1.xml" Id="Re6688f1bd2fa4420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be49989388294dfb" /><Relationship Type="http://schemas.openxmlformats.org/officeDocument/2006/relationships/notesMaster" Target="/ppt/notesMasters/notesMaster1.xml" Id="R326377c9e27d49b1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b1a361d2e8b54233" /><Relationship Type="http://schemas.openxmlformats.org/officeDocument/2006/relationships/notesMaster" Target="/ppt/notesMasters/notesMaster1.xml" Id="Ra6ae634acb144d91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32a4c1f54bb84b6a" /><Relationship Type="http://schemas.openxmlformats.org/officeDocument/2006/relationships/notesMaster" Target="/ppt/notesMasters/notesMaster1.xml" Id="R198c06f3dbdc4503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8eb106810ee14736" /><Relationship Type="http://schemas.openxmlformats.org/officeDocument/2006/relationships/notesMaster" Target="/ppt/notesMasters/notesMaster1.xml" Id="Rbe500b8fa96a4b00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8875b85e97184bc2" /><Relationship Type="http://schemas.openxmlformats.org/officeDocument/2006/relationships/notesMaster" Target="/ppt/notesMasters/notesMaster1.xml" Id="Ra1323aae307842b7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80900647ef7b43f5" /><Relationship Type="http://schemas.openxmlformats.org/officeDocument/2006/relationships/notesMaster" Target="/ppt/notesMasters/notesMaster1.xml" Id="R50631cd0d66a4e31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8f2056baa31a4760" /><Relationship Type="http://schemas.openxmlformats.org/officeDocument/2006/relationships/notesMaster" Target="/ppt/notesMasters/notesMaster1.xml" Id="Rf26b792fddb14f80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b2ff5a7328a54a31" /><Relationship Type="http://schemas.openxmlformats.org/officeDocument/2006/relationships/notesMaster" Target="/ppt/notesMasters/notesMaster1.xml" Id="R00e87db88f0b43fc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6a5a1e45b0844808" /><Relationship Type="http://schemas.openxmlformats.org/officeDocument/2006/relationships/notesMaster" Target="/ppt/notesMasters/notesMaster1.xml" Id="R2a736f2327f44c4a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d39a87dac48e4154" /><Relationship Type="http://schemas.openxmlformats.org/officeDocument/2006/relationships/notesMaster" Target="/ppt/notesMasters/notesMaster1.xml" Id="Rcec85872b818401f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efa3c4925ac34a6a" /><Relationship Type="http://schemas.openxmlformats.org/officeDocument/2006/relationships/notesMaster" Target="/ppt/notesMasters/notesMaster1.xml" Id="R47bcab44676049c5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a719b1e2c5cd4447" /><Relationship Type="http://schemas.openxmlformats.org/officeDocument/2006/relationships/notesMaster" Target="/ppt/notesMasters/notesMaster1.xml" Id="Rb4d3f2fbbcdd4d4b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751541e962c34ac0" /><Relationship Type="http://schemas.openxmlformats.org/officeDocument/2006/relationships/notesMaster" Target="/ppt/notesMasters/notesMaster1.xml" Id="R56059b7f2bd943ea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3a8fa0ef080547ed" /><Relationship Type="http://schemas.openxmlformats.org/officeDocument/2006/relationships/notesMaster" Target="/ppt/notesMasters/notesMaster1.xml" Id="R3273d722522349d9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6693c8d74a9945ac" /><Relationship Type="http://schemas.openxmlformats.org/officeDocument/2006/relationships/notesMaster" Target="/ppt/notesMasters/notesMaster1.xml" Id="R7638f6c921f44a89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f38162aba7fa4b00" /><Relationship Type="http://schemas.openxmlformats.org/officeDocument/2006/relationships/notesMaster" Target="/ppt/notesMasters/notesMaster1.xml" Id="R3f7c8c12825a4154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dd793699790a451d" /><Relationship Type="http://schemas.openxmlformats.org/officeDocument/2006/relationships/notesMaster" Target="/ppt/notesMasters/notesMaster1.xml" Id="Rd761add9f7614c62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4f551b79a1cd4b57" /><Relationship Type="http://schemas.openxmlformats.org/officeDocument/2006/relationships/notesMaster" Target="/ppt/notesMasters/notesMaster1.xml" Id="Raceb2a3e7a5645c0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87e62bc12d7745b9" /><Relationship Type="http://schemas.openxmlformats.org/officeDocument/2006/relationships/notesMaster" Target="/ppt/notesMasters/notesMaster1.xml" Id="R460c2f86f43b4e5e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9e19902d4cc948ae" /><Relationship Type="http://schemas.openxmlformats.org/officeDocument/2006/relationships/notesMaster" Target="/ppt/notesMasters/notesMaster1.xml" Id="R21dcece763e34c4a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88ba05f1d9c444dd" /><Relationship Type="http://schemas.openxmlformats.org/officeDocument/2006/relationships/notesMaster" Target="/ppt/notesMasters/notesMaster1.xml" Id="Rbbba462a7d964521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022085ce81c34ee5" /><Relationship Type="http://schemas.openxmlformats.org/officeDocument/2006/relationships/notesMaster" Target="/ppt/notesMasters/notesMaster1.xml" Id="R4f4acdcd622b446b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01447a275ac54dec" /><Relationship Type="http://schemas.openxmlformats.org/officeDocument/2006/relationships/notesMaster" Target="/ppt/notesMasters/notesMaster1.xml" Id="R7524968a5a1d484d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00d56471fa404cc3" /><Relationship Type="http://schemas.openxmlformats.org/officeDocument/2006/relationships/notesMaster" Target="/ppt/notesMasters/notesMaster1.xml" Id="R204e803846774d8c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28f40db77c1e4fd0" /><Relationship Type="http://schemas.openxmlformats.org/officeDocument/2006/relationships/notesMaster" Target="/ppt/notesMasters/notesMaster1.xml" Id="R64339e92b16f4b0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Current founder-approved 12-month financing scenarios: USD 150,000 solo, USD 400,000 with two developers. Each includes USD 50,000 founder compensation. Website: https://vantemio.com/en/ . Source: founder instructions, 8 October 2026. Artwork is conceptual.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Product structure: https://vantemio.com/en/whitepaper/ and https://vantemio.com/en/docs/ . Founder confirms that the full editing/publication chain is not yet operational. Studio is the first application, not the original purpose of the automation core.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Founder problem definition, 8 October 2026. Proposed workflow separates high-level cloud reasoning from local routine execution and connects quality and agreed rights to commerce. No elimination of all fraud or fee-free settlement is asserted.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Primary post read directly in the founder’s Chrome on 5 October 2026. Author reports a 12-hour run after supplying a prompt, Midjourney and a moodboard. This does not establish 12 hours of human labor, 100 prompts, an 18-hour duration, or a comparable benchmark. The minutes-to-hours target is founder-defined and unvalidated. Manual prompting and repeated corrections are a separate problem from elapsed autonomous runtime. Source: https://x.com/anabology/status/2103534482930491441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Engineering rationale based on the existing orchestration, matrix, repair and distributed-execution design. Speedup is a hypothesis to validate, not a current measured result. Provider latency, media generation and rendering remain constraints.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Target integrated lifecycle. Research, production and quality components exist; full publishing and feedback integration is in development. The return arrow represents recorded feedback informing the next operation.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Architecture: https://vantemio.com/en/docs/ . Station owns the operating studio. Registered executors run bounded tasks. Cloudflare hosts website and planned commerce interfaces; it does not replace Station or execute heavy rendering.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Current status follows the founder’s 8 October 2026 clarification. Code/components and isolated checks do not establish a working editing product. Source references: https://vantemio.com/en/docs/ and https://github.com/pavlichuckcrypt-maker/Vantemio 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Founder-reported implemented matrices and production logic. Current engineering evidence supports component work, not completed acceptance of every integrated audio/video output. No proprietary source disclosed.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Operational learning and project memory: https://vantemio.com/en/cloud-edition/ and https://vantemio.com/en/docs/ . Reuse of approved experience is distinct from automatic training of model weights. The integrated learning/production loop is still under development.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Founder’s architecture instructions and current engineering status, October 2026. Station, Book and MacBook are the currently known nodes, not a fixed fleet limit. The existing registry supports expansion. Full fleet readiness and legacy queue handoff are still under validation. No network addresses, credentials or private source are included.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Baseline roles derive from https://vantemio.com/en/docs/ and https://vantemio.com/en/licenses/ . Qwen names describe baseline integrations, not confirmation that every resident is active. Audio generation, weights, voice rights and accepted output require separate checks. No GPT-OSS or local image generator is represented as currently deployed.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Current economics and comparison method: https://vantemio.com/en/whitepaper/ and https://vantemio.com/en/docs/ . The previous 70–80% figure was an unvalidated target. No measured percentage or total-cost saving is claimed in this revision. Compare complete costs, including hardware and operator time.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Planned mature operating mode. Existing engine components are still being integrated. Initial configuration does not eliminate all maintenance, exceptions or provider/platform constraints.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Founder-defined next target, 8 October 2026: several days to two weeks for the first complete presentation, tokenization and publication. This is not a public-product launch promise. Documentation describes channel connectivity, whereas the founder confirms that the complete production chain remains unfinished.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Platform list and future scope supplied by founder. Posting and analytics depend on supported platform interfaces, permissions and connection validation. No claim that all listed platforms are integrated today.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Current initial model uses customer-paid generation when needed. Future local generation/private deployments are described at https://vantemio.com/en/home-edition/ . MCP is a tool interface and does not convert a web subscription into free API access.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Product profiles: https://vantemio.com/en/home-edition/ , https://vantemio.com/en/cloud-edition/ and https://vantemio.com/en/pricing/ . There is no public full-product installer or implemented external developer API. Selected source publication does not disclose the proprietary core.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Future delivery profiles: https://vantemio.com/en/home-edition/ and https://vantemio.com/en/cloud-edition/ . At the minimum Home needs an extra production device. Cloud clients do not automatically become fleet workers. Fully private installations require model rights, compatible resources and independent deployment acceptance.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Future marketing-agency use case. SEO and full campaign automation are planned extensions, not claimed current functions. Customer-level permissions, context isolation and outcome validation are required.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Extension architecture and final-stage loyalty-token concept: https://vantemio.com/en/whitepaper/ and https://vantemio.com/en/roadmap/ . Token issuance, terms and legal preparation are separate future work. No token offering or sale finances the current proposal.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Historical evidence: https://github.com/pavlichuckcrypt-maker/Vantemio/blob/main/docs/DEMO_EVIDENCE.md . New fulfillment design: https://vantemio.com/en/market/ . Historical purchase/completion/download does not prove quality-gated settlement or full Studio production.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https://github.com/pavlichuckcrypt-maker/Vantemio/blob/main/docs/DEMO_EVIDENCE.md . Base Sepolia integration. Content passport is distinct from Boson redeemable NFT. Terms govern licensed rights; no legal guarantee is asserted.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Founder-requested roadmap addition, 5 October 2026. These screening, evidence-review and enforcement integrations are not implemented or validated. Intended for original content and authorized supporting assets, including customer-created videos produced outside Vantemio. No YouTube Content ID approval, provider agreement or universal pre-upload scanning API is claimed. Content ID access is restricted to qualifying rights holders and approved partners. A match is evidence to review, not a legal ownership decision, and no match does not prove clearance. Automated and manual checks reduce risk but cannot guarantee detection of every infringement. Sources: https://support.google.com/youtube/answer/1311402?hl=en and https://support.google.com/youtube/answer/2797370?hl=en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Latest marketplace specification: https://vantemio.com/en/market/ . Ready-made packages and commissioned services use different acceptance/refund terms. Mandatory buyer rights, corrupt files and non-delivery remain covered. This is a development roadmap, not a live public market.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Target custom-service sequence: https://vantemio.com/en/market/ and https://github.com/pavlichuckcrypt-maker/Vantemio/blob/main/docs/project/market-fulfillment.md . Immutable revision and terms bind QA, delivery and buyer acceptance. Full refunds, targeted revisions and protected deadlines are development requirements.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Design requirements: https://github.com/pavlichuckcrypt-maker/Vantemio/blob/main/docs/project/market-fulfillment.md and https://vantemio.com/en/market/ . Smart contracts check authorized signatures, commitments and state, not artistic quality. Supported mandatory settlement enforcement must be established before a strict paid profile. Ready-made digital goods have separate listing, delivery and buyer-remedy terms.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Donations platform: https://vantemio.com/en/whitepaper/ . 24/7 expressive avatars and audience interaction are founder-specified plans from 8 October 2026, not a deployed service. Streaming infrastructure carries the media; Base supports settlement. Model, voice and likeness rights require admission.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Historical record: https://github.com/pavlichuckcrypt-maker/Vantemio/blob/main/docs/VERIFICATION.json and https://github.com/pavlichuckcrypt-maker/Vantemio/blob/main/docs/DEMO_EVIDENCE.md . The 176 count is a dated commerce record, not a current full-system test count or an independent audit. The displayed MetaMask image preserves historical evidence.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Founder-confirmed current stage, 8 October 2026. This overrides interpretations of documentation suggesting completed integrated production. Channel connectivity, code components and historical testnet receipts are distinct from a working customer product.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Business objective, not a financial forecast. Profitability depends on audience growth, monetization eligibility, demand, quality and operating costs. Current revenue is zero.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Prospective revenue models: https://vantemio.com/en/pricing/ and https://vantemio.com/en/market/ . No revenue or profitability currently validated. Donations refers to creator support, not charitable tax-receipted donations. Prices and fees remain to be defined.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Founder’s proposed go-to-market plan. Customer profiles and willingness to pay remain hypotheses. The project currently has no live customer product or revenue. No invented TAM, conversion rate or acquisition-cost forecast is used.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BEF is the Base strategic investment arm for pre-seed/seed startups: https://www.base.org/ecosystem-fund . This is an investment request with terms to agree, not an awarded cash grant.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Near-term window follows founder update of 8 October 2026. The 12-week repeatability stage derives from https://vantemio.com/en/grants/ . Old broad month-by-month promises are replaced by acceptance-gated stages. This deck does not assert a fixed cloud launch date.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Latest founder-authorized proposal, 8 October 2026. Solo total = 100,000 + 50,000 = 150,000. Team total = 100,000 + 50,000 + 240,000 + 10,000 = 400,000. Development resource amount is an envelope, not a verified itemized cost estimate. Existing public investor material contains a separate older scenario; this deck follows the current application. DGX Spark cost is included, not added twice. Two developers are proposed, not hired.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Price/specifications checked 8 October 2026: https://marketplace.nvidia.com/en-us/enterprise/personal-ai-supercomputers/dgx-spark/ . NVIDIA lists USD 6,950, 128 GB coherent unified system memory and 4 TB NVMe. Direct store listed out of stock at verification. https://docs.nvidia.com/dgx/dgx-spark/hardware.html specifies 128 GB LPDDR5X shared CPU/GPU memory and 273 GB/s, not a discrete 128 GB VRAM card. Founder wants to offload Qwen 27B or a compatible larger model and suitable local specialists, preserving Station authority and freeing its graphics/render capacity. Always-resident concurrent serving is a workload-validation target. Supplier availability, tax/shipping, ARM compatibility and measured memory/throughput require procurement and acceptance checks.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Founder-supplied biography, 8 October 2026. Education concerns transport machinery and mechanisms, not a professional software-development career. Marketing was a personal interest. The founder works solo and uses AI coding tools. Website: https://vantemio.com/en/ . LinkedIn: https://www.linkedin.com/in/vitalii-pavlichuk-98206122a/ 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Current public materials: https://vantemio.com/en/ , https://vantemio.com/en/docs/ , https://vantemio.com/en/market/ , https://github.com/pavlichuckcrypt-maker/Vantemio and https://github.com/pavlichuckcrypt-maker/Vantemio/blob/main/docs/DEMO_EVIDENCE.md . Source publication is scoped to selected development modules.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f8e8300ffd24436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468d1995f4a4db4" /><Relationship Type="http://schemas.openxmlformats.org/officeDocument/2006/relationships/slideLayout" Target="/ppt/slideLayouts/slideLayout1.xml" Id="R35b87dabab304e2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5b87dabab304e2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6c57d0594e54cad" /><Relationship Type="http://schemas.openxmlformats.org/officeDocument/2006/relationships/image" Target="/ppt/media/image.png" Id="R01e2e17e42f34d51" /><Relationship Type="http://schemas.openxmlformats.org/officeDocument/2006/relationships/notesSlide" Target="/ppt/notesSlides/notesSlide1.xml" Id="Rb512ebecca774c0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e2de1598738423d" /><Relationship Type="http://schemas.openxmlformats.org/officeDocument/2006/relationships/notesSlide" Target="/ppt/notesSlides/notesSlide2.xml" Id="R1d7cb89150db406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8b20de640ea428b" /><Relationship Type="http://schemas.openxmlformats.org/officeDocument/2006/relationships/notesSlide" Target="/ppt/notesSlides/notesSlide3.xml" Id="Ra20bbaf081c14aa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9efdbdcf58b4636" /><Relationship Type="http://schemas.openxmlformats.org/officeDocument/2006/relationships/hyperlink" Target="https://x.com/anabology/status/2103534482930491441" TargetMode="External" Id="Rd0358ea1c9694324" /><Relationship Type="http://schemas.openxmlformats.org/officeDocument/2006/relationships/notesSlide" Target="/ppt/notesSlides/notesSlide4.xml" Id="R3ea242cef6ac420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54f20ab1f53417a" /><Relationship Type="http://schemas.openxmlformats.org/officeDocument/2006/relationships/notesSlide" Target="/ppt/notesSlides/notesSlide5.xml" Id="R32ab3bb45e4b431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e84799ddae348dd" /><Relationship Type="http://schemas.openxmlformats.org/officeDocument/2006/relationships/notesSlide" Target="/ppt/notesSlides/notesSlide6.xml" Id="R5bb1aa73a3ac459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db6c9b59076426e" /><Relationship Type="http://schemas.openxmlformats.org/officeDocument/2006/relationships/notesSlide" Target="/ppt/notesSlides/notesSlide7.xml" Id="R66dd39a532554ea0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ddef59e181e4ec9" /><Relationship Type="http://schemas.openxmlformats.org/officeDocument/2006/relationships/notesSlide" Target="/ppt/notesSlides/notesSlide8.xml" Id="R91f611d731d04fda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450658e8f814ea1" /><Relationship Type="http://schemas.openxmlformats.org/officeDocument/2006/relationships/notesSlide" Target="/ppt/notesSlides/notesSlide9.xml" Id="Rfd4704b844414a36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20b80a688964422" /><Relationship Type="http://schemas.openxmlformats.org/officeDocument/2006/relationships/notesSlide" Target="/ppt/notesSlides/notesSlide10.xml" Id="Rd2dbfe368c6f41f0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248dc2aa9874d31" /><Relationship Type="http://schemas.openxmlformats.org/officeDocument/2006/relationships/notesSlide" Target="/ppt/notesSlides/notesSlide11.xml" Id="R26534d66d77148e9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404df45ae564ee7" /><Relationship Type="http://schemas.openxmlformats.org/officeDocument/2006/relationships/notesSlide" Target="/ppt/notesSlides/notesSlide12.xml" Id="Rf692e3194a0c4202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17e9c6ab9ec4ca1" /><Relationship Type="http://schemas.openxmlformats.org/officeDocument/2006/relationships/notesSlide" Target="/ppt/notesSlides/notesSlide13.xml" Id="Rd4fb39f3fbd947c3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ed55d79d4b84c09" /><Relationship Type="http://schemas.openxmlformats.org/officeDocument/2006/relationships/notesSlide" Target="/ppt/notesSlides/notesSlide14.xml" Id="Re8d894bd343f4e8f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9dc7f6789b446b4" /><Relationship Type="http://schemas.openxmlformats.org/officeDocument/2006/relationships/notesSlide" Target="/ppt/notesSlides/notesSlide15.xml" Id="R1b13c5aab9df4dc1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1d4cf2b0e7744e8" /><Relationship Type="http://schemas.openxmlformats.org/officeDocument/2006/relationships/notesSlide" Target="/ppt/notesSlides/notesSlide16.xml" Id="Ra11674165f374595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52d4488194e490d" /><Relationship Type="http://schemas.openxmlformats.org/officeDocument/2006/relationships/notesSlide" Target="/ppt/notesSlides/notesSlide17.xml" Id="Rf442e650bdd44449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6116716cfab4f02" /><Relationship Type="http://schemas.openxmlformats.org/officeDocument/2006/relationships/notesSlide" Target="/ppt/notesSlides/notesSlide18.xml" Id="R41e214b3c4e04398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fde19ea3af84848" /><Relationship Type="http://schemas.openxmlformats.org/officeDocument/2006/relationships/notesSlide" Target="/ppt/notesSlides/notesSlide19.xml" Id="R3a988bb9e1da47f2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921241517e34042" /><Relationship Type="http://schemas.openxmlformats.org/officeDocument/2006/relationships/notesSlide" Target="/ppt/notesSlides/notesSlide20.xml" Id="Rb34689c7637c466e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cc8e5ec5b2440db" /><Relationship Type="http://schemas.openxmlformats.org/officeDocument/2006/relationships/notesSlide" Target="/ppt/notesSlides/notesSlide21.xml" Id="Rd5c2aecdf5e04df0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b051e73f5f84c59" /><Relationship Type="http://schemas.openxmlformats.org/officeDocument/2006/relationships/notesSlide" Target="/ppt/notesSlides/notesSlide22.xml" Id="Rb60d16f0a04e4188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c54ca8e631e46eb" /><Relationship Type="http://schemas.openxmlformats.org/officeDocument/2006/relationships/notesSlide" Target="/ppt/notesSlides/notesSlide23.xml" Id="R4757f87648964298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7ac881317984fbf" /><Relationship Type="http://schemas.openxmlformats.org/officeDocument/2006/relationships/notesSlide" Target="/ppt/notesSlides/notesSlide24.xml" Id="R5b71ea7aab10461f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db887431cce4908" /><Relationship Type="http://schemas.openxmlformats.org/officeDocument/2006/relationships/notesSlide" Target="/ppt/notesSlides/notesSlide25.xml" Id="Rd93c6820e1e94e7a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829053b644246bd" /><Relationship Type="http://schemas.openxmlformats.org/officeDocument/2006/relationships/notesSlide" Target="/ppt/notesSlides/notesSlide26.xml" Id="R7a4ed5920a714001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2efa62dd69a47ef" /><Relationship Type="http://schemas.openxmlformats.org/officeDocument/2006/relationships/notesSlide" Target="/ppt/notesSlides/notesSlide27.xml" Id="Rb745d1b88ad74b68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bf09640713f46c7" /><Relationship Type="http://schemas.openxmlformats.org/officeDocument/2006/relationships/notesSlide" Target="/ppt/notesSlides/notesSlide28.xml" Id="R6b69ebeb50e94f85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d34b14d10bd49c1" /><Relationship Type="http://schemas.openxmlformats.org/officeDocument/2006/relationships/hyperlink" Target="https://github.com/pavlichuckcrypt-maker/Vantemio/blob/main/docs/VERIFICATION.json" TargetMode="External" Id="Rabf8648579914c34" /><Relationship Type="http://schemas.openxmlformats.org/officeDocument/2006/relationships/image" Target="/ppt/media/image2.png" Id="Raed4119490ba45bc" /><Relationship Type="http://schemas.openxmlformats.org/officeDocument/2006/relationships/notesSlide" Target="/ppt/notesSlides/notesSlide29.xml" Id="Rf65d0a6a2bb84d33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d429f07e6484525" /><Relationship Type="http://schemas.openxmlformats.org/officeDocument/2006/relationships/notesSlide" Target="/ppt/notesSlides/notesSlide30.xml" Id="Raf1492facf7b4c36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c7bc100bd114476" /><Relationship Type="http://schemas.openxmlformats.org/officeDocument/2006/relationships/notesSlide" Target="/ppt/notesSlides/notesSlide31.xml" Id="R2917f78790dd41a7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88348ec58254f20" /><Relationship Type="http://schemas.openxmlformats.org/officeDocument/2006/relationships/notesSlide" Target="/ppt/notesSlides/notesSlide32.xml" Id="R10a54a53b2704187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993b387e5784ee5" /><Relationship Type="http://schemas.openxmlformats.org/officeDocument/2006/relationships/notesSlide" Target="/ppt/notesSlides/notesSlide33.xml" Id="Rd54fbb8314b0443a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b397e826d064b0c" /><Relationship Type="http://schemas.openxmlformats.org/officeDocument/2006/relationships/notesSlide" Target="/ppt/notesSlides/notesSlide34.xml" Id="R3a498e446e004607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da963f70cc5443c" /><Relationship Type="http://schemas.openxmlformats.org/officeDocument/2006/relationships/notesSlide" Target="/ppt/notesSlides/notesSlide35.xml" Id="Rc45f1bb909f3477c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f34ca11488b4c79" /><Relationship Type="http://schemas.openxmlformats.org/officeDocument/2006/relationships/notesSlide" Target="/ppt/notesSlides/notesSlide36.xml" Id="Ra51e37df4bbd42e6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cfd17e601ba42e5" /><Relationship Type="http://schemas.openxmlformats.org/officeDocument/2006/relationships/notesSlide" Target="/ppt/notesSlides/notesSlide37.xml" Id="R2cc68e9e0748469f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f1262425f9349c9" /><Relationship Type="http://schemas.openxmlformats.org/officeDocument/2006/relationships/hyperlink" Target="https://vantemio.com/en/" TargetMode="External" Id="R838d41c0208e46dd" /><Relationship Type="http://schemas.openxmlformats.org/officeDocument/2006/relationships/hyperlink" Target="https://www.linkedin.com/in/vitalii-pavlichuk-98206122a/" TargetMode="External" Id="R0497abb022be4fb7" /><Relationship Type="http://schemas.openxmlformats.org/officeDocument/2006/relationships/notesSlide" Target="/ppt/notesSlides/notesSlide38.xml" Id="R23ca4baf97a64cb4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576323ca1945a0" /><Relationship Type="http://schemas.openxmlformats.org/officeDocument/2006/relationships/hyperlink" Target="https://vantemio.com/en/docs/" TargetMode="External" Id="R49a4d6d4bd8347c8" /><Relationship Type="http://schemas.openxmlformats.org/officeDocument/2006/relationships/hyperlink" Target="https://github.com/pavlichuckcrypt-maker/Vantemio" TargetMode="External" Id="R743c95a0d8fd437c" /><Relationship Type="http://schemas.openxmlformats.org/officeDocument/2006/relationships/hyperlink" Target="https://github.com/pavlichuckcrypt-maker/Vantemio/blob/main/docs/DEMO_EVIDENCE.md" TargetMode="External" Id="R878d406b50ff4e87" /><Relationship Type="http://schemas.openxmlformats.org/officeDocument/2006/relationships/hyperlink" Target="https://vantemio.com/en/market/" TargetMode="External" Id="Rfa44f008e3184731" /><Relationship Type="http://schemas.openxmlformats.org/officeDocument/2006/relationships/hyperlink" Target="https://www.linkedin.com/in/vitalii-pavlichuk-98206122a/" TargetMode="External" Id="R049fddf9476c45a6" /><Relationship Type="http://schemas.openxmlformats.org/officeDocument/2006/relationships/notesSlide" Target="/ppt/notesSlides/notesSlide39.xml" Id="R8a23fff01ac04490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8121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2988816-D725-42A5-9BA9-EE9F9246F18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1e2e17e42f34d51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7C31E07-DF6A-4BB8-BC0C-6B93B6AF2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00125"/>
            <a:ext cx="61912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66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66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Vantemio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0005F2B-FC69-4FB8-8333-7FB6AC733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333625"/>
            <a:ext cx="78105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150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3150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AI automation core</a:t>
            </a:r>
          </a:p>
          <a:p xmlns:a="http://schemas.openxmlformats.org/drawingml/2006/main">
            <a:pPr algn="l">
              <a:buNone/>
              <a:defRPr sz="3150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Studio, services and commerce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A2595BB-9C7A-4892-B12B-F31EEF512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905375"/>
            <a:ext cx="4572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B5C4CD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1875" b="0">
                <a:solidFill>
                  <a:srgbClr val="B5C4C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B5C4CD"/>
                </a:solidFill>
                <a:latin typeface="Helvetica Neue"/>
                <a:ea typeface="Helvetica Neue"/>
                <a:cs typeface="Helvetica Neue"/>
              </a:rPr>
              <a:t>Pre-seed proposal</a:t>
            </a:r>
          </a:p>
          <a:p xmlns:a="http://schemas.openxmlformats.org/drawingml/2006/main">
            <a:pPr algn="l">
              <a:buNone/>
              <a:defRPr sz="1875" b="0">
                <a:solidFill>
                  <a:srgbClr val="B5C4C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B5C4CD"/>
                </a:solidFill>
                <a:latin typeface="Helvetica Neue"/>
                <a:ea typeface="Helvetica Neue"/>
                <a:cs typeface="Helvetica Neue"/>
              </a:rPr>
              <a:t>8 October 2026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B6C0594-FFED-4C2F-9FE4-BD8258D20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829300"/>
            <a:ext cx="6286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Vitalii Pavlichuk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Founder and Product Architect</a:t>
            </a:r>
          </a:p>
        </p:txBody>
      </p:sp>
    </p:spTree>
    <p:extLst>
      <p:ext uri="{BB962C8B-B14F-4D97-AF65-F5344CB8AC3E}">
        <p14:creationId xmlns:p14="http://schemas.microsoft.com/office/powerpoint/2010/main" val="199322149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8121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9ADDC7A-67C2-4DE0-99AC-7FED43C8F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Core and application modules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A3B7492-DE65-4C2C-AA0C-8CD3349E9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91275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rPr>
              <a:t>02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6360A26-010E-4A23-B4FF-A5D21C93A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10953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Reusable orchestration and execution core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13B4679-4B97-4145-86E8-49E320896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33625"/>
            <a:ext cx="10953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21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One core links task context, tools, execution records and accepted output versions.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BDC3D8B-44B6-4D21-9792-BDF44243F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48075"/>
            <a:ext cx="51911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Vantemio Studio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9FFF7D4-796E-4428-A637-1D2C12314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43375"/>
            <a:ext cx="5191125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2100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First testing and monetization stage: editing, motion graphics and audio for Vantemio’s own channels.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814AC38-8401-4B3E-94EF-53B734D1E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3648075"/>
            <a:ext cx="51911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Vantemio Market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58D55CB-E17A-4C2E-9324-CE4FE2BBA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4143375"/>
            <a:ext cx="5191125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2100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Planned marketplace for ready-made assets, custom services and independent sellers, using Base and Boson Protocol.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953381C-A31F-43B6-9A28-774305449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72175"/>
            <a:ext cx="10953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1725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rPr>
              <a:t>Next modules: Social, Marketing, CRM and Donations. Integrated production remains in development.</a:t>
            </a:r>
          </a:p>
        </p:txBody>
      </p:sp>
    </p:spTree>
    <p:extLst>
      <p:ext uri="{BB962C8B-B14F-4D97-AF65-F5344CB8AC3E}">
        <p14:creationId xmlns:p14="http://schemas.microsoft.com/office/powerpoint/2010/main" val="64881691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8121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A4B26ED-A791-4DA6-89D1-F71D32243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The production problem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8F3DB5E-A781-437D-95B0-90F8DB06D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91275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rPr>
              <a:t>03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AD5227C-677D-41D0-8410-C1AF64C58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Cloud tokens spent on routine work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6043E4F-8B5D-4004-933A-E6E6886A9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1455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21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Repeated prompts, corrections and context transfers increase cloud usage and production time.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97C0105-121F-448B-A19A-D7D8B089E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956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Artistic production and reusable experience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EBE1690-27DC-4B84-BE5C-B4718588E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90925"/>
            <a:ext cx="7620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21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Direction, pacing and sound need coherent execution. Recorded lessons should improve the next production.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1DC1BC8-5280-4637-83E4-FD10593A6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8630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Quality, rights and trustworthy sales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E9B91B8-71CA-4250-BF9A-484155EBA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7620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21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Buyers need clear terms, verified files and correct delivery. Crypto settlement still carries network and protocol fees.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828D045-C5C2-46FD-9A1A-F6C3821E6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1952625"/>
            <a:ext cx="257175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32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32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Creators</a:t>
            </a:r>
          </a:p>
          <a:p xmlns:a="http://schemas.openxmlformats.org/drawingml/2006/main">
            <a:pPr algn="l">
              <a:buNone/>
              <a:defRPr sz="232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32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Small studios</a:t>
            </a:r>
          </a:p>
          <a:p xmlns:a="http://schemas.openxmlformats.org/drawingml/2006/main">
            <a:pPr algn="l">
              <a:buNone/>
              <a:defRPr sz="232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32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Agencies</a:t>
            </a:r>
          </a:p>
        </p:txBody>
      </p:sp>
    </p:spTree>
    <p:extLst>
      <p:ext uri="{BB962C8B-B14F-4D97-AF65-F5344CB8AC3E}">
        <p14:creationId xmlns:p14="http://schemas.microsoft.com/office/powerpoint/2010/main" val="81621164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8121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04F94F0-3E3C-4904-B51C-CAFA52C7A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Short videos can still require long production runs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CD95E0B-00BA-40F7-9863-3EC4FE2E7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91275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rPr>
              <a:t>04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BB2D9BA-B546-40A5-BBC3-334372A0F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5143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5025" b="1">
                <a:solidFill>
                  <a:srgbClr val="61A3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5025" b="1">
                <a:solidFill>
                  <a:srgbClr val="61A3FF"/>
                </a:solidFill>
                <a:latin typeface="Helvetica Neue"/>
                <a:ea typeface="Helvetica Neue"/>
                <a:cs typeface="Helvetica Neue"/>
              </a:rPr>
              <a:t>12 hours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A8BEFAA-4259-4FB4-8F72-6EE4E9687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19400"/>
            <a:ext cx="5095875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Reported by @anabology for an AI-directed video produced from a prompt, tools and a moodboard.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4911CBE-C914-43DE-805D-5EBC497AB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1676400"/>
            <a:ext cx="5143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9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9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Minutes to hours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2657BAE-A255-4104-B81D-BA5D8847D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2819400"/>
            <a:ext cx="5095875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2100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Tens of minutes for simple work, hours for complex graphics. This remains a target for equivalent tasks and quality.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53B58CE-D429-4835-BF47-910FE1A53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05375"/>
            <a:ext cx="10953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2175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Track manual prompts, corrections and elapsed production time. Measure rendering separately.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9049B07-3AB3-409A-BC66-FCFCE6512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00750"/>
            <a:ext cx="8382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61A3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61A3FF"/>
                </a:solidFill>
                <a:latin typeface="Helvetica Neue"/>
                <a:ea typeface="Helvetica Neue"/>
                <a:cs typeface="Helvetica Neue"/>
                <a:hlinkClick xmlns:r="http://schemas.openxmlformats.org/officeDocument/2006/relationships" r:id="Rd0358ea1c9694324"/>
              </a:rPr>
              <a:t>Reference: @anabology’s production example</a:t>
            </a:r>
          </a:p>
        </p:txBody>
      </p:sp>
    </p:spTree>
    <p:extLst>
      <p:ext uri="{BB962C8B-B14F-4D97-AF65-F5344CB8AC3E}">
        <p14:creationId xmlns:p14="http://schemas.microsoft.com/office/powerpoint/2010/main" val="43334812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8121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7FF4D94-F0C6-41D9-8ECC-0CCF357FB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How production time should decrease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7C6CBD0-57D3-4B4D-B0C4-E399B372F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91275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rPr>
              <a:t>05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C1A4AEC-E4DE-43FC-8081-6E2DF592F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14500"/>
            <a:ext cx="51911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Plan before execution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62B308B-B725-44A8-9FD6-AC0BAF9D6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9800"/>
            <a:ext cx="5191125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2100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Keep scene intent, timing, rights and sound requirements in structured plans shared by downstream tools.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C5E4E76-46BB-4EB0-B64F-B14C99F51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1714500"/>
            <a:ext cx="51911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Repair only failed work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F0E6F1C-CCF7-443B-B43D-6F9C5E8DE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2209800"/>
            <a:ext cx="5191125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2100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Preserve accepted results. Recheck failed components and their dependencies before assembling a new version.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971C0D1-2453-4AAE-987C-CDC136A4D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05250"/>
            <a:ext cx="51911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Use available machines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5FB1326-260D-4DD6-98FB-96F2509BF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00550"/>
            <a:ext cx="5191125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Distribute independent admitted jobs and graphics work across bounded workers under Station control.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186E3F0-83FE-42D1-AE4E-943F3EC67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3905250"/>
            <a:ext cx="51911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Benchmark the complete job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F70B5B5-ADF1-4903-A0CD-F273EE733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4400550"/>
            <a:ext cx="5191125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Track elapsed time, render time, cost, output quality and human interventions on equivalent briefs.</a:t>
            </a:r>
          </a:p>
        </p:txBody>
      </p:sp>
    </p:spTree>
    <p:extLst>
      <p:ext uri="{BB962C8B-B14F-4D97-AF65-F5344CB8AC3E}">
        <p14:creationId xmlns:p14="http://schemas.microsoft.com/office/powerpoint/2010/main" val="212594065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8121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FAD9429-81DD-4D0C-B26A-C35F2D868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The intended end-to-end service cycle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9131257-8158-493F-9BE4-6D9B77CDB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91275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rPr>
              <a:t>06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1C3E161-DABF-494B-877F-BFFDC477D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85950"/>
            <a:ext cx="33147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C3C"/>
          </a:solidFill>
          <a:ln xmlns:a="http://schemas.openxmlformats.org/drawingml/2006/main" w="11430">
            <a:solidFill>
              <a:srgbClr val="397785"/>
            </a:solidFill>
          </a:ln>
        </p:spPr>
        <p:txBody>
          <a:bodyPr xmlns:a="http://schemas.openxmlformats.org/drawingml/2006/main" lIns="114300" tIns="114300" rIns="114300" bIns="1143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Idea or order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F7637E9-BC82-40E1-BE20-D0321E7D9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1885950"/>
            <a:ext cx="33147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C3C"/>
          </a:solidFill>
          <a:ln xmlns:a="http://schemas.openxmlformats.org/drawingml/2006/main" w="11430">
            <a:solidFill>
              <a:srgbClr val="397785"/>
            </a:solidFill>
          </a:ln>
        </p:spPr>
        <p:txBody>
          <a:bodyPr xmlns:a="http://schemas.openxmlformats.org/drawingml/2006/main" lIns="114300" tIns="114300" rIns="114300" bIns="1143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Research and plan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EB8EA88-1EC8-4B81-85E0-C4D4A5F14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1885950"/>
            <a:ext cx="33147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C3C"/>
          </a:solidFill>
          <a:ln xmlns:a="http://schemas.openxmlformats.org/drawingml/2006/main" w="11430">
            <a:solidFill>
              <a:srgbClr val="397785"/>
            </a:solidFill>
          </a:ln>
        </p:spPr>
        <p:txBody>
          <a:bodyPr xmlns:a="http://schemas.openxmlformats.org/drawingml/2006/main" lIns="114300" tIns="114300" rIns="114300" bIns="1143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Create and execute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7C580AF-E6A5-49E2-9C0D-E998662C0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857625"/>
            <a:ext cx="33147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C3C"/>
          </a:solidFill>
          <a:ln xmlns:a="http://schemas.openxmlformats.org/drawingml/2006/main" w="11430">
            <a:solidFill>
              <a:srgbClr val="397785"/>
            </a:solidFill>
          </a:ln>
        </p:spPr>
        <p:txBody>
          <a:bodyPr xmlns:a="http://schemas.openxmlformats.org/drawingml/2006/main" lIns="114300" tIns="114300" rIns="114300" bIns="1143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Validate results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34DFBBB-40BC-45A0-BDC3-2DC6A9BB3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857625"/>
            <a:ext cx="33147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C3C"/>
          </a:solidFill>
          <a:ln xmlns:a="http://schemas.openxmlformats.org/drawingml/2006/main" w="11430">
            <a:solidFill>
              <a:srgbClr val="397785"/>
            </a:solidFill>
          </a:ln>
        </p:spPr>
        <p:txBody>
          <a:bodyPr xmlns:a="http://schemas.openxmlformats.org/drawingml/2006/main" lIns="114300" tIns="114300" rIns="114300" bIns="1143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Publish or deliver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E0A0D4E-AB82-44C6-8ED6-205971B57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33147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C3C"/>
          </a:solidFill>
          <a:ln xmlns:a="http://schemas.openxmlformats.org/drawingml/2006/main" w="11430">
            <a:solidFill>
              <a:srgbClr val="397785"/>
            </a:solidFill>
          </a:ln>
        </p:spPr>
        <p:txBody>
          <a:bodyPr xmlns:a="http://schemas.openxmlformats.org/drawingml/2006/main" lIns="114300" tIns="114300" rIns="114300" bIns="1143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Learn from outcomes</a:t>
            </a:r>
          </a:p>
        </p:txBody>
      </p:sp>
      <p:cxnSp>
        <p:nvCxn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0B0A192-C72C-4FA9-A469-F0DA8928BCC0}"/>
              </a:ext>
            </a:extLst>
          </p:cNvPr>
          <p:cNvCxnSpPr>
            <a:stCxn xmlns:a="http://schemas.openxmlformats.org/drawingml/2006/main" id="3" idx="3"/>
            <a:endCxn xmlns:a="http://schemas.openxmlformats.org/drawingml/2006/main" id="4" idx="1"/>
          </p:cNvCxnSpPr>
          <p:nvPr/>
        </p:nvCxnSpPr>
        <p:spPr>
          <a:xfrm xmlns:a="http://schemas.openxmlformats.org/drawingml/2006/main">
            <a:off x="3924300" y="2409825"/>
            <a:ext cx="51435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56DBD0"/>
            </a:solidFill>
            <a:tailEnd type="arrow" w="med" len="med"/>
          </a:ln>
        </p:spPr>
      </p:cxnSp>
      <p:cxnSp>
        <p:nvCxn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45F967C-58DF-4D45-822A-ED887F98FB28}"/>
              </a:ext>
            </a:extLst>
          </p:cNvPr>
          <p:cNvCxnSpPr>
            <a:stCxn xmlns:a="http://schemas.openxmlformats.org/drawingml/2006/main" id="4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>
            <a:off x="7753350" y="2409825"/>
            <a:ext cx="51435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56DBD0"/>
            </a:solidFill>
            <a:tailEnd type="arrow" w="med" len="med"/>
          </a:ln>
        </p:spPr>
      </p:cxnSp>
      <p:cxnSp>
        <p:nvCxn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C145587-20E7-4B82-AC79-6FFD6DAD891C}"/>
              </a:ext>
            </a:extLst>
          </p:cNvPr>
          <p:cNvCxnSpPr>
            <a:stCxn xmlns:a="http://schemas.openxmlformats.org/drawingml/2006/main" id="5" idx="2"/>
            <a:endCxn xmlns:a="http://schemas.openxmlformats.org/drawingml/2006/main" id="6" idx="0"/>
          </p:cNvCxnSpPr>
          <p:nvPr/>
        </p:nvCxnSpPr>
        <p:spPr>
          <a:xfrm xmlns:a="http://schemas.openxmlformats.org/drawingml/2006/main">
            <a:off x="9925050" y="2933700"/>
            <a:ext cx="0" cy="923925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56DBD0"/>
            </a:solidFill>
            <a:tailEnd type="arrow" w="med" len="med"/>
          </a:ln>
        </p:spPr>
      </p:cxnSp>
      <p:cxnSp>
        <p:nvCxn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04F6BDF-E143-4272-96C9-7873DD868110}"/>
              </a:ext>
            </a:extLst>
          </p:cNvPr>
          <p:cNvCxnSpPr>
            <a:stCxn xmlns:a="http://schemas.openxmlformats.org/drawingml/2006/main" id="6" idx="1"/>
            <a:endCxn xmlns:a="http://schemas.openxmlformats.org/drawingml/2006/main" id="7" idx="3"/>
          </p:cNvCxnSpPr>
          <p:nvPr/>
        </p:nvCxnSpPr>
        <p:spPr>
          <a:xfrm xmlns:a="http://schemas.openxmlformats.org/drawingml/2006/main" flipH="1">
            <a:off x="7753350" y="4381500"/>
            <a:ext cx="51435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56DBD0"/>
            </a:solidFill>
            <a:tailEnd type="arrow" w="med" len="med"/>
          </a:ln>
        </p:spPr>
      </p:cxnSp>
      <p:cxnSp>
        <p:nvCxn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544EB8A-B90E-4CB7-BD18-2FEED274A3DA}"/>
              </a:ext>
            </a:extLst>
          </p:cNvPr>
          <p:cNvCxnSpPr>
            <a:stCxn xmlns:a="http://schemas.openxmlformats.org/drawingml/2006/main" id="7" idx="1"/>
            <a:endCxn xmlns:a="http://schemas.openxmlformats.org/drawingml/2006/main" id="8" idx="3"/>
          </p:cNvCxnSpPr>
          <p:nvPr/>
        </p:nvCxnSpPr>
        <p:spPr>
          <a:xfrm xmlns:a="http://schemas.openxmlformats.org/drawingml/2006/main" flipH="1">
            <a:off x="3924300" y="4381500"/>
            <a:ext cx="51435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56DBD0"/>
            </a:solidFill>
            <a:tailEnd type="arrow" w="med" len="med"/>
          </a:ln>
        </p:spPr>
      </p:cxnSp>
      <p:cxnSp>
        <p:nvCxn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846D5F1-A5B9-4907-A78F-7061B18F9626}"/>
              </a:ext>
            </a:extLst>
          </p:cNvPr>
          <p:cNvCxnSpPr>
            <a:stCxn xmlns:a="http://schemas.openxmlformats.org/drawingml/2006/main" id="8" idx="0"/>
            <a:endCxn xmlns:a="http://schemas.openxmlformats.org/drawingml/2006/main" id="3" idx="2"/>
          </p:cNvCxnSpPr>
          <p:nvPr/>
        </p:nvCxnSpPr>
        <p:spPr>
          <a:xfrm xmlns:a="http://schemas.openxmlformats.org/drawingml/2006/main" flipV="1">
            <a:off x="2266950" y="2933700"/>
            <a:ext cx="0" cy="923925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56DBD0"/>
            </a:solidFill>
            <a:tailEnd type="arrow" w="med" len="med"/>
          </a:ln>
        </p:spPr>
      </p:cxn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4F81ACB-A560-46B9-BF19-038C27444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34000"/>
            <a:ext cx="10953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One recorded workflow carries task context, accepted assets and execution history between stages.</a:t>
            </a:r>
          </a:p>
        </p:txBody>
      </p:sp>
    </p:spTree>
    <p:extLst>
      <p:ext uri="{BB962C8B-B14F-4D97-AF65-F5344CB8AC3E}">
        <p14:creationId xmlns:p14="http://schemas.microsoft.com/office/powerpoint/2010/main" val="145731286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8121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19DEA1A-768E-42B2-A53F-92CBDD3D3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33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The reusable technical core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AC21A92-8CC9-46C4-8C5B-CE0C7769F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91275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B5C4C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B5C4CD"/>
                </a:solidFill>
                <a:latin typeface="Helvetica Neue"/>
                <a:ea typeface="Helvetica Neue"/>
                <a:cs typeface="Helvetica Neue"/>
              </a:rPr>
              <a:t>07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6033C2A-A13F-4848-911F-DBC5A5BDB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1514475"/>
            <a:ext cx="87630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C3C"/>
          </a:solidFill>
          <a:ln xmlns:a="http://schemas.openxmlformats.org/drawingml/2006/main" w="11430">
            <a:solidFill>
              <a:srgbClr val="397785"/>
            </a:solidFill>
          </a:ln>
        </p:spPr>
        <p:txBody>
          <a:bodyPr xmlns:a="http://schemas.openxmlformats.org/drawingml/2006/main" wrap="square" lIns="114300" tIns="114300" rIns="114300" bIns="114300" anchor="ctr">
            <a:noAutofit/>
          </a:bodyPr>
          <a:lstStyle xmlns:a="http://schemas.openxmlformats.org/drawingml/2006/main">
            <a:defPPr algn="ctr">
              <a:defRPr sz="17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ctr">
              <a:buNone/>
              <a:defRPr sz="17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Application modules: Studio, Social, Marketing, CRM, Market, Donations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9721182-B0F8-47EA-B7A8-68972DB5E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686050"/>
            <a:ext cx="87630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C3C"/>
          </a:solidFill>
          <a:ln xmlns:a="http://schemas.openxmlformats.org/drawingml/2006/main" w="11430">
            <a:solidFill>
              <a:srgbClr val="397785"/>
            </a:solidFill>
          </a:ln>
        </p:spPr>
        <p:txBody>
          <a:bodyPr xmlns:a="http://schemas.openxmlformats.org/drawingml/2006/main" wrap="square" lIns="114300" tIns="114300" rIns="114300" bIns="114300" anchor="ctr">
            <a:noAutofit/>
          </a:bodyPr>
          <a:lstStyle xmlns:a="http://schemas.openxmlformats.org/drawingml/2006/main">
            <a:defPPr algn="ctr">
              <a:defRPr sz="18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ctr">
              <a:buNone/>
              <a:defRPr sz="18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Station core: task admission, queues, memory, registry and recovery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8FAACAC-7ACC-48A3-B9A2-6A0ACB23E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48125"/>
            <a:ext cx="33147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C3C"/>
          </a:solidFill>
          <a:ln xmlns:a="http://schemas.openxmlformats.org/drawingml/2006/main" w="11430">
            <a:solidFill>
              <a:srgbClr val="397785"/>
            </a:solidFill>
          </a:ln>
        </p:spPr>
        <p:txBody>
          <a:bodyPr xmlns:a="http://schemas.openxmlformats.org/drawingml/2006/main" lIns="114300" tIns="114300" rIns="114300" bIns="1143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Agents and structured</a:t>
            </a:r>
          </a:p>
          <a:p xmlns:a="http://schemas.openxmlformats.org/drawingml/2006/main">
            <a:pPr algn="ctr">
              <a:buNone/>
              <a:defRPr sz="18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task outputs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1A5A348-6CA7-4164-927E-5DF68923D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048125"/>
            <a:ext cx="33147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C3C"/>
          </a:solidFill>
          <a:ln xmlns:a="http://schemas.openxmlformats.org/drawingml/2006/main" w="11430">
            <a:solidFill>
              <a:srgbClr val="397785"/>
            </a:solidFill>
          </a:ln>
        </p:spPr>
        <p:txBody>
          <a:bodyPr xmlns:a="http://schemas.openxmlformats.org/drawingml/2006/main" lIns="114300" tIns="114300" rIns="114300" bIns="1143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Code-enforced validation</a:t>
            </a:r>
          </a:p>
          <a:p xmlns:a="http://schemas.openxmlformats.org/drawingml/2006/main">
            <a:pPr algn="ctr">
              <a:buNone/>
              <a:defRPr sz="18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and execution rules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1E752C2-F722-40EE-9988-F8EF091E6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4048125"/>
            <a:ext cx="33147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C3C"/>
          </a:solidFill>
          <a:ln xmlns:a="http://schemas.openxmlformats.org/drawingml/2006/main" w="11430">
            <a:solidFill>
              <a:srgbClr val="397785"/>
            </a:solidFill>
          </a:ln>
        </p:spPr>
        <p:txBody>
          <a:bodyPr xmlns:a="http://schemas.openxmlformats.org/drawingml/2006/main" lIns="114300" tIns="114300" rIns="114300" bIns="1143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Memory, graph and</a:t>
            </a:r>
          </a:p>
          <a:p xmlns:a="http://schemas.openxmlformats.org/drawingml/2006/main">
            <a:pPr algn="ctr">
              <a:buNone/>
              <a:defRPr sz="18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execution registries</a:t>
            </a:r>
          </a:p>
        </p:txBody>
      </p:sp>
      <p:cxnSp>
        <p:nvCxn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EAD7B4E-230E-48E1-8B56-6ACC600ED048}"/>
              </a:ext>
            </a:extLst>
          </p:cNvPr>
          <p:cNvCxnSpPr>
            <a:stCxn xmlns:a="http://schemas.openxmlformats.org/drawingml/2006/main" id="3" idx="2"/>
            <a:endCxn xmlns:a="http://schemas.openxmlformats.org/drawingml/2006/main" id="4" idx="0"/>
          </p:cNvCxnSpPr>
          <p:nvPr/>
        </p:nvCxnSpPr>
        <p:spPr>
          <a:xfrm xmlns:a="http://schemas.openxmlformats.org/drawingml/2006/main">
            <a:off x="6096000" y="2162175"/>
            <a:ext cx="0" cy="523875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56DBD0"/>
            </a:solidFill>
            <a:tailEnd type="arrow" w="med" len="med"/>
          </a:ln>
        </p:spPr>
      </p:cxnSp>
      <p:cxnSp>
        <p:nvCxn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3FB3F56-B915-462C-A65D-3821D9804058}"/>
              </a:ext>
            </a:extLst>
          </p:cNvPr>
          <p:cNvCxnSpPr>
            <a:stCxn xmlns:a="http://schemas.openxmlformats.org/drawingml/2006/main" id="4" idx="2"/>
            <a:endCxn xmlns:a="http://schemas.openxmlformats.org/drawingml/2006/main" id="5" idx="0"/>
          </p:cNvCxnSpPr>
          <p:nvPr/>
        </p:nvCxnSpPr>
        <p:spPr>
          <a:xfrm xmlns:a="http://schemas.openxmlformats.org/drawingml/2006/main" flipH="1">
            <a:off x="2266950" y="3429000"/>
            <a:ext cx="3829050" cy="619125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23813">
            <a:solidFill>
              <a:srgbClr val="56DBD0"/>
            </a:solidFill>
            <a:tailEnd type="arrow" w="med" len="med"/>
          </a:ln>
        </p:spPr>
      </p:cxnSp>
      <p:cxnSp>
        <p:nvCxn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89166E4-A4F9-4949-B3A8-083C93A2F885}"/>
              </a:ext>
            </a:extLst>
          </p:cNvPr>
          <p:cNvCxnSpPr>
            <a:stCxn xmlns:a="http://schemas.openxmlformats.org/drawingml/2006/main" id="4" idx="2"/>
            <a:endCxn xmlns:a="http://schemas.openxmlformats.org/drawingml/2006/main" id="6" idx="0"/>
          </p:cNvCxnSpPr>
          <p:nvPr/>
        </p:nvCxnSpPr>
        <p:spPr>
          <a:xfrm xmlns:a="http://schemas.openxmlformats.org/drawingml/2006/main">
            <a:off x="6096000" y="3429000"/>
            <a:ext cx="0" cy="619125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56DBD0"/>
            </a:solidFill>
            <a:tailEnd type="arrow" w="med" len="med"/>
          </a:ln>
        </p:spPr>
      </p:cxnSp>
      <p:cxnSp>
        <p:nvCxn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F5B3D54-7258-462D-8DA8-53C78AFCE991}"/>
              </a:ext>
            </a:extLst>
          </p:cNvPr>
          <p:cNvCxnSpPr>
            <a:stCxn xmlns:a="http://schemas.openxmlformats.org/drawingml/2006/main" id="4" idx="2"/>
            <a:endCxn xmlns:a="http://schemas.openxmlformats.org/drawingml/2006/main" id="7" idx="0"/>
          </p:cNvCxnSpPr>
          <p:nvPr/>
        </p:nvCxnSpPr>
        <p:spPr>
          <a:xfrm xmlns:a="http://schemas.openxmlformats.org/drawingml/2006/main">
            <a:off x="6096000" y="3429000"/>
            <a:ext cx="3829050" cy="619125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23813">
            <a:solidFill>
              <a:srgbClr val="56DBD0"/>
            </a:solidFill>
            <a:tailEnd type="arrow" w="med" len="med"/>
          </a:ln>
        </p:spPr>
      </p:cxn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D9DE401-B4FD-4E45-9E10-06D9E117D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0">
                <a:solidFill>
                  <a:srgbClr val="B5C4CD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0">
                <a:solidFill>
                  <a:srgbClr val="B5C4CD"/>
                </a:solidFill>
                <a:latin typeface="Helvetica Neue"/>
                <a:ea typeface="Helvetica Neue"/>
                <a:cs typeface="Helvetica Neue"/>
              </a:rPr>
              <a:t>Bounded executors and service adapters perform the admitted work and return results.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11717F6-F36A-4A9F-A417-88EF96469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19825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B5C4CD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1575" b="0">
                <a:solidFill>
                  <a:srgbClr val="B5C4C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B5C4CD"/>
                </a:solidFill>
                <a:latin typeface="Helvetica Neue"/>
                <a:ea typeface="Helvetica Neue"/>
                <a:cs typeface="Helvetica Neue"/>
              </a:rPr>
              <a:t>Python core, Remotion and Blender graphics, FFmpeg and Vidra/MLT, Node.js and Solidity</a:t>
            </a:r>
          </a:p>
        </p:txBody>
      </p:sp>
    </p:spTree>
    <p:extLst>
      <p:ext uri="{BB962C8B-B14F-4D97-AF65-F5344CB8AC3E}">
        <p14:creationId xmlns:p14="http://schemas.microsoft.com/office/powerpoint/2010/main" val="137519614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8121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1C2C2EB-BD52-460F-AB3A-F5C87F816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Production components in development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1387C3D-92CC-497E-BFD2-099C0089D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91275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rPr>
              <a:t>08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1D754A7-E242-4CD4-BF59-5C21C1FEE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51911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Video and sound matrices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2470759-CB3F-47C7-A0EF-D18A9EDBF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14550"/>
            <a:ext cx="5191125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18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Scene timing, visual assets, voice, music and effects are represented in structured production plans.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6C997FF-AB63-4B29-BFD8-73807F54E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1619250"/>
            <a:ext cx="51911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Editing and graphics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2B99C74-414D-4D14-B22D-6176C8F22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2114550"/>
            <a:ext cx="5191125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18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Source includes assembly, graphics, transitions and render logic. Reliable integrated output is still being developed.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D0DB5ED-7509-4F9D-BE03-9689CA790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62325"/>
            <a:ext cx="51911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Audio workflows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05D2D7D-9C40-4263-8543-EAB6F5D24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5191125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18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Voice, music and event sounds have separate timing and processing rules. Mixing and quality integration continue.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49745AA-99D0-4BA9-BB8F-7F2021E1C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3362325"/>
            <a:ext cx="51911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Memory and repair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A72EEE3-F1FA-43B8-B9A9-72384137B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3857625"/>
            <a:ext cx="5191125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18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Memory, registry and repair mechanisms retain task context and recorded outcomes for later decisions.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534E20B-2515-4A28-9ED4-64403573D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8165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1950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Working today: automated YouTube competitor analysis. Full Studio execution remains the next integration target.</a:t>
            </a:r>
          </a:p>
        </p:txBody>
      </p:sp>
    </p:spTree>
    <p:extLst>
      <p:ext uri="{BB962C8B-B14F-4D97-AF65-F5344CB8AC3E}">
        <p14:creationId xmlns:p14="http://schemas.microsoft.com/office/powerpoint/2010/main" val="91786864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8121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D72CB68-92D6-439B-9ECA-0783B6316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Video and audio are structured production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33139A4-FA7A-4418-B920-12DD28ED3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91275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rPr>
              <a:t>09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E4BB92D-4C1D-4D84-8BC4-CA8C40CE5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14500"/>
            <a:ext cx="51911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Video matrix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66B32CF-553F-4C36-86FB-DB351691F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9800"/>
            <a:ext cx="5191125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Scenes, shot intent, assets, timing, transitions and composition become explicit instructions for assembly and review.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68F3245-5543-448F-B8C5-EADD462A0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1714500"/>
            <a:ext cx="51911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Sound matrix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2A0C0D3-E0E1-42B1-A493-A1E3DC807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2209800"/>
            <a:ext cx="5191125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Narration, music and effects are separate layers with timing, synchronization, processing and mixing instructions.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6479CEE-E534-413F-B874-B79945169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52875"/>
            <a:ext cx="51911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Creative direction in code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EC8FA7A-3A4D-4BAF-BC2B-F7DFC0D5B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48175"/>
            <a:ext cx="5191125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Rules connect script intent with pacing, scene continuity, visual presentation and the audio plan.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8138C33-B4B3-4CA9-815B-213701AF7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3952875"/>
            <a:ext cx="51911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Current engineering work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BAD1645-F7D7-474A-964A-A5505E1FD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4448175"/>
            <a:ext cx="5191125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Improve output quality, remove integration failures and make complete productions repeatable.</a:t>
            </a:r>
          </a:p>
        </p:txBody>
      </p:sp>
    </p:spTree>
    <p:extLst>
      <p:ext uri="{BB962C8B-B14F-4D97-AF65-F5344CB8AC3E}">
        <p14:creationId xmlns:p14="http://schemas.microsoft.com/office/powerpoint/2010/main" val="1538846073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8121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3247C13-08EB-43E0-8895-B7D5510E5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Experience-based learning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74A8A80-36CE-4ABE-B422-652E07091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91275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rPr>
              <a:t>10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1B011EB-5F7F-4154-96DF-AD11EE5B7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25717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C3C"/>
          </a:solidFill>
          <a:ln xmlns:a="http://schemas.openxmlformats.org/drawingml/2006/main" w="11430">
            <a:solidFill>
              <a:srgbClr val="397785"/>
            </a:solidFill>
          </a:ln>
        </p:spPr>
        <p:txBody>
          <a:bodyPr xmlns:a="http://schemas.openxmlformats.org/drawingml/2006/main" lIns="114300" tIns="114300" rIns="114300" bIns="1143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Record the run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6075DA5-7073-4C17-8A86-A47E1C727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1809750"/>
            <a:ext cx="25717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C3C"/>
          </a:solidFill>
          <a:ln xmlns:a="http://schemas.openxmlformats.org/drawingml/2006/main" w="11430">
            <a:solidFill>
              <a:srgbClr val="397785"/>
            </a:solidFill>
          </a:ln>
        </p:spPr>
        <p:txBody>
          <a:bodyPr xmlns:a="http://schemas.openxmlformats.org/drawingml/2006/main" lIns="114300" tIns="114300" rIns="114300" bIns="1143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Evaluate results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E7D57F9-15AE-413E-898B-6A3875C75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809750"/>
            <a:ext cx="25717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C3C"/>
          </a:solidFill>
          <a:ln xmlns:a="http://schemas.openxmlformats.org/drawingml/2006/main" w="11430">
            <a:solidFill>
              <a:srgbClr val="397785"/>
            </a:solidFill>
          </a:ln>
        </p:spPr>
        <p:txBody>
          <a:bodyPr xmlns:a="http://schemas.openxmlformats.org/drawingml/2006/main" lIns="114300" tIns="114300" rIns="114300" bIns="1143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Create repair tasks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A847E6C-1C12-4975-B645-DE945012E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1809750"/>
            <a:ext cx="25717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C3C"/>
          </a:solidFill>
          <a:ln xmlns:a="http://schemas.openxmlformats.org/drawingml/2006/main" w="11430">
            <a:solidFill>
              <a:srgbClr val="397785"/>
            </a:solidFill>
          </a:ln>
        </p:spPr>
        <p:txBody>
          <a:bodyPr xmlns:a="http://schemas.openxmlformats.org/drawingml/2006/main" lIns="114300" tIns="114300" rIns="114300" bIns="1143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Reuse verified lessons</a:t>
            </a:r>
          </a:p>
        </p:txBody>
      </p:sp>
      <p:cxnSp>
        <p:nvCxn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91D26F8-193D-40F9-9E14-DED6B6118AEC}"/>
              </a:ext>
            </a:extLst>
          </p:cNvPr>
          <p:cNvCxnSpPr>
            <a:stCxn xmlns:a="http://schemas.openxmlformats.org/drawingml/2006/main" id="3" idx="3"/>
            <a:endCxn xmlns:a="http://schemas.openxmlformats.org/drawingml/2006/main" id="4" idx="1"/>
          </p:cNvCxnSpPr>
          <p:nvPr/>
        </p:nvCxnSpPr>
        <p:spPr>
          <a:xfrm xmlns:a="http://schemas.openxmlformats.org/drawingml/2006/main">
            <a:off x="3181350" y="2238375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56DBD0"/>
            </a:solidFill>
            <a:tailEnd type="arrow" w="med" len="med"/>
          </a:ln>
        </p:spPr>
      </p:cxnSp>
      <p:cxnSp>
        <p:nvCxn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47D8BAF-6EB0-4C1A-B367-E9C089334F02}"/>
              </a:ext>
            </a:extLst>
          </p:cNvPr>
          <p:cNvCxnSpPr>
            <a:stCxn xmlns:a="http://schemas.openxmlformats.org/drawingml/2006/main" id="4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>
            <a:off x="5981700" y="2238375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56DBD0"/>
            </a:solidFill>
            <a:tailEnd type="arrow" w="med" len="med"/>
          </a:ln>
        </p:spPr>
      </p:cxnSp>
      <p:cxnSp>
        <p:nvCxn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07CD218-C5BF-407C-90B0-87434EB7CBFF}"/>
              </a:ext>
            </a:extLst>
          </p:cNvPr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8782050" y="2238375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56DBD0"/>
            </a:solidFill>
            <a:tailEnd type="arrow" w="med" len="med"/>
          </a:ln>
        </p:spPr>
      </p:cxn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69A11B6-304E-4122-9138-492954A1F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0425"/>
            <a:ext cx="51911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Persistent context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6917653-CB42-4B71-A820-EDD4DAC79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95725"/>
            <a:ext cx="5191125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202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The design retains task history, versions, errors and decisions in persistent memory and graph relationships.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E9B82BA-6161-4EFB-89D2-E404E6EAE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3400425"/>
            <a:ext cx="51911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Controlled improvement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222CBE5-666D-42F3-8B49-E4D9BF334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3895725"/>
            <a:ext cx="5191125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202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Approved lessons guide direction, prompt design, editing, motion graphics and sound in later tasks.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15A24E7-BC14-49ED-9835-80C2F2B32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24525"/>
            <a:ext cx="10953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1950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Planned shared learning uses isolated customer workspaces. Model training needs a separate data-use basis.</a:t>
            </a:r>
          </a:p>
        </p:txBody>
      </p:sp>
    </p:spTree>
    <p:extLst>
      <p:ext uri="{BB962C8B-B14F-4D97-AF65-F5344CB8AC3E}">
        <p14:creationId xmlns:p14="http://schemas.microsoft.com/office/powerpoint/2010/main" val="878599602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8121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27BDB27-CF78-4EF5-B33F-8011EFD23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33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Station controls distributed execution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C7D8FEB-3FF8-40E5-8A6C-BEEDED189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91275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B5C4C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B5C4CD"/>
                </a:solidFill>
                <a:latin typeface="Helvetica Neue"/>
                <a:ea typeface="Helvetica Neue"/>
                <a:cs typeface="Helvetica Neue"/>
              </a:rPr>
              <a:t>11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225F23B-C521-47BA-97C3-C88A7DA15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7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7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Python orchestration core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81C207A-9A34-4B38-B1E2-E2BBC2786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95525"/>
            <a:ext cx="10477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0">
                <a:solidFill>
                  <a:srgbClr val="B5C4CD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0">
                <a:solidFill>
                  <a:srgbClr val="B5C4CD"/>
                </a:solidFill>
                <a:latin typeface="Helvetica Neue"/>
                <a:ea typeface="Helvetica Neue"/>
                <a:cs typeface="Helvetica Neue"/>
              </a:rPr>
              <a:t>Task admission, persistent memory, registries and production state remain under the central workstation.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207CDC0-12A3-4D09-BE0E-4B920B538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76625"/>
            <a:ext cx="3429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Station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8A8B951-CB53-4900-8C69-E146FA4B4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71925"/>
            <a:ext cx="34290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RTX 5070 Ti workstation</a:t>
            </a:r>
          </a:p>
          <a:p xmlns:a="http://schemas.openxmlformats.org/drawingml/2006/main">
            <a:pPr algn="l">
              <a:buNone/>
              <a:defRPr sz="1875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Owns queues and orchestration</a:t>
            </a:r>
          </a:p>
          <a:p xmlns:a="http://schemas.openxmlformats.org/drawingml/2006/main">
            <a:pPr algn="l">
              <a:buNone/>
              <a:defRPr sz="1875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Runs local computation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C583A31-4D85-40DA-8BB7-74928DA37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3476625"/>
            <a:ext cx="33337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Windows laptop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7CC72D8-6AFC-4D8B-874E-F37777363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3971925"/>
            <a:ext cx="3333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Qwen Coder 7B helper</a:t>
            </a:r>
          </a:p>
          <a:p xmlns:a="http://schemas.openxmlformats.org/drawingml/2006/main">
            <a:pPr algn="l">
              <a:buNone/>
              <a:defRPr sz="1875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Receives admitted tasks</a:t>
            </a:r>
          </a:p>
          <a:p xmlns:a="http://schemas.openxmlformats.org/drawingml/2006/main">
            <a:pPr algn="l">
              <a:buNone/>
              <a:defRPr sz="1875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Returns results and receipts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68D795B-7B61-404A-A734-9ED703424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476625"/>
            <a:ext cx="33337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MacBook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9BE4006-F656-4353-91D5-4F1123BB9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971925"/>
            <a:ext cx="3333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Development and client work</a:t>
            </a:r>
          </a:p>
          <a:p xmlns:a="http://schemas.openxmlformats.org/drawingml/2006/main">
            <a:pPr algn="l">
              <a:buNone/>
              <a:defRPr sz="1875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Receives bounded jobs</a:t>
            </a:r>
          </a:p>
          <a:p xmlns:a="http://schemas.openxmlformats.org/drawingml/2006/main">
            <a:pPr algn="l">
              <a:buNone/>
              <a:defRPr sz="1875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Returns outputs and receipts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5114543-99BD-452A-A5E5-7D012B0A9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81650"/>
            <a:ext cx="109728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B5C4C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0">
                <a:solidFill>
                  <a:srgbClr val="B5C4CD"/>
                </a:solidFill>
                <a:latin typeface="Helvetica Neue"/>
                <a:ea typeface="Helvetica Neue"/>
                <a:cs typeface="Helvetica Neue"/>
              </a:rPr>
              <a:t>The registry admits additional compute nodes. Readiness and resource budgets govern each assignment.</a:t>
            </a:r>
          </a:p>
        </p:txBody>
      </p:sp>
    </p:spTree>
    <p:extLst>
      <p:ext uri="{BB962C8B-B14F-4D97-AF65-F5344CB8AC3E}">
        <p14:creationId xmlns:p14="http://schemas.microsoft.com/office/powerpoint/2010/main" val="806095551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8121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4282E62-D02D-4720-8E34-8896BFED7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Cloud and local AI roles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C1CEA8C-BAD9-4190-B0B7-B1B2CDE07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91275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rPr>
              <a:t>12</a:t>
            </a:r>
          </a:p>
        </p:txBody>
      </p:sp>
      <p:graphicFrame>
        <p:nvGraphicFrame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DC1A2F2-3C20-4E6D-BAA1-E634681D17A0}"/>
              </a:ext>
            </a:extLst>
          </p:cNvPr>
          <p:cNvGraphicFramePr/>
          <p:nvPr/>
        </p:nvGraphicFramePr>
        <p:xfrm>
          <a:off xmlns:a="http://schemas.openxmlformats.org/drawingml/2006/main" x="609600" y="1552575"/>
          <a:ext xmlns:a="http://schemas.openxmlformats.org/drawingml/2006/main" cx="10972800" cy="38004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809875"/>
                <a:gridCol w="4048125"/>
                <a:gridCol w="4114800"/>
              </a:tblGrid>
              <a:tr h="633413"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650" b="1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Model / role</a:t>
                      </a:r>
                    </a:p>
                  </a:txBody>
                  <a:tcPr marL="91440" marR="91440" marT="45720" marB="45720" anchor="ctr">
                    <a:solidFill>
                      <a:srgbClr val="12384C"/>
                    </a:solidFill>
                  </a:tcPr>
                </a:tc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650" b="1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Assigned work</a:t>
                      </a:r>
                    </a:p>
                  </a:txBody>
                  <a:tcPr marL="91440" marR="91440" marT="45720" marB="45720" anchor="ctr">
                    <a:solidFill>
                      <a:srgbClr val="12384C"/>
                    </a:solidFill>
                  </a:tcPr>
                </a:tc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650" b="1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Integration requirement</a:t>
                      </a:r>
                    </a:p>
                  </a:txBody>
                  <a:tcPr marL="91440" marR="91440" marT="45720" marB="45720" anchor="ctr">
                    <a:solidFill>
                      <a:srgbClr val="12384C"/>
                    </a:solidFill>
                  </a:tcPr>
                </a:tc>
              </a:tr>
              <a:tr h="633413"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Cloud reasoning</a:t>
                      </a:r>
                    </a:p>
                  </a:txBody>
                  <a:tcPr marL="91440" marR="91440" marT="45720" marB="45720" anchor="ctr">
                    <a:solidFill>
                      <a:srgbClr val="0E2230"/>
                    </a:solidFill>
                  </a:tcPr>
                </a:tc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Direction, dramaturgy and complex planning</a:t>
                      </a:r>
                    </a:p>
                  </a:txBody>
                  <a:tcPr marL="91440" marR="91440" marT="45720" marB="45720" anchor="ctr">
                    <a:solidFill>
                      <a:srgbClr val="0E2230"/>
                    </a:solidFill>
                  </a:tcPr>
                </a:tc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Approved access, bounded cost and validated output</a:t>
                      </a:r>
                    </a:p>
                  </a:txBody>
                  <a:tcPr marL="91440" marR="91440" marT="45720" marB="45720" anchor="ctr">
                    <a:solidFill>
                      <a:srgbClr val="0E2230"/>
                    </a:solidFill>
                  </a:tcPr>
                </a:tc>
              </a:tr>
              <a:tr h="633413"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Qwen 27B / Coder 7B</a:t>
                      </a:r>
                    </a:p>
                  </a:txBody>
                  <a:tcPr marL="91440" marR="91440" marT="45720" marB="45720" anchor="ctr">
                    <a:solidFill>
                      <a:srgbClr val="102938"/>
                    </a:solidFill>
                  </a:tcPr>
                </a:tc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Local planning and bounded code tasks</a:t>
                      </a:r>
                    </a:p>
                  </a:txBody>
                  <a:tcPr marL="91440" marR="91440" marT="45720" marB="45720" anchor="ctr">
                    <a:solidFill>
                      <a:srgbClr val="102938"/>
                    </a:solidFill>
                  </a:tcPr>
                </a:tc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Resource admission and recorded request results</a:t>
                      </a:r>
                    </a:p>
                  </a:txBody>
                  <a:tcPr marL="91440" marR="91440" marT="45720" marB="45720" anchor="ctr">
                    <a:solidFill>
                      <a:srgbClr val="102938"/>
                    </a:solidFill>
                  </a:tcPr>
                </a:tc>
              </a:tr>
              <a:tr h="633413"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Vision adapters</a:t>
                      </a:r>
                    </a:p>
                  </a:txBody>
                  <a:tcPr marL="91440" marR="91440" marT="45720" marB="45720" anchor="ctr">
                    <a:solidFill>
                      <a:srgbClr val="0E2230"/>
                    </a:solidFill>
                  </a:tcPr>
                </a:tc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Scene and frame screening</a:t>
                      </a:r>
                    </a:p>
                  </a:txBody>
                  <a:tcPr marL="91440" marR="91440" marT="45720" marB="45720" anchor="ctr">
                    <a:solidFill>
                      <a:srgbClr val="0E2230"/>
                    </a:solidFill>
                  </a:tcPr>
                </a:tc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Coverage, task context and separate quality review</a:t>
                      </a:r>
                    </a:p>
                  </a:txBody>
                  <a:tcPr marL="91440" marR="91440" marT="45720" marB="45720" anchor="ctr">
                    <a:solidFill>
                      <a:srgbClr val="0E2230"/>
                    </a:solidFill>
                  </a:tcPr>
                </a:tc>
              </a:tr>
              <a:tr h="633413"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Qwen3-TTS / Whisper / VAD</a:t>
                      </a:r>
                    </a:p>
                  </a:txBody>
                  <a:tcPr marL="91440" marR="91440" marT="45720" marB="45720" anchor="ctr">
                    <a:solidFill>
                      <a:srgbClr val="102938"/>
                    </a:solidFill>
                  </a:tcPr>
                </a:tc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Narration and timestamped speech analysis</a:t>
                      </a:r>
                    </a:p>
                  </a:txBody>
                  <a:tcPr marL="91440" marR="91440" marT="45720" marB="45720" anchor="ctr">
                    <a:solidFill>
                      <a:srgbClr val="102938"/>
                    </a:solidFill>
                  </a:tcPr>
                </a:tc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Voice rights, timing and intelligibility checks</a:t>
                      </a:r>
                    </a:p>
                  </a:txBody>
                  <a:tcPr marL="91440" marR="91440" marT="45720" marB="45720" anchor="ctr">
                    <a:solidFill>
                      <a:srgbClr val="102938"/>
                    </a:solidFill>
                  </a:tcPr>
                </a:tc>
              </a:tr>
              <a:tr h="633413"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ACE-Step / FFmpeg / CLAP</a:t>
                      </a:r>
                    </a:p>
                  </a:txBody>
                  <a:tcPr marL="91440" marR="91440" marT="45720" marB="45720" anchor="ctr">
                    <a:solidFill>
                      <a:srgbClr val="0E2230"/>
                    </a:solidFill>
                  </a:tcPr>
                </a:tc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Music, sound processing and semantic analysis</a:t>
                      </a:r>
                    </a:p>
                  </a:txBody>
                  <a:tcPr marL="91440" marR="91440" marT="45720" marB="45720" anchor="ctr">
                    <a:solidFill>
                      <a:srgbClr val="0E2230"/>
                    </a:solidFill>
                  </a:tcPr>
                </a:tc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Commercial model clearance and mix validation</a:t>
                      </a:r>
                    </a:p>
                  </a:txBody>
                  <a:tcPr marL="91440" marR="91440" marT="45720" marB="45720" anchor="ctr">
                    <a:solidFill>
                      <a:srgbClr val="0E2230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CB05FB1-5733-4945-AB26-766B30B48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10225"/>
            <a:ext cx="10972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1650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Replaceable baseline. MMAudio and AudioLDM remain research components pending rights and quality checks.</a:t>
            </a:r>
          </a:p>
        </p:txBody>
      </p:sp>
    </p:spTree>
    <p:extLst>
      <p:ext uri="{BB962C8B-B14F-4D97-AF65-F5344CB8AC3E}">
        <p14:creationId xmlns:p14="http://schemas.microsoft.com/office/powerpoint/2010/main" val="1772979675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08121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A939C30-76BA-4933-84E4-07C68179A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Cloud reasoning and local execution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2EC53D5-0B8B-4765-907D-0D02E2473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91275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rPr>
              <a:t>13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208F05A-FFA7-439F-BF74-73DBF08ED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28775"/>
            <a:ext cx="3429000" cy="923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675" b="1">
                <a:solidFill>
                  <a:srgbClr val="61A3FF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3675" b="1">
                <a:solidFill>
                  <a:srgbClr val="61A3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3675" b="1">
                <a:solidFill>
                  <a:srgbClr val="61A3FF"/>
                </a:solidFill>
                <a:latin typeface="Helvetica Neue"/>
                <a:ea typeface="Helvetica Neue"/>
                <a:cs typeface="Helvetica Neue"/>
              </a:rPr>
              <a:t>Fewer tokens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F0189AC-86C1-4D5F-B89F-1736F7375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95575"/>
            <a:ext cx="4191000" cy="1400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2100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Cloud models handle global planning. Local models and tools carry out routine production tasks.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6B1FBD6-341D-4F74-866A-4FA4D363A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9600"/>
            <a:ext cx="4191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1875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rPr>
              <a:t>Measure tokens, retries, human work and cost per accepted output on the same brief.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2406987-7539-4F0B-923F-C0047C35D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1695450"/>
            <a:ext cx="61722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C3C"/>
          </a:solidFill>
          <a:ln xmlns:a="http://schemas.openxmlformats.org/drawingml/2006/main" w="11430">
            <a:solidFill>
              <a:srgbClr val="397785"/>
            </a:solidFill>
          </a:ln>
        </p:spPr>
        <p:txBody>
          <a:bodyPr xmlns:a="http://schemas.openxmlformats.org/drawingml/2006/main" lIns="114300" tIns="114300" rIns="114300" bIns="1143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Station coordinator</a:t>
            </a:r>
          </a:p>
          <a:p xmlns:a="http://schemas.openxmlformats.org/drawingml/2006/main">
            <a:pPr algn="ctr">
              <a:buNone/>
              <a:defRPr sz="195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Queues, memory, validation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72E3348-D119-4AB3-9B5A-4786A34F2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3276600"/>
            <a:ext cx="293370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C3C"/>
          </a:solidFill>
          <a:ln xmlns:a="http://schemas.openxmlformats.org/drawingml/2006/main" w="11430">
            <a:solidFill>
              <a:srgbClr val="397785"/>
            </a:solidFill>
          </a:ln>
        </p:spPr>
        <p:txBody>
          <a:bodyPr xmlns:a="http://schemas.openxmlformats.org/drawingml/2006/main" wrap="square" lIns="114300" tIns="114300" rIns="114300" bIns="114300" anchor="ctr">
            <a:noAutofit/>
          </a:bodyPr>
          <a:lstStyle xmlns:a="http://schemas.openxmlformats.org/drawingml/2006/main">
            <a:defPPr algn="ctr">
              <a:defRPr sz="18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ctr">
              <a:buNone/>
              <a:defRPr sz="18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Planned DGX Spark</a:t>
            </a:r>
          </a:p>
          <a:p xmlns:a="http://schemas.openxmlformats.org/drawingml/2006/main">
            <a:pPr algn="ctr">
              <a:buNone/>
              <a:defRPr sz="18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Qwen and local AI stack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CE6A730-F772-465E-8980-A6E952438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3276600"/>
            <a:ext cx="293370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C3C"/>
          </a:solidFill>
          <a:ln xmlns:a="http://schemas.openxmlformats.org/drawingml/2006/main" w="11430">
            <a:solidFill>
              <a:srgbClr val="397785"/>
            </a:solidFill>
          </a:ln>
        </p:spPr>
        <p:txBody>
          <a:bodyPr xmlns:a="http://schemas.openxmlformats.org/drawingml/2006/main" lIns="114300" tIns="114300" rIns="114300" bIns="1143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Registered workers</a:t>
            </a:r>
          </a:p>
          <a:p xmlns:a="http://schemas.openxmlformats.org/drawingml/2006/main">
            <a:pPr algn="ctr">
              <a:buNone/>
              <a:defRPr sz="1725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Book coder + compute jobs</a:t>
            </a:r>
          </a:p>
        </p:txBody>
      </p:sp>
      <p:cxnSp>
        <p:nvCxn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04DB584-A50F-4A49-A11C-5AA7805F3F6C}"/>
              </a:ext>
            </a:extLst>
          </p:cNvPr>
          <p:cNvCxnSpPr>
            <a:stCxn xmlns:a="http://schemas.openxmlformats.org/drawingml/2006/main" id="6" idx="2"/>
            <a:endCxn xmlns:a="http://schemas.openxmlformats.org/drawingml/2006/main" id="7" idx="0"/>
          </p:cNvCxnSpPr>
          <p:nvPr/>
        </p:nvCxnSpPr>
        <p:spPr>
          <a:xfrm xmlns:a="http://schemas.openxmlformats.org/drawingml/2006/main" flipH="1">
            <a:off x="6877050" y="2571750"/>
            <a:ext cx="1619250" cy="70485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23813">
            <a:solidFill>
              <a:srgbClr val="56DBD0"/>
            </a:solidFill>
            <a:tailEnd type="arrow" w="med" len="med"/>
          </a:ln>
        </p:spPr>
      </p:cxnSp>
      <p:cxnSp>
        <p:nvCxn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9F39546-E25A-4AB7-B690-0F4C3E097F90}"/>
              </a:ext>
            </a:extLst>
          </p:cNvPr>
          <p:cNvCxnSpPr>
            <a:stCxn xmlns:a="http://schemas.openxmlformats.org/drawingml/2006/main" id="6" idx="2"/>
            <a:endCxn xmlns:a="http://schemas.openxmlformats.org/drawingml/2006/main" id="8" idx="0"/>
          </p:cNvCxnSpPr>
          <p:nvPr/>
        </p:nvCxnSpPr>
        <p:spPr>
          <a:xfrm xmlns:a="http://schemas.openxmlformats.org/drawingml/2006/main">
            <a:off x="8496300" y="2571750"/>
            <a:ext cx="1619250" cy="70485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23813">
            <a:solidFill>
              <a:srgbClr val="56DBD0"/>
            </a:solidFill>
            <a:tailEnd type="arrow" w="med" len="med"/>
          </a:ln>
        </p:spPr>
      </p:cxn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5715618-D1ED-42AB-9A4C-72503C0F5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4581525"/>
            <a:ext cx="61722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1950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Models can change with hardware and workload. Adapters preserve task schemas, validation and coordinator authority.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66EA466-F4CA-42B9-BF6E-3544FD521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76925"/>
            <a:ext cx="10972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1650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rPr>
              <a:t>External generation remains the initial path. Local generation is a planned, workload-tested option.</a:t>
            </a:r>
          </a:p>
        </p:txBody>
      </p:sp>
    </p:spTree>
    <p:extLst>
      <p:ext uri="{BB962C8B-B14F-4D97-AF65-F5344CB8AC3E}">
        <p14:creationId xmlns:p14="http://schemas.microsoft.com/office/powerpoint/2010/main" val="1038894536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08121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BE1342A-509C-474C-A884-9F3CDD13E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Configured production workflows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2CA787B-D8E5-4250-9BF8-1E9603ACB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91275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rPr>
              <a:t>14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2308F92-870E-4752-802D-2BAE0FEF0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14500"/>
            <a:ext cx="51911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Initial configuration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8C3D3AC-AA86-430D-BA15-88EC850CB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9800"/>
            <a:ext cx="5191125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21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Define a brand profile, sources, channels, schedule, budget and authorization rules before running a workflow.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9B40714-7EE2-4908-9CA4-91AD42EAF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1714500"/>
            <a:ext cx="51911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Autonomous operating target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8A9C864-61C5-420A-8873-C1D13EC29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2209800"/>
            <a:ext cx="5191125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21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The target loop researches, plans, produces and reviews content, then publishes through permitted interfaces.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0B7B89D-DDBE-4C7E-B1DD-E6A98F97B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57675"/>
            <a:ext cx="10953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62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262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62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Publication authorization and recovery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353A54A-8AC4-47EC-8882-1F17D02F6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72050"/>
            <a:ext cx="10953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21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Bind publication to the approved account and asset version. Reconcile interrupted operations before retrying.</a:t>
            </a:r>
          </a:p>
        </p:txBody>
      </p:sp>
    </p:spTree>
    <p:extLst>
      <p:ext uri="{BB962C8B-B14F-4D97-AF65-F5344CB8AC3E}">
        <p14:creationId xmlns:p14="http://schemas.microsoft.com/office/powerpoint/2010/main" val="1093032746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08121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47DEF6E-DAB5-4E4F-8EF6-066C7D952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First integrated YouTube run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98EB146-818B-473F-BAB7-76DB90B40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91275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rPr>
              <a:t>15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A8D0406-2E32-47DE-9BB2-890779B19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4200" b="1">
                <a:solidFill>
                  <a:srgbClr val="61A3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4200" b="1">
                <a:solidFill>
                  <a:srgbClr val="61A3FF"/>
                </a:solidFill>
                <a:latin typeface="Helvetica Neue"/>
                <a:ea typeface="Helvetica Neue"/>
                <a:cs typeface="Helvetica Neue"/>
              </a:rPr>
              <a:t>Days to two weeks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FBE7258-A362-476A-A134-D84FED88D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43175"/>
            <a:ext cx="10763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2100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Founder estimate from 8 October 2026, subject to integration and tests.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79EBFA0-40F6-4E9D-BAEA-E630DA274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29025"/>
            <a:ext cx="51911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Motion-graphics project presentation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10366AA-C4B1-416D-B622-6BBF43EDE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24325"/>
            <a:ext cx="5191125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202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Complete graphics, editing, audio, review and tokenization, then publish automatically to Vantemio’s official YouTube channel.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9F469B1-1ADD-4ADF-BD1B-FFD8FC7EB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3629025"/>
            <a:ext cx="51911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Repeatability before scale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AB3B05F-0F78-43CA-B179-789E965AB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4124325"/>
            <a:ext cx="5191125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202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Test recovery and output quality, record lessons and refine the next run before adding channels.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322F61C-E890-4D4B-93DE-22E6C9FA8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76925"/>
            <a:ext cx="109728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1725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rPr>
              <a:t>The full chain is not yet operational. Channel/API connection alone does not establish completed production.</a:t>
            </a:r>
          </a:p>
        </p:txBody>
      </p:sp>
    </p:spTree>
    <p:extLst>
      <p:ext uri="{BB962C8B-B14F-4D97-AF65-F5344CB8AC3E}">
        <p14:creationId xmlns:p14="http://schemas.microsoft.com/office/powerpoint/2010/main" val="1549367616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08121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96078DA-07C1-4B5B-82B5-055542187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Social-media operations across channels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2181633-C6F9-4658-8B7D-A42B650C0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91275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rPr>
              <a:t>16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B048D33-B063-4FD6-BCFC-1DE8A82FA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550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2550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550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YouTube, X, Facebook, Instagram</a:t>
            </a:r>
          </a:p>
          <a:p xmlns:a="http://schemas.openxmlformats.org/drawingml/2006/main">
            <a:pPr algn="l">
              <a:buNone/>
              <a:defRPr sz="2550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550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TikTok, Pinterest and LinkedIn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A594370-5668-467B-862B-A7FD3F96B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09900"/>
            <a:ext cx="51911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One content strategy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723994B-95E8-4898-9B87-D56AE9F6C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05200"/>
            <a:ext cx="5191125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Competitor research, audience hypotheses and a shared content plan guide platform-specific videos, posts and visual assets.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CEAD396-3CD4-43B9-AEC4-C8A69C9E7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3009900"/>
            <a:ext cx="51911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A measured feedback cycle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E3A725E-B259-494B-9C61-B2B59F61A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3505200"/>
            <a:ext cx="5191125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Analyze response to published content, identify effective topics and formats, and adjust subsequent production and scheduling.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87DBDBE-83B3-4FD5-8E95-FE2DA603D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1975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195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Working starting point: YouTube competitor analysis. Cross-platform publishing and feedback integration are planned.</a:t>
            </a:r>
          </a:p>
        </p:txBody>
      </p:sp>
    </p:spTree>
    <p:extLst>
      <p:ext uri="{BB962C8B-B14F-4D97-AF65-F5344CB8AC3E}">
        <p14:creationId xmlns:p14="http://schemas.microsoft.com/office/powerpoint/2010/main" val="1673122273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08121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FA3F543-9EFB-4739-ADC8-5596E92D3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Planned customer-owned generation connections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6376639-510C-45C3-82CB-3E66928F4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91275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rPr>
              <a:t>17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63E8F37-F8EC-4AFE-AC5B-E0D8C7F95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33147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C3C"/>
          </a:solidFill>
          <a:ln xmlns:a="http://schemas.openxmlformats.org/drawingml/2006/main" w="11430">
            <a:solidFill>
              <a:srgbClr val="397785"/>
            </a:solidFill>
          </a:ln>
        </p:spPr>
        <p:txBody>
          <a:bodyPr xmlns:a="http://schemas.openxmlformats.org/drawingml/2006/main" lIns="114300" tIns="114300" rIns="114300" bIns="1143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Customer-owned</a:t>
            </a:r>
          </a:p>
          <a:p xmlns:a="http://schemas.openxmlformats.org/drawingml/2006/main">
            <a:pPr algn="ctr">
              <a:buNone/>
              <a:defRPr sz="1875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provider accounts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660C0C0-984E-4D5B-9001-E03C86E8D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1981200"/>
            <a:ext cx="33147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C3C"/>
          </a:solidFill>
          <a:ln xmlns:a="http://schemas.openxmlformats.org/drawingml/2006/main" w="11430">
            <a:solidFill>
              <a:srgbClr val="397785"/>
            </a:solidFill>
          </a:ln>
        </p:spPr>
        <p:txBody>
          <a:bodyPr xmlns:a="http://schemas.openxmlformats.org/drawingml/2006/main" lIns="114300" tIns="114300" rIns="114300" bIns="1143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Supported MCP / API</a:t>
            </a:r>
          </a:p>
          <a:p xmlns:a="http://schemas.openxmlformats.org/drawingml/2006/main">
            <a:pPr algn="ctr">
              <a:buNone/>
              <a:defRPr sz="1875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connections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1990C08-5F9B-40BF-920B-137CA2651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1981200"/>
            <a:ext cx="33147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C3C"/>
          </a:solidFill>
          <a:ln xmlns:a="http://schemas.openxmlformats.org/drawingml/2006/main" w="11430">
            <a:solidFill>
              <a:srgbClr val="397785"/>
            </a:solidFill>
          </a:ln>
        </p:spPr>
        <p:txBody>
          <a:bodyPr xmlns:a="http://schemas.openxmlformats.org/drawingml/2006/main" lIns="114300" tIns="114300" rIns="114300" bIns="1143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Vantemio planning,</a:t>
            </a:r>
          </a:p>
          <a:p xmlns:a="http://schemas.openxmlformats.org/drawingml/2006/main">
            <a:pPr algn="ctr">
              <a:buNone/>
              <a:defRPr sz="1875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editing and delivery</a:t>
            </a:r>
          </a:p>
        </p:txBody>
      </p:sp>
      <p:cxnSp>
        <p:nvCxn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5CCF884-5945-48D2-BEAE-8F0636E5DD12}"/>
              </a:ext>
            </a:extLst>
          </p:cNvPr>
          <p:cNvCxnSpPr>
            <a:stCxn xmlns:a="http://schemas.openxmlformats.org/drawingml/2006/main" id="3" idx="3"/>
            <a:endCxn xmlns:a="http://schemas.openxmlformats.org/drawingml/2006/main" id="4" idx="1"/>
          </p:cNvCxnSpPr>
          <p:nvPr/>
        </p:nvCxnSpPr>
        <p:spPr>
          <a:xfrm xmlns:a="http://schemas.openxmlformats.org/drawingml/2006/main">
            <a:off x="3924300" y="2543175"/>
            <a:ext cx="51435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56DBD0"/>
            </a:solidFill>
            <a:tailEnd type="arrow" w="med" len="med"/>
          </a:ln>
        </p:spPr>
      </p:cxnSp>
      <p:cxnSp>
        <p:nvCxn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D1CEDF1-36AE-4FAA-BFCE-1B10DF458153}"/>
              </a:ext>
            </a:extLst>
          </p:cNvPr>
          <p:cNvCxnSpPr>
            <a:stCxn xmlns:a="http://schemas.openxmlformats.org/drawingml/2006/main" id="4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>
            <a:off x="7753350" y="2543175"/>
            <a:ext cx="51435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56DBD0"/>
            </a:solidFill>
            <a:tailEnd type="arrow" w="med" len="med"/>
          </a:ln>
        </p:spPr>
      </p:cxn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6EEA0E9-EE74-45FD-A58C-75DC100ED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48100"/>
            <a:ext cx="51911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Customer expense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89566B4-9A2C-4C77-A291-A79584472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43400"/>
            <a:ext cx="5191125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202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Customers use their own permitted generation access. Provider compatibility, billing and account isolation need validation.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6F019E4-B6AA-40D9-9745-60944C06B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3848100"/>
            <a:ext cx="51911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Vantemio expense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BA6D3B2-F334-4BFC-9F11-ED7C31176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4343400"/>
            <a:ext cx="5191125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202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Vantemio pays for its own tests and content. Runtime calls, rendering and storage remain separate operating costs.</a:t>
            </a:r>
          </a:p>
        </p:txBody>
      </p:sp>
    </p:spTree>
    <p:extLst>
      <p:ext uri="{BB962C8B-B14F-4D97-AF65-F5344CB8AC3E}">
        <p14:creationId xmlns:p14="http://schemas.microsoft.com/office/powerpoint/2010/main" val="393946003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08121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DDF5918-14E9-4628-8BDC-794485E64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Future product delivery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CAE9053-FB2B-4F80-86C2-96973A4E7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91275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rPr>
              <a:t>18</a:t>
            </a:r>
          </a:p>
        </p:txBody>
      </p:sp>
      <p:graphicFrame>
        <p:nvGraphicFrame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8C57A05-2EFF-4D4E-BBBF-83E484F8CD02}"/>
              </a:ext>
            </a:extLst>
          </p:cNvPr>
          <p:cNvGraphicFramePr/>
          <p:nvPr/>
        </p:nvGraphicFramePr>
        <p:xfrm>
          <a:off xmlns:a="http://schemas.openxmlformats.org/drawingml/2006/main" x="609600" y="1762125"/>
          <a:ext xmlns:a="http://schemas.openxmlformats.org/drawingml/2006/main" cx="10972800" cy="34290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571750"/>
                <a:gridCol w="4095750"/>
                <a:gridCol w="4305300"/>
              </a:tblGrid>
              <a:tr h="685800"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800" b="1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Format</a:t>
                      </a:r>
                    </a:p>
                  </a:txBody>
                  <a:tcPr marL="91440" marR="91440" marT="45720" marB="45720" anchor="ctr">
                    <a:solidFill>
                      <a:srgbClr val="12384C"/>
                    </a:solidFill>
                  </a:tcPr>
                </a:tc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800" b="1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Customer value</a:t>
                      </a:r>
                    </a:p>
                  </a:txBody>
                  <a:tcPr marL="91440" marR="91440" marT="45720" marB="45720" anchor="ctr">
                    <a:solidFill>
                      <a:srgbClr val="12384C"/>
                    </a:solidFill>
                  </a:tcPr>
                </a:tc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800" b="1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Development direction</a:t>
                      </a:r>
                    </a:p>
                  </a:txBody>
                  <a:tcPr marL="91440" marR="91440" marT="45720" marB="45720" anchor="ctr">
                    <a:solidFill>
                      <a:srgbClr val="12384C"/>
                    </a:solidFill>
                  </a:tcPr>
                </a:tc>
              </a:tr>
              <a:tr h="685800"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Vantemio Home</a:t>
                      </a:r>
                    </a:p>
                  </a:txBody>
                  <a:tcPr marL="91440" marR="91440" marT="45720" marB="45720" anchor="ctr">
                    <a:solidFill>
                      <a:srgbClr val="0E2230"/>
                    </a:solidFill>
                  </a:tcPr>
                </a:tc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Run on customer-owned hardware</a:t>
                      </a:r>
                    </a:p>
                  </a:txBody>
                  <a:tcPr marL="91440" marR="91440" marT="45720" marB="45720" anchor="ctr">
                    <a:solidFill>
                      <a:srgbClr val="0E2230"/>
                    </a:solidFill>
                  </a:tcPr>
                </a:tc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Installer, licensing and supported workflows</a:t>
                      </a:r>
                    </a:p>
                  </a:txBody>
                  <a:tcPr marL="91440" marR="91440" marT="45720" marB="45720" anchor="ctr">
                    <a:solidFill>
                      <a:srgbClr val="0E2230"/>
                    </a:solidFill>
                  </a:tcPr>
                </a:tc>
              </a:tr>
              <a:tr h="685800"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Vantemio Cloud</a:t>
                      </a:r>
                    </a:p>
                  </a:txBody>
                  <a:tcPr marL="91440" marR="91440" marT="45720" marB="45720" anchor="ctr">
                    <a:solidFill>
                      <a:srgbClr val="102938"/>
                    </a:solidFill>
                  </a:tcPr>
                </a:tc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Use heavy compute through a laptop client</a:t>
                      </a:r>
                    </a:p>
                  </a:txBody>
                  <a:tcPr marL="91440" marR="91440" marT="45720" marB="45720" anchor="ctr">
                    <a:solidFill>
                      <a:srgbClr val="102938"/>
                    </a:solidFill>
                  </a:tcPr>
                </a:tc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Isolation, quotas, delivery and recovery</a:t>
                      </a:r>
                    </a:p>
                  </a:txBody>
                  <a:tcPr marL="91440" marR="91440" marT="45720" marB="45720" anchor="ctr">
                    <a:solidFill>
                      <a:srgbClr val="102938"/>
                    </a:solidFill>
                  </a:tcPr>
                </a:tc>
              </a:tr>
              <a:tr h="685800"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Developer API</a:t>
                      </a:r>
                    </a:p>
                  </a:txBody>
                  <a:tcPr marL="91440" marR="91440" marT="45720" marB="45720" anchor="ctr">
                    <a:solidFill>
                      <a:srgbClr val="0E2230"/>
                    </a:solidFill>
                  </a:tcPr>
                </a:tc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Build applications around jobs and results</a:t>
                      </a:r>
                    </a:p>
                  </a:txBody>
                  <a:tcPr marL="91440" marR="91440" marT="45720" marB="45720" anchor="ctr">
                    <a:solidFill>
                      <a:srgbClr val="0E2230"/>
                    </a:solidFill>
                  </a:tcPr>
                </a:tc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External interfaces, examples and validation</a:t>
                      </a:r>
                    </a:p>
                  </a:txBody>
                  <a:tcPr marL="91440" marR="91440" marT="45720" marB="45720" anchor="ctr">
                    <a:solidFill>
                      <a:srgbClr val="0E2230"/>
                    </a:solidFill>
                  </a:tcPr>
                </a:tc>
              </a:tr>
              <a:tr h="685800"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Business deployment</a:t>
                      </a:r>
                    </a:p>
                  </a:txBody>
                  <a:tcPr marL="91440" marR="91440" marT="45720" marB="45720" anchor="ctr">
                    <a:solidFill>
                      <a:srgbClr val="102938"/>
                    </a:solidFill>
                  </a:tcPr>
                </a:tc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Adapt to agency or enterprise workflows</a:t>
                      </a:r>
                    </a:p>
                  </a:txBody>
                  <a:tcPr marL="91440" marR="91440" marT="45720" marB="45720" anchor="ctr">
                    <a:solidFill>
                      <a:srgbClr val="102938"/>
                    </a:solidFill>
                  </a:tcPr>
                </a:tc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Domain rules and private/hybrid configuration</a:t>
                      </a:r>
                    </a:p>
                  </a:txBody>
                  <a:tcPr marL="91440" marR="91440" marT="45720" marB="45720" anchor="ctr">
                    <a:solidFill>
                      <a:srgbClr val="102938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D42AB74-E684-45AA-948A-F4F1E03B3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00700"/>
            <a:ext cx="10953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18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Selected modules are public today. A limited installable release and commercial extensions are planned.</a:t>
            </a:r>
          </a:p>
        </p:txBody>
      </p:sp>
    </p:spTree>
    <p:extLst>
      <p:ext uri="{BB962C8B-B14F-4D97-AF65-F5344CB8AC3E}">
        <p14:creationId xmlns:p14="http://schemas.microsoft.com/office/powerpoint/2010/main" val="1239964537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08121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DDF5918-14E9-4628-8BDC-794485E64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Deployment profiles in development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CAE9053-FB2B-4F80-86C2-96973A4E7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91275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rPr>
              <a:t>19</a:t>
            </a:r>
          </a:p>
        </p:txBody>
      </p:sp>
      <p:graphicFrame>
        <p:nvGraphicFrame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8C57A05-2EFF-4D4E-BBBF-83E484F8CD02}"/>
              </a:ext>
            </a:extLst>
          </p:cNvPr>
          <p:cNvGraphicFramePr/>
          <p:nvPr/>
        </p:nvGraphicFramePr>
        <p:xfrm>
          <a:off xmlns:a="http://schemas.openxmlformats.org/drawingml/2006/main" x="609600" y="1762125"/>
          <a:ext xmlns:a="http://schemas.openxmlformats.org/drawingml/2006/main" cx="10972800" cy="34290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428875"/>
                <a:gridCol w="4333875"/>
                <a:gridCol w="4210050"/>
              </a:tblGrid>
              <a:tr h="685800"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Profile</a:t>
                      </a:r>
                    </a:p>
                  </a:txBody>
                  <a:tcPr marL="91440" marR="91440" marT="45720" marB="45720" anchor="ctr">
                    <a:solidFill>
                      <a:srgbClr val="12384C"/>
                    </a:solidFill>
                  </a:tcPr>
                </a:tc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Where work runs</a:t>
                      </a:r>
                    </a:p>
                  </a:txBody>
                  <a:tcPr marL="91440" marR="91440" marT="45720" marB="45720" anchor="ctr">
                    <a:solidFill>
                      <a:srgbClr val="12384C"/>
                    </a:solidFill>
                  </a:tcPr>
                </a:tc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Preparation</a:t>
                      </a:r>
                    </a:p>
                  </a:txBody>
                  <a:tcPr marL="91440" marR="91440" marT="45720" marB="45720" anchor="ctr">
                    <a:solidFill>
                      <a:srgbClr val="12384C"/>
                    </a:solidFill>
                  </a:tcPr>
                </a:tc>
              </a:tr>
              <a:tr h="685800"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Home</a:t>
                      </a:r>
                    </a:p>
                  </a:txBody>
                  <a:tcPr marL="91440" marR="91440" marT="45720" marB="45720" anchor="ctr">
                    <a:solidFill>
                      <a:srgbClr val="0E2230"/>
                    </a:solidFill>
                  </a:tcPr>
                </a:tc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Customer station and registered devices</a:t>
                      </a:r>
                    </a:p>
                  </a:txBody>
                  <a:tcPr marL="91440" marR="91440" marT="45720" marB="45720" anchor="ctr">
                    <a:solidFill>
                      <a:srgbClr val="0E2230"/>
                    </a:solidFill>
                  </a:tcPr>
                </a:tc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Installer, models, licensing and hardware tests</a:t>
                      </a:r>
                    </a:p>
                  </a:txBody>
                  <a:tcPr marL="91440" marR="91440" marT="45720" marB="45720" anchor="ctr">
                    <a:solidFill>
                      <a:srgbClr val="0E2230"/>
                    </a:solidFill>
                  </a:tcPr>
                </a:tc>
              </a:tr>
              <a:tr h="685800"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Cloud</a:t>
                      </a:r>
                    </a:p>
                  </a:txBody>
                  <a:tcPr marL="91440" marR="91440" marT="45720" marB="45720" anchor="ctr">
                    <a:solidFill>
                      <a:srgbClr val="102938"/>
                    </a:solidFill>
                  </a:tcPr>
                </a:tc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Vantemio compute; laptop client</a:t>
                      </a:r>
                    </a:p>
                  </a:txBody>
                  <a:tcPr marL="91440" marR="91440" marT="45720" marB="45720" anchor="ctr">
                    <a:solidFill>
                      <a:srgbClr val="102938"/>
                    </a:solidFill>
                  </a:tcPr>
                </a:tc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Tenant isolation, quotas, storage and recovery</a:t>
                      </a:r>
                    </a:p>
                  </a:txBody>
                  <a:tcPr marL="91440" marR="91440" marT="45720" marB="45720" anchor="ctr">
                    <a:solidFill>
                      <a:srgbClr val="102938"/>
                    </a:solidFill>
                  </a:tcPr>
                </a:tc>
              </a:tr>
              <a:tr h="685800"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Hybrid</a:t>
                      </a:r>
                    </a:p>
                  </a:txBody>
                  <a:tcPr marL="91440" marR="91440" marT="45720" marB="45720" anchor="ctr">
                    <a:solidFill>
                      <a:srgbClr val="0E2230"/>
                    </a:solidFill>
                  </a:tcPr>
                </a:tc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Agreed local and cloud routes</a:t>
                      </a:r>
                    </a:p>
                  </a:txBody>
                  <a:tcPr marL="91440" marR="91440" marT="45720" marB="45720" anchor="ctr">
                    <a:solidFill>
                      <a:srgbClr val="0E2230"/>
                    </a:solidFill>
                  </a:tcPr>
                </a:tc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Permissions, data transfers and cost accounting</a:t>
                      </a:r>
                    </a:p>
                  </a:txBody>
                  <a:tcPr marL="91440" marR="91440" marT="45720" marB="45720" anchor="ctr">
                    <a:solidFill>
                      <a:srgbClr val="0E2230"/>
                    </a:solidFill>
                  </a:tcPr>
                </a:tc>
              </a:tr>
              <a:tr h="685800"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Private enterprise</a:t>
                      </a:r>
                    </a:p>
                  </a:txBody>
                  <a:tcPr marL="91440" marR="91440" marT="45720" marB="45720" anchor="ctr">
                    <a:solidFill>
                      <a:srgbClr val="102938"/>
                    </a:solidFill>
                  </a:tcPr>
                </a:tc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Principal reasoning and production on own servers</a:t>
                      </a:r>
                    </a:p>
                  </a:txBody>
                  <a:tcPr marL="91440" marR="91440" marT="45720" marB="45720" anchor="ctr">
                    <a:solidFill>
                      <a:srgbClr val="102938"/>
                    </a:solidFill>
                  </a:tcPr>
                </a:tc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Permitted models, private updates and no cloud fallback</a:t>
                      </a:r>
                    </a:p>
                  </a:txBody>
                  <a:tcPr marL="91440" marR="91440" marT="45720" marB="45720" anchor="ctr">
                    <a:solidFill>
                      <a:srgbClr val="102938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D42AB74-E684-45AA-948A-F4F1E03B3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00700"/>
            <a:ext cx="10953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2250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Home design baseline: RTX 5070 Ti 16 GB, 32 GB RAM, 1 TB SSD and an additional production device.</a:t>
            </a:r>
          </a:p>
        </p:txBody>
      </p:sp>
    </p:spTree>
    <p:extLst>
      <p:ext uri="{BB962C8B-B14F-4D97-AF65-F5344CB8AC3E}">
        <p14:creationId xmlns:p14="http://schemas.microsoft.com/office/powerpoint/2010/main" val="1239964537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08121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AE3FD64-C69B-40B8-8CAA-E3FD82322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Planned workflows for marketing agencies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24AE3CC-650C-4683-BEEF-3C09AB4F3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91275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rPr>
              <a:t>20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C85C509-46A0-4935-96D9-8607F75FB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14500"/>
            <a:ext cx="51911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Configure each client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1068369-ED80-4689-92BC-A54A37514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9800"/>
            <a:ext cx="5191125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Brand rules, target audience, approved sources, service accounts, campaign goals and review policy.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C36F3B9-881E-4E5C-B936-EC22DF5F8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1714500"/>
            <a:ext cx="51911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Run recurring production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5361E38-A5CF-4B7E-ADE1-467A28B8F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2209800"/>
            <a:ext cx="5191125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Prepare content calendars, scripts, videos and posts; schedule publication and coordinate channel-specific execution.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06D6541-E990-45D9-9885-5D5343D4A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29050"/>
            <a:ext cx="51911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Measure and improve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BF28F58-0361-4211-B1C1-D3A5E4071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24350"/>
            <a:ext cx="5191125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Compare audience response, content performance and campaign results. Update the next content cycle.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AE02F52-30B3-40BF-AFB7-45810F5C7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3829050"/>
            <a:ext cx="51911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Expand the workflow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5B6788C-835F-4BF6-BCAE-B3C627630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4324350"/>
            <a:ext cx="5191125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Add SEO planning, campaign analysis and related digital-service tasks through dedicated adapters and validation rules.</a:t>
            </a:r>
          </a:p>
        </p:txBody>
      </p:sp>
    </p:spTree>
    <p:extLst>
      <p:ext uri="{BB962C8B-B14F-4D97-AF65-F5344CB8AC3E}">
        <p14:creationId xmlns:p14="http://schemas.microsoft.com/office/powerpoint/2010/main" val="597182969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08121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D7C682E-DBD3-4C02-A60E-E6F203256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33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33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Extensions built around one core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9CD4E0D-B9A5-4FB4-9C18-3A0EA9F28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91275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B5C4C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B5C4CD"/>
                </a:solidFill>
                <a:latin typeface="Helvetica Neue"/>
                <a:ea typeface="Helvetica Neue"/>
                <a:cs typeface="Helvetica Neue"/>
              </a:rPr>
              <a:t>21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9C2F57A-6A21-45F6-9F24-DDD92A9B4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109537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9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New services reuse the same operating pattern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4CE89B9-F8DB-4776-A053-8DFBD6E7D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76550"/>
            <a:ext cx="10953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00" b="0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2400" b="0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0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Task intake, planning, execution, review, delivery and recorded experience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CD5AEC8-8F88-44DA-8478-9C7B5D245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00550"/>
            <a:ext cx="51911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Potential applications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4FA46DE-7327-4FD5-907D-BEF73E50C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95850"/>
            <a:ext cx="5191125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2025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Marketing, CRM, studios and other digital-service businesses. Travel workflows remain a later domain example.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440651C-602D-4F51-81F1-FE8A0BA48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4400550"/>
            <a:ext cx="51911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How the engine expands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B722C76-B640-4EDE-B999-9511987C0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4895850"/>
            <a:ext cx="5191125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2025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Each extension adds domain knowledge, connectors, execution rules and acceptance tests around the core.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755C09E-2F98-4847-9BF8-3C22CD21A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6265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65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165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rPr>
              <a:t>Later research: a loyalty token for rewards and service access, outside the current funding source.</a:t>
            </a:r>
          </a:p>
        </p:txBody>
      </p:sp>
    </p:spTree>
    <p:extLst>
      <p:ext uri="{BB962C8B-B14F-4D97-AF65-F5344CB8AC3E}">
        <p14:creationId xmlns:p14="http://schemas.microsoft.com/office/powerpoint/2010/main" val="688205702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08121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98B9BD4-84A8-4881-B5B8-E38AAF26F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Base tokenization and Boson commerce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600131A-6C02-4CAC-9B07-37054C5D2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91275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rPr>
              <a:t>22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F0C1C1B-37E9-413A-93D8-7284A644A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51911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Content registration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E59B898-6506-491D-A529-71E4CDDDE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14550"/>
            <a:ext cx="5191125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18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Historical testnet demos bind an accepted file hash, recipient and terms to a content passport.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AC201FD-0383-4489-B280-F6AA8F993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1619250"/>
            <a:ext cx="51911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Commercial exchange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15EAC2B-5D86-4DE5-9EFF-E293B5EA4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2114550"/>
            <a:ext cx="5191125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18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Boson manages offers, vouchers, exchange states and dispute deadlines. Production has separate states.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F5434F7-4249-4979-A658-50C934D8D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33775"/>
            <a:ext cx="51911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Studio-service orders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EBF68DF-3FCD-4052-9BC1-3B8B76E72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29075"/>
            <a:ext cx="5191125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18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The planned workflow connects a buyer brief, admitted Studio tasks, result review and the order version.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7800FB5-330B-45F7-9004-48CDDE5FD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3533775"/>
            <a:ext cx="51911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Protected delivery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042E2BE-6887-4D01-99BF-4390D9B10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4029075"/>
            <a:ext cx="5191125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18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Vantemio checks entitlement and asset identity before granting limited access to private files.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C941243-F050-4951-B93A-ED9E79673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29275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The content passport identifies the asset. The Boson NFT represents its commercial exchange.</a:t>
            </a:r>
          </a:p>
        </p:txBody>
      </p:sp>
    </p:spTree>
    <p:extLst>
      <p:ext uri="{BB962C8B-B14F-4D97-AF65-F5344CB8AC3E}">
        <p14:creationId xmlns:p14="http://schemas.microsoft.com/office/powerpoint/2010/main" val="1401585329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08121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2A11F37-9DD5-4F0A-AB9E-529CDB885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Tokenization, provenance and rights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3655EA4-DD8F-44AC-9F37-944A0E94B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91275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rPr>
              <a:t>23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1C5346A-EFEB-4E58-A920-9B2A8A992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57375"/>
            <a:ext cx="33147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C3C"/>
          </a:solidFill>
          <a:ln xmlns:a="http://schemas.openxmlformats.org/drawingml/2006/main" w="11430">
            <a:solidFill>
              <a:srgbClr val="397785"/>
            </a:solidFill>
          </a:ln>
        </p:spPr>
        <p:txBody>
          <a:bodyPr xmlns:a="http://schemas.openxmlformats.org/drawingml/2006/main" lIns="114300" tIns="114300" rIns="114300" bIns="1143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Accepted video</a:t>
            </a:r>
          </a:p>
          <a:p xmlns:a="http://schemas.openxmlformats.org/drawingml/2006/main">
            <a:pPr algn="ctr">
              <a:buNone/>
              <a:defRPr sz="1875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Exact asset hash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9113657-68BD-43C4-A5FD-C5C8919BD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1857375"/>
            <a:ext cx="33147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C3C"/>
          </a:solidFill>
          <a:ln xmlns:a="http://schemas.openxmlformats.org/drawingml/2006/main" w="11430">
            <a:solidFill>
              <a:srgbClr val="397785"/>
            </a:solidFill>
          </a:ln>
        </p:spPr>
        <p:txBody>
          <a:bodyPr xmlns:a="http://schemas.openxmlformats.org/drawingml/2006/main" lIns="114300" tIns="114300" rIns="114300" bIns="1143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Content passport</a:t>
            </a:r>
          </a:p>
          <a:p xmlns:a="http://schemas.openxmlformats.org/drawingml/2006/main">
            <a:pPr algn="ctr">
              <a:buNone/>
              <a:defRPr sz="1875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Base Sepolia demo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ACCB55C-135B-47DB-9DAB-A8CE15D17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1857375"/>
            <a:ext cx="33147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C3C"/>
          </a:solidFill>
          <a:ln xmlns:a="http://schemas.openxmlformats.org/drawingml/2006/main" w="11430">
            <a:solidFill>
              <a:srgbClr val="397785"/>
            </a:solidFill>
          </a:ln>
        </p:spPr>
        <p:txBody>
          <a:bodyPr xmlns:a="http://schemas.openxmlformats.org/drawingml/2006/main" lIns="114300" tIns="114300" rIns="114300" bIns="1143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Owner / recipient</a:t>
            </a:r>
          </a:p>
          <a:p xmlns:a="http://schemas.openxmlformats.org/drawingml/2006/main">
            <a:pPr algn="ctr">
              <a:buNone/>
              <a:defRPr sz="1875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and attached terms</a:t>
            </a:r>
          </a:p>
        </p:txBody>
      </p:sp>
      <p:cxnSp>
        <p:nvCxn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E209161-4F51-49AD-A264-499152218C4E}"/>
              </a:ext>
            </a:extLst>
          </p:cNvPr>
          <p:cNvCxnSpPr>
            <a:stCxn xmlns:a="http://schemas.openxmlformats.org/drawingml/2006/main" id="3" idx="3"/>
            <a:endCxn xmlns:a="http://schemas.openxmlformats.org/drawingml/2006/main" id="4" idx="1"/>
          </p:cNvCxnSpPr>
          <p:nvPr/>
        </p:nvCxnSpPr>
        <p:spPr>
          <a:xfrm xmlns:a="http://schemas.openxmlformats.org/drawingml/2006/main">
            <a:off x="3924300" y="2381250"/>
            <a:ext cx="51435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56DBD0"/>
            </a:solidFill>
            <a:tailEnd type="arrow" w="med" len="med"/>
          </a:ln>
        </p:spPr>
      </p:cxnSp>
      <p:cxnSp>
        <p:nvCxn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5FCD57A-6904-434B-B3B8-07EC0F38CF24}"/>
              </a:ext>
            </a:extLst>
          </p:cNvPr>
          <p:cNvCxnSpPr>
            <a:stCxn xmlns:a="http://schemas.openxmlformats.org/drawingml/2006/main" id="4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>
            <a:off x="7753350" y="2381250"/>
            <a:ext cx="51435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56DBD0"/>
            </a:solidFill>
            <a:tailEnd type="arrow" w="med" len="med"/>
          </a:ln>
        </p:spPr>
      </p:cxn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3EA1F6D-02DD-45AE-B91A-37B7C58C9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09975"/>
            <a:ext cx="51911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Version-specific provenance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830B2A1-4B58-4204-BCEF-A0DFEC287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05275"/>
            <a:ext cx="5191125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202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A digest links exact file bytes to a provenance record. Revised assets retain their earlier version history.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73E03F8-1AF4-4227-B6D8-140607A83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3609975"/>
            <a:ext cx="51911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Rights and attribution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999D157-120B-4226-984E-8F7604855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4105275"/>
            <a:ext cx="5191125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202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The licence defines use and transfer rights. A content record references attribution, terms and entitled recipients.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3361239-1369-4CD5-894E-B9DBAB518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5375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rPr>
              <a:t>Token ownership and onchain attribution do not by themselves prove authorship or transfer copyright.</a:t>
            </a:r>
          </a:p>
        </p:txBody>
      </p:sp>
    </p:spTree>
    <p:extLst>
      <p:ext uri="{BB962C8B-B14F-4D97-AF65-F5344CB8AC3E}">
        <p14:creationId xmlns:p14="http://schemas.microsoft.com/office/powerpoint/2010/main" val="239742953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08121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F6E19B7-9592-4F33-9C60-9D2D70884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Planned copyright checks for uploaded media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21E84CE-A21A-455F-BD32-39C116CFD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91275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rPr>
              <a:t>24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575DDBD-02A9-4D78-A69D-40390834B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51911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Original content and rights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4206FFE-8641-4501-B1C9-089EAD31E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14550"/>
            <a:ext cx="5191125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Require uploaders to identify the source and provide ownership or licensing evidence for externally created videos and their components.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BBDB506-62B6-4492-B15F-2017F87F6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1619250"/>
            <a:ext cx="51911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Audio and visual matching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BC617BE-5F1D-4488-AB6E-292DD875B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2114550"/>
            <a:ext cx="5191125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Screen external uploads through available fingerprinting services. Consider YouTube Content ID only where approved access and permitted workflows allow it.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070E648-FB5A-4413-8477-ECD2DD4D3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43325"/>
            <a:ext cx="51911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Block unauthorized reuse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8D4FE61-426A-4334-80C9-899AC7902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38625"/>
            <a:ext cx="5191125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Prohibit unauthorized copying, clipping and remixing. Hold flagged or unresolved uploads before editing, publication, tokenization or marketplace delivery.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C1B139F-DD23-4046-B760-93E9807D5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3743325"/>
            <a:ext cx="51911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Review and record decisions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65D8B88-A6D1-4575-B67F-54ADF600D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4238625"/>
            <a:ext cx="5191125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Review disputed matches and rights evidence. Retain the source, asset hash, check results and decision for each accepted version.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CD46320-AD74-4DEF-912A-AB601A59A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rPr>
              <a:t>Planned safeguards. Matching can miss content or flag licensed use; no complete copyright guarantee.</a:t>
            </a:r>
          </a:p>
        </p:txBody>
      </p:sp>
    </p:spTree>
    <p:extLst>
      <p:ext uri="{BB962C8B-B14F-4D97-AF65-F5344CB8AC3E}">
        <p14:creationId xmlns:p14="http://schemas.microsoft.com/office/powerpoint/2010/main" val="2088577602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08121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A3417D0-C3B9-4A80-BBB1-FF4AAB2EE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Vantemio Market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74E7BA7-BA9F-4B2D-BF72-5FCA4556C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91275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rPr>
              <a:t>25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0D0597F-0DE5-4A96-9B90-6252135E2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14500"/>
            <a:ext cx="51911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Vantemio as the first seller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A12C686-CF73-4BA1-AF1F-457FD6832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9800"/>
            <a:ext cx="5191125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2100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Own motion scenes, infographics, audio materials, Blender assets, templates and effects, with distribution rights verified.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9A3DE33-E142-49A3-8AAB-D256CE31E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1714500"/>
            <a:ext cx="51911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Ready-made goods and custom work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4931672-D587-4701-B6C3-8EC06A911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2209800"/>
            <a:ext cx="5191125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2100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Buy a defined package or commission editing, graphics and audio. Each order specifies contents, licence and delivery terms.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96A4B2D-1BB6-48E2-B43B-C87F0C9E6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29100"/>
            <a:ext cx="10858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7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27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7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Independent sellers and broader commerce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96AB70C-C868-424F-BF84-AC97D6E7E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62525"/>
            <a:ext cx="108585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21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Seller onboarding, storefronts and support follow the initial catalog. Physical goods require separate shipping and return workflows.</a:t>
            </a:r>
          </a:p>
        </p:txBody>
      </p:sp>
    </p:spTree>
    <p:extLst>
      <p:ext uri="{BB962C8B-B14F-4D97-AF65-F5344CB8AC3E}">
        <p14:creationId xmlns:p14="http://schemas.microsoft.com/office/powerpoint/2010/main" val="1974109198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08121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9BAAB83-14B4-45CD-9CED-4A2994A55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Service fulfillment sequence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2F7BC0C-8451-41A1-A86C-23D61B936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91275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rPr>
              <a:t>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02D51DF-417A-4359-B213-A57538F7E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19275"/>
            <a:ext cx="33147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C3C"/>
          </a:solidFill>
          <a:ln xmlns:a="http://schemas.openxmlformats.org/drawingml/2006/main" w="11430">
            <a:solidFill>
              <a:srgbClr val="397785"/>
            </a:solidFill>
          </a:ln>
        </p:spPr>
        <p:txBody>
          <a:bodyPr xmlns:a="http://schemas.openxmlformats.org/drawingml/2006/main" wrap="square" lIns="114300" tIns="114300" rIns="114300" bIns="114300" anchor="ctr">
            <a:noAutofit/>
          </a:bodyPr>
          <a:lstStyle xmlns:a="http://schemas.openxmlformats.org/drawingml/2006/main">
            <a:defPPr algn="ctr">
              <a:defRPr sz="1875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ctr">
              <a:buNone/>
              <a:defRPr sz="1875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Agreed brief and order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FD38EE6-37E9-44E0-AC11-994F7F427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1819275"/>
            <a:ext cx="33147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C3C"/>
          </a:solidFill>
          <a:ln xmlns:a="http://schemas.openxmlformats.org/drawingml/2006/main" w="11430">
            <a:solidFill>
              <a:srgbClr val="397785"/>
            </a:solidFill>
          </a:ln>
        </p:spPr>
        <p:txBody>
          <a:bodyPr xmlns:a="http://schemas.openxmlformats.org/drawingml/2006/main" wrap="square" lIns="114300" tIns="114300" rIns="114300" bIns="114300" anchor="ctr">
            <a:noAutofit/>
          </a:bodyPr>
          <a:lstStyle xmlns:a="http://schemas.openxmlformats.org/drawingml/2006/main">
            <a:defPPr algn="ctr">
              <a:defRPr sz="1875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ctr">
              <a:buNone/>
              <a:defRPr sz="1875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Admitted production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58170BF-72E4-4CB8-A063-E8FB8FE3B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1819275"/>
            <a:ext cx="33147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C3C"/>
          </a:solidFill>
          <a:ln xmlns:a="http://schemas.openxmlformats.org/drawingml/2006/main" w="11430">
            <a:solidFill>
              <a:srgbClr val="397785"/>
            </a:solidFill>
          </a:ln>
        </p:spPr>
        <p:txBody>
          <a:bodyPr xmlns:a="http://schemas.openxmlformats.org/drawingml/2006/main" wrap="square" lIns="114300" tIns="114300" rIns="114300" bIns="114300" anchor="ctr">
            <a:noAutofit/>
          </a:bodyPr>
          <a:lstStyle xmlns:a="http://schemas.openxmlformats.org/drawingml/2006/main">
            <a:defPPr algn="ctr">
              <a:defRPr sz="1875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ctr">
              <a:buNone/>
              <a:defRPr sz="1875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Version and QA evidence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77C227E-ACB9-4FD4-878C-D469F18E5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876675"/>
            <a:ext cx="33147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C3C"/>
          </a:solidFill>
          <a:ln xmlns:a="http://schemas.openxmlformats.org/drawingml/2006/main" w="11430">
            <a:solidFill>
              <a:srgbClr val="397785"/>
            </a:solidFill>
          </a:ln>
        </p:spPr>
        <p:txBody>
          <a:bodyPr xmlns:a="http://schemas.openxmlformats.org/drawingml/2006/main" wrap="square" lIns="114300" tIns="114300" rIns="114300" bIns="114300" anchor="ctr">
            <a:noAutofit/>
          </a:bodyPr>
          <a:lstStyle xmlns:a="http://schemas.openxmlformats.org/drawingml/2006/main">
            <a:defPPr algn="ctr">
              <a:defRPr sz="1875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ctr">
              <a:buNone/>
              <a:defRPr sz="1875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Delivery for buyer review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0A7618E-B3AF-45B4-AA42-4018020C8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876675"/>
            <a:ext cx="33147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C3C"/>
          </a:solidFill>
          <a:ln xmlns:a="http://schemas.openxmlformats.org/drawingml/2006/main" w="11430">
            <a:solidFill>
              <a:srgbClr val="397785"/>
            </a:solidFill>
          </a:ln>
        </p:spPr>
        <p:txBody>
          <a:bodyPr xmlns:a="http://schemas.openxmlformats.org/drawingml/2006/main" wrap="square" lIns="114300" tIns="114300" rIns="114300" bIns="114300" anchor="ctr">
            <a:noAutofit/>
          </a:bodyPr>
          <a:lstStyle xmlns:a="http://schemas.openxmlformats.org/drawingml/2006/main">
            <a:defPPr algn="ctr">
              <a:defRPr sz="1875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ctr">
              <a:buNone/>
              <a:defRPr sz="1875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Accept, revise or refund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EE9C374-D55D-47C5-BF98-8A32120BC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76675"/>
            <a:ext cx="33147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C3C"/>
          </a:solidFill>
          <a:ln xmlns:a="http://schemas.openxmlformats.org/drawingml/2006/main" w="11430">
            <a:solidFill>
              <a:srgbClr val="397785"/>
            </a:solidFill>
          </a:ln>
        </p:spPr>
        <p:txBody>
          <a:bodyPr xmlns:a="http://schemas.openxmlformats.org/drawingml/2006/main" wrap="square" lIns="114300" tIns="114300" rIns="114300" bIns="114300" anchor="ctr">
            <a:noAutofit/>
          </a:bodyPr>
          <a:lstStyle xmlns:a="http://schemas.openxmlformats.org/drawingml/2006/main">
            <a:defPPr algn="ctr">
              <a:defRPr sz="1875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ctr">
              <a:buNone/>
              <a:defRPr sz="1875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Reconciled settlement</a:t>
            </a:r>
          </a:p>
        </p:txBody>
      </p:sp>
      <p:cxnSp>
        <p:nvCxn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C36737D-5EC6-408C-BA89-DADEA6C919F1}"/>
              </a:ext>
            </a:extLst>
          </p:cNvPr>
          <p:cNvCxnSpPr>
            <a:stCxn xmlns:a="http://schemas.openxmlformats.org/drawingml/2006/main" id="3" idx="3"/>
            <a:endCxn xmlns:a="http://schemas.openxmlformats.org/drawingml/2006/main" id="4" idx="1"/>
          </p:cNvCxnSpPr>
          <p:nvPr/>
        </p:nvCxnSpPr>
        <p:spPr>
          <a:xfrm xmlns:a="http://schemas.openxmlformats.org/drawingml/2006/main">
            <a:off x="3924300" y="2343150"/>
            <a:ext cx="51435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56DBD0"/>
            </a:solidFill>
            <a:tailEnd type="arrow" w="med" len="med"/>
          </a:ln>
        </p:spPr>
      </p:cxnSp>
      <p:cxnSp>
        <p:nvCxn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5B07266-4409-4233-A07B-423242BDE04C}"/>
              </a:ext>
            </a:extLst>
          </p:cNvPr>
          <p:cNvCxnSpPr>
            <a:stCxn xmlns:a="http://schemas.openxmlformats.org/drawingml/2006/main" id="4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>
            <a:off x="7753350" y="2343150"/>
            <a:ext cx="51435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56DBD0"/>
            </a:solidFill>
            <a:tailEnd type="arrow" w="med" len="med"/>
          </a:ln>
        </p:spPr>
      </p:cxnSp>
      <p:cxnSp>
        <p:nvCxn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B38713F-C2D9-4574-9FCC-D9443E389BF8}"/>
              </a:ext>
            </a:extLst>
          </p:cNvPr>
          <p:cNvCxnSpPr>
            <a:stCxn xmlns:a="http://schemas.openxmlformats.org/drawingml/2006/main" id="5" idx="2"/>
            <a:endCxn xmlns:a="http://schemas.openxmlformats.org/drawingml/2006/main" id="6" idx="0"/>
          </p:cNvCxnSpPr>
          <p:nvPr/>
        </p:nvCxnSpPr>
        <p:spPr>
          <a:xfrm xmlns:a="http://schemas.openxmlformats.org/drawingml/2006/main">
            <a:off x="9925050" y="2867025"/>
            <a:ext cx="0" cy="100965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56DBD0"/>
            </a:solidFill>
            <a:tailEnd type="arrow" w="med" len="med"/>
          </a:ln>
        </p:spPr>
      </p:cxnSp>
      <p:cxnSp>
        <p:nvCxn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6147DE5-9388-46B1-82DC-A7BC1D284E81}"/>
              </a:ext>
            </a:extLst>
          </p:cNvPr>
          <p:cNvCxnSpPr>
            <a:stCxn xmlns:a="http://schemas.openxmlformats.org/drawingml/2006/main" id="6" idx="1"/>
            <a:endCxn xmlns:a="http://schemas.openxmlformats.org/drawingml/2006/main" id="7" idx="3"/>
          </p:cNvCxnSpPr>
          <p:nvPr/>
        </p:nvCxnSpPr>
        <p:spPr>
          <a:xfrm xmlns:a="http://schemas.openxmlformats.org/drawingml/2006/main" flipH="1">
            <a:off x="7753350" y="4400550"/>
            <a:ext cx="51435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56DBD0"/>
            </a:solidFill>
            <a:tailEnd type="arrow" w="med" len="med"/>
          </a:ln>
        </p:spPr>
      </p:cxnSp>
      <p:cxnSp>
        <p:nvCxn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5E55DE2-2D73-447B-9313-05379F2183CA}"/>
              </a:ext>
            </a:extLst>
          </p:cNvPr>
          <p:cNvCxnSpPr>
            <a:stCxn xmlns:a="http://schemas.openxmlformats.org/drawingml/2006/main" id="7" idx="1"/>
            <a:endCxn xmlns:a="http://schemas.openxmlformats.org/drawingml/2006/main" id="8" idx="3"/>
          </p:cNvCxnSpPr>
          <p:nvPr/>
        </p:nvCxnSpPr>
        <p:spPr>
          <a:xfrm xmlns:a="http://schemas.openxmlformats.org/drawingml/2006/main" flipH="1">
            <a:off x="3924300" y="4400550"/>
            <a:ext cx="51435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56DBD0"/>
            </a:solidFill>
            <a:tailEnd type="arrow" w="med" len="med"/>
          </a:ln>
        </p:spPr>
      </p:cxn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8795569-1C73-45C8-873A-F7178BEF7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67350"/>
            <a:ext cx="109728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202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Target workflow: QA precedes buyer access. Buyer acceptance and financial settlement remain distinct events.</a:t>
            </a:r>
          </a:p>
        </p:txBody>
      </p:sp>
    </p:spTree>
    <p:extLst>
      <p:ext uri="{BB962C8B-B14F-4D97-AF65-F5344CB8AC3E}">
        <p14:creationId xmlns:p14="http://schemas.microsoft.com/office/powerpoint/2010/main" val="1719884253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08121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F6E19B7-9592-4F33-9C60-9D2D70884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Quality checks, revisions and settlement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21E84CE-A21A-455F-BD32-39C116CFD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91275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rPr>
              <a:t>27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575DDBD-02A9-4D78-A69D-40390834B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51911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Agreed criteria before payment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4206FFE-8641-4501-B1C9-089EAD31E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14550"/>
            <a:ext cx="5191125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18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The order fixes deliverables, formats, rights, deadlines and revision allowance. Each service has its own review profile.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BBDB506-62B6-4492-B15F-2017F87F6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1619250"/>
            <a:ext cx="51911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Version-bound quality evidence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BC617BE-5F1D-4488-AB6E-292DD875B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2114550"/>
            <a:ext cx="5191125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18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Machine measurements, substantive review and signed attestations bind the exact file and accepted terms.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070E648-FB5A-4413-8477-ECD2DD4D3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43325"/>
            <a:ext cx="51911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Buyer review and targeted revisions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8D4FE61-426A-4334-80C9-899AC7902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38625"/>
            <a:ext cx="5191125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18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Deliver for review after QA. Correct named scenes or components, create a new revision and recheck dependencies.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C1B139F-DD23-4046-B760-93E9807D5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3743325"/>
            <a:ext cx="51911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Full-refund path and deadlines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65D8B88-A6D1-4575-B67F-54ADF600D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4238625"/>
            <a:ext cx="5191125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18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The service profile defines full refunds and dispute handling. A support ticket does not pause protocol deadlines.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CD46320-AD74-4DEF-912A-AB601A59A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1725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rPr>
              <a:t>Standard Boson completion has no Vantemio QA gate. Mandatory payout enforcement remains a launch dependency.</a:t>
            </a:r>
          </a:p>
        </p:txBody>
      </p:sp>
    </p:spTree>
    <p:extLst>
      <p:ext uri="{BB962C8B-B14F-4D97-AF65-F5344CB8AC3E}">
        <p14:creationId xmlns:p14="http://schemas.microsoft.com/office/powerpoint/2010/main" val="2088577602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08121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AE3FD64-C69B-40B8-8CAA-E3FD82322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Vantemio Donations and AI streams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24AE3CC-650C-4683-BEEF-3C09AB4F3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91275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rPr>
              <a:t>28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C85C509-46A0-4935-96D9-8607F75FB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14500"/>
            <a:ext cx="51911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Creator-support platform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1068369-ED80-4689-92BC-A54A37514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9800"/>
            <a:ext cx="5191125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2100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Creator pages, live streams and audience support, with Base handling the payment layer.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C36F3B9-881E-4E5C-B936-EC22DF5F8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1714500"/>
            <a:ext cx="51911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24/7 AI avatar streams, planned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5361E38-A5CF-4B7E-ADE1-467A28B8F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2209800"/>
            <a:ext cx="5191125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2100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Expressive movement, voice and coherent behavior instead of short repetitive animation loops.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06D6541-E990-45D9-9885-5D5343D4A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29050"/>
            <a:ext cx="51911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Audience interaction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BF28F58-0361-4211-B1C1-D3A5E4071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24350"/>
            <a:ext cx="5191125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2100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Avatars react to chat messages and comments, retain context and coordinate speech with gestures.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AE02F52-30B3-40BF-AFB7-45810F5C7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3829050"/>
            <a:ext cx="51911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Prototype and operating checks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5B6788C-835F-4BF6-BCAE-B3C627630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4324350"/>
            <a:ext cx="5191125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2100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Test response latency, motion continuity, moderation and uninterrupted operation before launch.</a:t>
            </a:r>
          </a:p>
        </p:txBody>
      </p:sp>
    </p:spTree>
    <p:extLst>
      <p:ext uri="{BB962C8B-B14F-4D97-AF65-F5344CB8AC3E}">
        <p14:creationId xmlns:p14="http://schemas.microsoft.com/office/powerpoint/2010/main" val="597182969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08121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1B36FFF-2B54-466B-ACEE-2FD773746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Historical commerce evidence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9D9F977-0068-459C-BA96-88E9CE002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91275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rPr>
              <a:t>29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8654DE3-D4B0-49DD-AC31-7E7B6104E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3667125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350" b="1">
                <a:solidFill>
                  <a:srgbClr val="61A3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7350" b="1">
                <a:solidFill>
                  <a:srgbClr val="61A3FF"/>
                </a:solidFill>
                <a:latin typeface="Helvetica Neue"/>
                <a:ea typeface="Helvetica Neue"/>
                <a:cs typeface="Helvetica Neue"/>
              </a:rPr>
              <a:t>176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D37BAA0-CBBA-4EB4-A547-C6240A818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90825"/>
            <a:ext cx="3667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21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commerce checks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E4AA7DC-2020-4B34-80D9-31442ED86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9950"/>
            <a:ext cx="36195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105 module tests</a:t>
            </a:r>
          </a:p>
          <a:p xmlns:a="http://schemas.openxmlformats.org/drawingml/2006/main">
            <a:pPr algn="l">
              <a:buNone/>
              <a:defRPr sz="18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71 interface/account tests</a:t>
            </a:r>
          </a:p>
          <a:p xmlns:a="http://schemas.openxmlformats.org/drawingml/2006/main">
            <a:pPr algn="l">
              <a:buNone/>
              <a:defRPr sz="18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Verified 4 October 2026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3FE5295-0B09-49E8-9FB4-7B03F9FAC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24450"/>
            <a:ext cx="3619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61A3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0">
                <a:solidFill>
                  <a:srgbClr val="61A3FF"/>
                </a:solidFill>
                <a:latin typeface="Helvetica Neue"/>
                <a:ea typeface="Helvetica Neue"/>
                <a:cs typeface="Helvetica Neue"/>
                <a:hlinkClick xmlns:r="http://schemas.openxmlformats.org/officeDocument/2006/relationships" r:id="Rabf8648579914c34"/>
              </a:rPr>
              <a:t>Open verification record</a:t>
            </a:r>
          </a:p>
        </p:txBody>
      </p:sp>
      <p:pic>
        <p:nvPic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8795465-7092-47F8-A504-293479A28B0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ed4119490ba45bc"/>
          <a:stretch xmlns:a="http://schemas.openxmlformats.org/drawingml/2006/main"/>
        </p:blipFill>
        <p:spPr>
          <a:xfrm xmlns:a="http://schemas.openxmlformats.org/drawingml/2006/main">
            <a:off x="4610100" y="1639491"/>
            <a:ext cx="6972300" cy="3921919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AC30E97-E027-40D8-A3D0-35029C85C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5676900"/>
            <a:ext cx="69723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External MetaMask flow: purchase, redemption, completion and verified download.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20DFD4D-CD5B-4F85-9271-FF7A44EC1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0"/>
            <a:ext cx="3762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1575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rPr>
              <a:t>Historical module checks.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rPr>
              <a:t>Integrated Studio is still unfinished.</a:t>
            </a:r>
          </a:p>
        </p:txBody>
      </p:sp>
    </p:spTree>
    <p:extLst>
      <p:ext uri="{BB962C8B-B14F-4D97-AF65-F5344CB8AC3E}">
        <p14:creationId xmlns:p14="http://schemas.microsoft.com/office/powerpoint/2010/main" val="1496073107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08121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F054285-081D-41F6-8632-8EE07849A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Current stage and next evidence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C1D762F-DF07-45B9-AB19-4CBC7E2A9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91275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rPr>
              <a:t>30</a:t>
            </a:r>
          </a:p>
        </p:txBody>
      </p:sp>
      <p:graphicFrame>
        <p:nvGraphicFrame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83D4C40-EC9A-45F7-994B-853977007C45}"/>
              </a:ext>
            </a:extLst>
          </p:cNvPr>
          <p:cNvGraphicFramePr/>
          <p:nvPr/>
        </p:nvGraphicFramePr>
        <p:xfrm>
          <a:off xmlns:a="http://schemas.openxmlformats.org/drawingml/2006/main" x="609600" y="1685925"/>
          <a:ext xmlns:a="http://schemas.openxmlformats.org/drawingml/2006/main" cx="10972800" cy="3714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428875"/>
                <a:gridCol w="4095750"/>
                <a:gridCol w="4448175"/>
              </a:tblGrid>
              <a:tr h="619125"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Area</a:t>
                      </a:r>
                    </a:p>
                  </a:txBody>
                  <a:tcPr marL="91440" marR="91440" marT="45720" marB="45720" anchor="ctr">
                    <a:solidFill>
                      <a:srgbClr val="12384C"/>
                    </a:solidFill>
                  </a:tcPr>
                </a:tc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Current state</a:t>
                      </a:r>
                    </a:p>
                  </a:txBody>
                  <a:tcPr marL="91440" marR="91440" marT="45720" marB="45720" anchor="ctr">
                    <a:solidFill>
                      <a:srgbClr val="12384C"/>
                    </a:solidFill>
                  </a:tcPr>
                </a:tc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Next milestone</a:t>
                      </a:r>
                    </a:p>
                  </a:txBody>
                  <a:tcPr marL="91440" marR="91440" marT="45720" marB="45720" anchor="ctr">
                    <a:solidFill>
                      <a:srgbClr val="12384C"/>
                    </a:solidFill>
                  </a:tcPr>
                </a:tc>
              </a:tr>
              <a:tr h="619125"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Research</a:t>
                      </a:r>
                    </a:p>
                  </a:txBody>
                  <a:tcPr marL="91440" marR="91440" marT="45720" marB="45720" anchor="ctr">
                    <a:solidFill>
                      <a:srgbClr val="0E2230"/>
                    </a:solidFill>
                  </a:tcPr>
                </a:tc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Automated YouTube competitor analysis works</a:t>
                      </a:r>
                    </a:p>
                  </a:txBody>
                  <a:tcPr marL="91440" marR="91440" marT="45720" marB="45720" anchor="ctr">
                    <a:solidFill>
                      <a:srgbClr val="0E2230"/>
                    </a:solidFill>
                  </a:tcPr>
                </a:tc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Feed results into repeatable production</a:t>
                      </a:r>
                    </a:p>
                  </a:txBody>
                  <a:tcPr marL="91440" marR="91440" marT="45720" marB="45720" anchor="ctr">
                    <a:solidFill>
                      <a:srgbClr val="0E2230"/>
                    </a:solidFill>
                  </a:tcPr>
                </a:tc>
              </a:tr>
              <a:tr h="619125"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Studio</a:t>
                      </a:r>
                    </a:p>
                  </a:txBody>
                  <a:tcPr marL="91440" marR="91440" marT="45720" marB="45720" anchor="ctr">
                    <a:solidFill>
                      <a:srgbClr val="102938"/>
                    </a:solidFill>
                  </a:tcPr>
                </a:tc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Editing, graphics and audio in development</a:t>
                      </a:r>
                    </a:p>
                  </a:txBody>
                  <a:tcPr marL="91440" marR="91440" marT="45720" marB="45720" anchor="ctr">
                    <a:solidFill>
                      <a:srgbClr val="102938"/>
                    </a:solidFill>
                  </a:tcPr>
                </a:tc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First accepted integrated output</a:t>
                      </a:r>
                    </a:p>
                  </a:txBody>
                  <a:tcPr marL="91440" marR="91440" marT="45720" marB="45720" anchor="ctr">
                    <a:solidFill>
                      <a:srgbClr val="102938"/>
                    </a:solidFill>
                  </a:tcPr>
                </a:tc>
              </a:tr>
              <a:tr h="619125"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Core and workers</a:t>
                      </a:r>
                    </a:p>
                  </a:txBody>
                  <a:tcPr marL="91440" marR="91440" marT="45720" marB="45720" anchor="ctr">
                    <a:solidFill>
                      <a:srgbClr val="0E2230"/>
                    </a:solidFill>
                  </a:tcPr>
                </a:tc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Memory and execution mechanisms in code</a:t>
                      </a:r>
                    </a:p>
                  </a:txBody>
                  <a:tcPr marL="91440" marR="91440" marT="45720" marB="45720" anchor="ctr">
                    <a:solidFill>
                      <a:srgbClr val="0E2230"/>
                    </a:solidFill>
                  </a:tcPr>
                </a:tc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Recovery and bounded execution checks</a:t>
                      </a:r>
                    </a:p>
                  </a:txBody>
                  <a:tcPr marL="91440" marR="91440" marT="45720" marB="45720" anchor="ctr">
                    <a:solidFill>
                      <a:srgbClr val="0E2230"/>
                    </a:solidFill>
                  </a:tcPr>
                </a:tc>
              </a:tr>
              <a:tr h="619125"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Base / Market</a:t>
                      </a:r>
                    </a:p>
                  </a:txBody>
                  <a:tcPr marL="91440" marR="91440" marT="45720" marB="45720" anchor="ctr">
                    <a:solidFill>
                      <a:srgbClr val="102938"/>
                    </a:solidFill>
                  </a:tcPr>
                </a:tc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Historical testnet purchase/delivery demos</a:t>
                      </a:r>
                    </a:p>
                  </a:txBody>
                  <a:tcPr marL="91440" marR="91440" marT="45720" marB="45720" anchor="ctr">
                    <a:solidFill>
                      <a:srgbClr val="102938"/>
                    </a:solidFill>
                  </a:tcPr>
                </a:tc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Quality, rights and Studio-order integration</a:t>
                      </a:r>
                    </a:p>
                  </a:txBody>
                  <a:tcPr marL="91440" marR="91440" marT="45720" marB="45720" anchor="ctr">
                    <a:solidFill>
                      <a:srgbClr val="102938"/>
                    </a:solidFill>
                  </a:tcPr>
                </a:tc>
              </a:tr>
              <a:tr h="619125"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Customer release</a:t>
                      </a:r>
                    </a:p>
                  </a:txBody>
                  <a:tcPr marL="91440" marR="91440" marT="45720" marB="45720" anchor="ctr">
                    <a:solidFill>
                      <a:srgbClr val="0E2230"/>
                    </a:solidFill>
                  </a:tcPr>
                </a:tc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No live customer product or revenue</a:t>
                      </a:r>
                    </a:p>
                  </a:txBody>
                  <a:tcPr marL="91440" marR="91440" marT="45720" marB="45720" anchor="ctr">
                    <a:solidFill>
                      <a:srgbClr val="0E2230"/>
                    </a:solidFill>
                  </a:tcPr>
                </a:tc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Isolated pilot, installer/API and cloud checks</a:t>
                      </a:r>
                    </a:p>
                  </a:txBody>
                  <a:tcPr marL="91440" marR="91440" marT="45720" marB="45720" anchor="ctr">
                    <a:solidFill>
                      <a:srgbClr val="0E2230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E1A2600-DDC9-46E9-BF55-0C78A397B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00725"/>
            <a:ext cx="1095375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1950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Next evidence: one complete motion-graphics presentation, tokenization and authorized YouTube publication.</a:t>
            </a:r>
          </a:p>
        </p:txBody>
      </p:sp>
    </p:spTree>
    <p:extLst>
      <p:ext uri="{BB962C8B-B14F-4D97-AF65-F5344CB8AC3E}">
        <p14:creationId xmlns:p14="http://schemas.microsoft.com/office/powerpoint/2010/main" val="2021387150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08121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AF1ABEB-794E-481A-9796-A7F5FD1E1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33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A path to self-funding before customer scale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2CC0373-A19C-4300-A2C0-3990636F9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91275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B5C4C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B5C4CD"/>
                </a:solidFill>
                <a:latin typeface="Helvetica Neue"/>
                <a:ea typeface="Helvetica Neue"/>
                <a:cs typeface="Helvetica Neue"/>
              </a:rPr>
              <a:t>31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7D4403D-384E-4889-9223-85965F4AD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5925"/>
            <a:ext cx="1081087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Own content operations can be a revenue source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DA6AFB6-8333-479C-AADB-FD7ECE2D2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0"/>
            <a:ext cx="10810875" cy="1438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0">
                <a:solidFill>
                  <a:srgbClr val="B5C4CD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2250" b="0">
                <a:solidFill>
                  <a:srgbClr val="B5C4CD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0">
                <a:solidFill>
                  <a:srgbClr val="B5C4CD"/>
                </a:solidFill>
                <a:latin typeface="Helvetica Neue"/>
                <a:ea typeface="Helvetica Neue"/>
                <a:cs typeface="Helvetica Neue"/>
              </a:rPr>
              <a:t>Use Vantemio’s official channels to test production, build an audience and seek content income that can cover recurring costs.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C2486EE-4D4C-4F99-9B2D-4167483E7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10150"/>
            <a:ext cx="1081087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24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Paid product access and marketplace activity are additional planned revenue sources.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0FA5490-DA0C-4DF9-A39A-82BC55233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0"/>
            <a:ext cx="1066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B5C4CD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1500" b="0">
                <a:solidFill>
                  <a:srgbClr val="B5C4C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B5C4CD"/>
                </a:solidFill>
                <a:latin typeface="Helvetica Neue"/>
                <a:ea typeface="Helvetica Neue"/>
                <a:cs typeface="Helvetica Neue"/>
              </a:rPr>
              <a:t>Break-even remains a target. Track received revenue against operating and founder costs.</a:t>
            </a:r>
          </a:p>
        </p:txBody>
      </p:sp>
    </p:spTree>
    <p:extLst>
      <p:ext uri="{BB962C8B-B14F-4D97-AF65-F5344CB8AC3E}">
        <p14:creationId xmlns:p14="http://schemas.microsoft.com/office/powerpoint/2010/main" val="1688082314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08121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A4244F4-5A36-4472-BAF4-FE6F1413F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Multiple revenue streams, one reusable engine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A40F763-B0D2-4E44-9674-A9D9CF4F3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91275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rPr>
              <a:t>32</a:t>
            </a:r>
          </a:p>
        </p:txBody>
      </p:sp>
      <p:graphicFrame>
        <p:nvGraphicFrame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0FEC43E-601C-40F3-BBDC-07CF0F515009}"/>
              </a:ext>
            </a:extLst>
          </p:cNvPr>
          <p:cNvGraphicFramePr/>
          <p:nvPr/>
        </p:nvGraphicFramePr>
        <p:xfrm>
          <a:off xmlns:a="http://schemas.openxmlformats.org/drawingml/2006/main" x="609600" y="1752600"/>
          <a:ext xmlns:a="http://schemas.openxmlformats.org/drawingml/2006/main" cx="10972800" cy="34671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571750"/>
                <a:gridCol w="4162425"/>
                <a:gridCol w="4238625"/>
              </a:tblGrid>
              <a:tr h="693420"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800" b="1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Revenue source</a:t>
                      </a:r>
                    </a:p>
                  </a:txBody>
                  <a:tcPr marL="91440" marR="91440" marT="45720" marB="45720" anchor="ctr">
                    <a:solidFill>
                      <a:srgbClr val="12384C"/>
                    </a:solidFill>
                  </a:tcPr>
                </a:tc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800" b="1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Proposed model</a:t>
                      </a:r>
                    </a:p>
                  </a:txBody>
                  <a:tcPr marL="91440" marR="91440" marT="45720" marB="45720" anchor="ctr">
                    <a:solidFill>
                      <a:srgbClr val="12384C"/>
                    </a:solidFill>
                  </a:tcPr>
                </a:tc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800" b="1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Validation needed</a:t>
                      </a:r>
                    </a:p>
                  </a:txBody>
                  <a:tcPr marL="91440" marR="91440" marT="45720" marB="45720" anchor="ctr">
                    <a:solidFill>
                      <a:srgbClr val="12384C"/>
                    </a:solidFill>
                  </a:tcPr>
                </a:tc>
              </a:tr>
              <a:tr h="693420"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Official channels</a:t>
                      </a:r>
                    </a:p>
                  </a:txBody>
                  <a:tcPr marL="91440" marR="91440" marT="45720" marB="45720" anchor="ctr">
                    <a:solidFill>
                      <a:srgbClr val="0E2230"/>
                    </a:solidFill>
                  </a:tcPr>
                </a:tc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Content income and partnerships</a:t>
                      </a:r>
                    </a:p>
                  </a:txBody>
                  <a:tcPr marL="91440" marR="91440" marT="45720" marB="45720" anchor="ctr">
                    <a:solidFill>
                      <a:srgbClr val="0E2230"/>
                    </a:solidFill>
                  </a:tcPr>
                </a:tc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Audience, platform eligibility and costs</a:t>
                      </a:r>
                    </a:p>
                  </a:txBody>
                  <a:tcPr marL="91440" marR="91440" marT="45720" marB="45720" anchor="ctr">
                    <a:solidFill>
                      <a:srgbClr val="0E2230"/>
                    </a:solidFill>
                  </a:tcPr>
                </a:tc>
              </a:tr>
              <a:tr h="693420"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Home / Cloud / API</a:t>
                      </a:r>
                    </a:p>
                  </a:txBody>
                  <a:tcPr marL="91440" marR="91440" marT="45720" marB="45720" anchor="ctr">
                    <a:solidFill>
                      <a:srgbClr val="102938"/>
                    </a:solidFill>
                  </a:tcPr>
                </a:tc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Licensed software and managed access</a:t>
                      </a:r>
                    </a:p>
                  </a:txBody>
                  <a:tcPr marL="91440" marR="91440" marT="45720" marB="45720" anchor="ctr">
                    <a:solidFill>
                      <a:srgbClr val="102938"/>
                    </a:solidFill>
                  </a:tcPr>
                </a:tc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Pricing, usage limits and demand</a:t>
                      </a:r>
                    </a:p>
                  </a:txBody>
                  <a:tcPr marL="91440" marR="91440" marT="45720" marB="45720" anchor="ctr">
                    <a:solidFill>
                      <a:srgbClr val="102938"/>
                    </a:solidFill>
                  </a:tcPr>
                </a:tc>
              </a:tr>
              <a:tr h="693420"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Business deployments</a:t>
                      </a:r>
                    </a:p>
                  </a:txBody>
                  <a:tcPr marL="91440" marR="91440" marT="45720" marB="45720" anchor="ctr">
                    <a:solidFill>
                      <a:srgbClr val="0E2230"/>
                    </a:solidFill>
                  </a:tcPr>
                </a:tc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Setup, integration and support</a:t>
                      </a:r>
                    </a:p>
                  </a:txBody>
                  <a:tcPr marL="91440" marR="91440" marT="45720" marB="45720" anchor="ctr">
                    <a:solidFill>
                      <a:srgbClr val="0E2230"/>
                    </a:solidFill>
                  </a:tcPr>
                </a:tc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Effort, rights and service margin</a:t>
                      </a:r>
                    </a:p>
                  </a:txBody>
                  <a:tcPr marL="91440" marR="91440" marT="45720" marB="45720" anchor="ctr">
                    <a:solidFill>
                      <a:srgbClr val="0E2230"/>
                    </a:solidFill>
                  </a:tcPr>
                </a:tc>
              </a:tr>
              <a:tr h="693420"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Market / Donations</a:t>
                      </a:r>
                    </a:p>
                  </a:txBody>
                  <a:tcPr marL="91440" marR="91440" marT="45720" marB="45720" anchor="ctr">
                    <a:solidFill>
                      <a:srgbClr val="102938"/>
                    </a:solidFill>
                  </a:tcPr>
                </a:tc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Asset sales and disclosed platform fees</a:t>
                      </a:r>
                    </a:p>
                  </a:txBody>
                  <a:tcPr marL="91440" marR="91440" marT="45720" marB="45720" anchor="ctr">
                    <a:solidFill>
                      <a:srgbClr val="102938"/>
                    </a:solidFill>
                  </a:tcPr>
                </a:tc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Demand, fee rules and settlement</a:t>
                      </a:r>
                    </a:p>
                  </a:txBody>
                  <a:tcPr marL="91440" marR="91440" marT="45720" marB="45720" anchor="ctr">
                    <a:solidFill>
                      <a:srgbClr val="102938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5AB7522-3D7F-47D2-BBAC-565AA0C50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91175"/>
            <a:ext cx="1097280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Reinvest revenue into infrastructure and new modules. Each new workflow still has delivery and support costs.</a:t>
            </a:r>
          </a:p>
        </p:txBody>
      </p:sp>
    </p:spTree>
    <p:extLst>
      <p:ext uri="{BB962C8B-B14F-4D97-AF65-F5344CB8AC3E}">
        <p14:creationId xmlns:p14="http://schemas.microsoft.com/office/powerpoint/2010/main" val="1068509766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08121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21E5868-74E5-4B85-BA41-D065BE494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Initial customers and market entry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F6E6EDF-AE98-454D-AF6E-5285AF73A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91275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rPr>
              <a:t>33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9672CA6-5BB5-4F73-A3C4-B315CAD06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51911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Initial customer profiles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DCF1243-4E6C-4646-8FF9-3B3F3BCCD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14550"/>
            <a:ext cx="5191125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Creators managing several channels, small production studios and agencies with repeat content work.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A56DEA8-4C6E-48BC-B1B6-083611956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1619250"/>
            <a:ext cx="51911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Founder-operated channels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E0D1AAB-9CB4-4B3F-8DF7-BBB477462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2114550"/>
            <a:ext cx="5191125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Use Vantemio in real content workflows. Publish demonstrations and measure production quality and cost.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AD519A7-01CC-4EF9-8B32-AABD8F30A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14750"/>
            <a:ext cx="51911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Limited external MVP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FDE743D-0509-412C-BE3B-2D66FF4FD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10050"/>
            <a:ext cx="5191125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Start with a small tester group. Measure time to output, failed jobs, manual intervention and willingness to pay.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A688221-6EC5-4249-A0B1-BD336A7A1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3714750"/>
            <a:ext cx="51911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Measured acquisition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BE85657-0166-491F-9D37-73255261D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4210050"/>
            <a:ext cx="5191125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Begin small paid campaigns after a usable MVP. Increase spend when conversion and acquisition costs justify it.</a:t>
            </a:r>
          </a:p>
        </p:txBody>
      </p:sp>
    </p:spTree>
    <p:extLst>
      <p:ext uri="{BB962C8B-B14F-4D97-AF65-F5344CB8AC3E}">
        <p14:creationId xmlns:p14="http://schemas.microsoft.com/office/powerpoint/2010/main" val="1751996261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08121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278040F-12C8-49F0-B2EC-A907A6851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Why Base and BEF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C082043-AC24-46F1-A63A-6090AEFF7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91275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rPr>
              <a:t>34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AC0F43E-85E9-4C8D-9D38-122E36FCB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14500"/>
            <a:ext cx="51911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Production linked to onchain orders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9284B0C-03CE-4F3D-A0F6-2F0DD3656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9800"/>
            <a:ext cx="5191125" cy="1857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2100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Base/Boson is the proposed commerce layer for version records, service orders, buyer rights and delivery.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10E3310-25ED-406D-A840-45CB71563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1714500"/>
            <a:ext cx="51911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Potential ecosystem activity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9B6DEC8-C41D-4051-B4D2-8B41AC425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2209800"/>
            <a:ext cx="5191125" cy="1857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2100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Market and the planned Donations platform could bring creators, buyers and recurring payments onto Base.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B3AB7DF-24E9-4A31-BE8A-3657AFB92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33875"/>
            <a:ext cx="10953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62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What support would accelerate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1BB27EF-FB81-4B0C-B7ED-250F10C5D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95875"/>
            <a:ext cx="10953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Pre-seed funding, technical feedback, infrastructure support and introductions to relevant Base ecosystem partners.</a:t>
            </a:r>
          </a:p>
        </p:txBody>
      </p:sp>
    </p:spTree>
    <p:extLst>
      <p:ext uri="{BB962C8B-B14F-4D97-AF65-F5344CB8AC3E}">
        <p14:creationId xmlns:p14="http://schemas.microsoft.com/office/powerpoint/2010/main" val="1431401988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08121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5DBFB49-37DE-4E47-A832-439C0DF16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Delivery milestones and dependencies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2B1DD1B-BC23-499A-96E4-48C82FBDC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91275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rPr>
              <a:t>35</a:t>
            </a:r>
          </a:p>
        </p:txBody>
      </p:sp>
      <p:graphicFrame>
        <p:nvGraphicFrame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220121F-6FD6-4970-88BB-2E32252F9DB6}"/>
              </a:ext>
            </a:extLst>
          </p:cNvPr>
          <p:cNvGraphicFramePr/>
          <p:nvPr/>
        </p:nvGraphicFramePr>
        <p:xfrm>
          <a:off xmlns:a="http://schemas.openxmlformats.org/drawingml/2006/main" x="609600" y="1666875"/>
          <a:ext xmlns:a="http://schemas.openxmlformats.org/drawingml/2006/main" cx="10972800" cy="3619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952625"/>
                <a:gridCol w="3619500"/>
                <a:gridCol w="5400675"/>
              </a:tblGrid>
              <a:tr h="723900"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Stage</a:t>
                      </a:r>
                    </a:p>
                  </a:txBody>
                  <a:tcPr marL="91440" marR="91440" marT="45720" marB="45720" anchor="ctr">
                    <a:solidFill>
                      <a:srgbClr val="12384C"/>
                    </a:solidFill>
                  </a:tcPr>
                </a:tc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Primary outcome</a:t>
                      </a:r>
                    </a:p>
                  </a:txBody>
                  <a:tcPr marL="91440" marR="91440" marT="45720" marB="45720" anchor="ctr">
                    <a:solidFill>
                      <a:srgbClr val="12384C"/>
                    </a:solidFill>
                  </a:tcPr>
                </a:tc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Evidence required</a:t>
                      </a:r>
                    </a:p>
                  </a:txBody>
                  <a:tcPr marL="91440" marR="91440" marT="45720" marB="45720" anchor="ctr">
                    <a:solidFill>
                      <a:srgbClr val="12384C"/>
                    </a:solidFill>
                  </a:tcPr>
                </a:tc>
              </a:tr>
              <a:tr h="723900"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Days–2 weeks</a:t>
                      </a:r>
                    </a:p>
                  </a:txBody>
                  <a:tcPr marL="91440" marR="91440" marT="45720" marB="45720" anchor="ctr">
                    <a:solidFill>
                      <a:srgbClr val="0E2230"/>
                    </a:solidFill>
                  </a:tcPr>
                </a:tc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First internal presentation run</a:t>
                      </a:r>
                    </a:p>
                  </a:txBody>
                  <a:tcPr marL="91440" marR="91440" marT="45720" marB="45720" anchor="ctr">
                    <a:solidFill>
                      <a:srgbClr val="0E2230"/>
                    </a:solidFill>
                  </a:tcPr>
                </a:tc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Graphics, sound, QA, tokenization and publication</a:t>
                      </a:r>
                    </a:p>
                  </a:txBody>
                  <a:tcPr marL="91440" marR="91440" marT="45720" marB="45720" anchor="ctr">
                    <a:solidFill>
                      <a:srgbClr val="0E2230"/>
                    </a:solidFill>
                  </a:tcPr>
                </a:tc>
              </a:tr>
              <a:tr h="723900"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Next 12 weeks</a:t>
                      </a:r>
                    </a:p>
                  </a:txBody>
                  <a:tcPr marL="91440" marR="91440" marT="45720" marB="45720" anchor="ctr">
                    <a:solidFill>
                      <a:srgbClr val="102938"/>
                    </a:solidFill>
                  </a:tcPr>
                </a:tc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Repeatable Studio / YouTube workflow</a:t>
                      </a:r>
                    </a:p>
                  </a:txBody>
                  <a:tcPr marL="91440" marR="91440" marT="45720" marB="45720" anchor="ctr">
                    <a:solidFill>
                      <a:srgbClr val="102938"/>
                    </a:solidFill>
                  </a:tcPr>
                </a:tc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Accepted outputs, recovery, costs and intervention records</a:t>
                      </a:r>
                    </a:p>
                  </a:txBody>
                  <a:tcPr marL="91440" marR="91440" marT="45720" marB="45720" anchor="ctr">
                    <a:solidFill>
                      <a:srgbClr val="102938"/>
                    </a:solidFill>
                  </a:tcPr>
                </a:tc>
              </a:tr>
              <a:tr h="723900"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After acceptance</a:t>
                      </a:r>
                    </a:p>
                  </a:txBody>
                  <a:tcPr marL="91440" marR="91440" marT="45720" marB="45720" anchor="ctr">
                    <a:solidFill>
                      <a:srgbClr val="0E2230"/>
                    </a:solidFill>
                  </a:tcPr>
                </a:tc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Limited customer and cloud pilot</a:t>
                      </a:r>
                    </a:p>
                  </a:txBody>
                  <a:tcPr marL="91440" marR="91440" marT="45720" marB="45720" anchor="ctr">
                    <a:solidFill>
                      <a:srgbClr val="0E2230"/>
                    </a:solidFill>
                  </a:tcPr>
                </a:tc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Tenant isolation, usage limits, delivery and load tests</a:t>
                      </a:r>
                    </a:p>
                  </a:txBody>
                  <a:tcPr marL="91440" marR="91440" marT="45720" marB="45720" anchor="ctr">
                    <a:solidFill>
                      <a:srgbClr val="0E2230"/>
                    </a:solidFill>
                  </a:tcPr>
                </a:tc>
              </a:tr>
              <a:tr h="723900"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Further stages</a:t>
                      </a:r>
                    </a:p>
                  </a:txBody>
                  <a:tcPr marL="91440" marR="91440" marT="45720" marB="45720" anchor="ctr">
                    <a:solidFill>
                      <a:srgbClr val="102938"/>
                    </a:solidFill>
                  </a:tcPr>
                </a:tc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Home, API and additional modules</a:t>
                      </a:r>
                    </a:p>
                  </a:txBody>
                  <a:tcPr marL="91440" marR="91440" marT="45720" marB="45720" anchor="ctr">
                    <a:solidFill>
                      <a:srgbClr val="102938"/>
                    </a:solidFill>
                  </a:tcPr>
                </a:tc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Release-specific installation and integration checks</a:t>
                      </a:r>
                    </a:p>
                  </a:txBody>
                  <a:tcPr marL="91440" marR="91440" marT="45720" marB="45720" anchor="ctr">
                    <a:solidFill>
                      <a:srgbClr val="102938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B5175EB-DD93-41E5-83E4-393D50F6C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8165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18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The first-run window is a founder estimate. Customer and cloud release dates follow integration results.</a:t>
            </a:r>
          </a:p>
        </p:txBody>
      </p:sp>
    </p:spTree>
    <p:extLst>
      <p:ext uri="{BB962C8B-B14F-4D97-AF65-F5344CB8AC3E}">
        <p14:creationId xmlns:p14="http://schemas.microsoft.com/office/powerpoint/2010/main" val="1120161023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08121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01D750D-2A9A-44C3-BF43-B5EF953B7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12-month funding scenarios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09331B7-6145-4020-B11D-022ED2205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91275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rPr>
              <a:t>36</a:t>
            </a:r>
          </a:p>
        </p:txBody>
      </p:sp>
      <p:graphicFrame>
        <p:nvGraphicFrame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BFAA565-3582-41C5-B655-3B6B332FA0B9}"/>
              </a:ext>
            </a:extLst>
          </p:cNvPr>
          <p:cNvGraphicFramePr/>
          <p:nvPr/>
        </p:nvGraphicFramePr>
        <p:xfrm>
          <a:off xmlns:a="http://schemas.openxmlformats.org/drawingml/2006/main" x="609600" y="1514475"/>
          <a:ext xmlns:a="http://schemas.openxmlformats.org/drawingml/2006/main" cx="8334375" cy="45243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524375"/>
                <a:gridCol w="1905000"/>
                <a:gridCol w="1905000"/>
              </a:tblGrid>
              <a:tr h="411307"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800" b="1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12-month use</a:t>
                      </a:r>
                    </a:p>
                  </a:txBody>
                  <a:tcPr marL="91440" marR="91440" marT="45720" marB="45720" anchor="ctr">
                    <a:solidFill>
                      <a:srgbClr val="12384C"/>
                    </a:solidFill>
                  </a:tcPr>
                </a:tc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800" b="1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Solo</a:t>
                      </a:r>
                    </a:p>
                  </a:txBody>
                  <a:tcPr marL="91440" marR="91440" marT="45720" marB="45720" anchor="ctr">
                    <a:solidFill>
                      <a:srgbClr val="12384C"/>
                    </a:solidFill>
                  </a:tcPr>
                </a:tc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800" b="1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Two developers</a:t>
                      </a:r>
                    </a:p>
                  </a:txBody>
                  <a:tcPr marL="91440" marR="91440" marT="45720" marB="45720" anchor="ctr">
                    <a:solidFill>
                      <a:srgbClr val="12384C"/>
                    </a:solidFill>
                  </a:tcPr>
                </a:tc>
              </a:tr>
              <a:tr h="411307"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Development and operating resources</a:t>
                      </a:r>
                    </a:p>
                  </a:txBody>
                  <a:tcPr marL="91440" marR="91440" marT="45720" marB="45720" anchor="ctr">
                    <a:solidFill>
                      <a:srgbClr val="0E2230"/>
                    </a:solidFill>
                  </a:tcPr>
                </a:tc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$100,000</a:t>
                      </a:r>
                    </a:p>
                  </a:txBody>
                  <a:tcPr marL="91440" marR="91440" marT="45720" marB="45720" anchor="ctr">
                    <a:solidFill>
                      <a:srgbClr val="0E2230"/>
                    </a:solidFill>
                  </a:tcPr>
                </a:tc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$100,000</a:t>
                      </a:r>
                    </a:p>
                  </a:txBody>
                  <a:tcPr marL="91440" marR="91440" marT="45720" marB="45720" anchor="ctr">
                    <a:solidFill>
                      <a:srgbClr val="0E2230"/>
                    </a:solidFill>
                  </a:tcPr>
                </a:tc>
              </a:tr>
              <a:tr h="411307"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Founder compensation / living support</a:t>
                      </a:r>
                    </a:p>
                  </a:txBody>
                  <a:tcPr marL="91440" marR="91440" marT="45720" marB="45720" anchor="ctr">
                    <a:solidFill>
                      <a:srgbClr val="102938"/>
                    </a:solidFill>
                  </a:tcPr>
                </a:tc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$50,000</a:t>
                      </a:r>
                    </a:p>
                  </a:txBody>
                  <a:tcPr marL="91440" marR="91440" marT="45720" marB="45720" anchor="ctr">
                    <a:solidFill>
                      <a:srgbClr val="102938"/>
                    </a:solidFill>
                  </a:tcPr>
                </a:tc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$50,000</a:t>
                      </a:r>
                    </a:p>
                  </a:txBody>
                  <a:tcPr marL="91440" marR="91440" marT="45720" marB="45720" anchor="ctr">
                    <a:solidFill>
                      <a:srgbClr val="102938"/>
                    </a:solidFill>
                  </a:tcPr>
                </a:tc>
              </a:tr>
              <a:tr h="411307"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Developer compensation</a:t>
                      </a:r>
                    </a:p>
                  </a:txBody>
                  <a:tcPr marL="91440" marR="91440" marT="45720" marB="45720" anchor="ctr">
                    <a:solidFill>
                      <a:srgbClr val="0E2230"/>
                    </a:solidFill>
                  </a:tcPr>
                </a:tc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$0</a:t>
                      </a:r>
                    </a:p>
                  </a:txBody>
                  <a:tcPr marL="91440" marR="91440" marT="45720" marB="45720" anchor="ctr">
                    <a:solidFill>
                      <a:srgbClr val="0E2230"/>
                    </a:solidFill>
                  </a:tcPr>
                </a:tc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$240,000</a:t>
                      </a:r>
                    </a:p>
                  </a:txBody>
                  <a:tcPr marL="91440" marR="91440" marT="45720" marB="45720" anchor="ctr">
                    <a:solidFill>
                      <a:srgbClr val="0E2230"/>
                    </a:solidFill>
                  </a:tcPr>
                </a:tc>
              </a:tr>
              <a:tr h="411307"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Hiring / contingency reserve</a:t>
                      </a:r>
                    </a:p>
                  </a:txBody>
                  <a:tcPr marL="91440" marR="91440" marT="45720" marB="45720" anchor="ctr">
                    <a:solidFill>
                      <a:srgbClr val="102938"/>
                    </a:solidFill>
                  </a:tcPr>
                </a:tc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$0</a:t>
                      </a:r>
                    </a:p>
                  </a:txBody>
                  <a:tcPr marL="91440" marR="91440" marT="45720" marB="45720" anchor="ctr">
                    <a:solidFill>
                      <a:srgbClr val="102938"/>
                    </a:solidFill>
                  </a:tcPr>
                </a:tc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$10,000</a:t>
                      </a:r>
                    </a:p>
                  </a:txBody>
                  <a:tcPr marL="91440" marR="91440" marT="45720" marB="45720" anchor="ctr">
                    <a:solidFill>
                      <a:srgbClr val="102938"/>
                    </a:solidFill>
                  </a:tcPr>
                </a:tc>
              </a:tr>
              <a:tr h="411307"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Total request</a:t>
                      </a:r>
                    </a:p>
                  </a:txBody>
                  <a:tcPr marL="91440" marR="91440" marT="45720" marB="45720" anchor="ctr">
                    <a:solidFill>
                      <a:srgbClr val="12384C"/>
                    </a:solidFill>
                  </a:tcPr>
                </a:tc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$150,000</a:t>
                      </a:r>
                    </a:p>
                  </a:txBody>
                  <a:tcPr marL="91440" marR="91440" marT="45720" marB="45720" anchor="ctr">
                    <a:solidFill>
                      <a:srgbClr val="12384C"/>
                    </a:solidFill>
                  </a:tcPr>
                </a:tc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$400,000</a:t>
                      </a:r>
                    </a:p>
                  </a:txBody>
                  <a:tcPr marL="91440" marR="91440" marT="45720" marB="45720" anchor="ctr">
                    <a:solidFill>
                      <a:srgbClr val="12384C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AE0D751-EBE2-4B74-A40F-71C46CD5A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44025" y="1733550"/>
            <a:ext cx="22574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202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Hiring assumption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D516997-CA27-43FF-AAF6-7BC3A0E6E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44025" y="2381250"/>
            <a:ext cx="2238375" cy="3190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172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$10,000 per developer per month.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72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Two developers for 12 months: $240,000.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72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DGX Spark is included in the base budget.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435321B-9738-4B16-9261-4054491F1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96025"/>
            <a:ext cx="10763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1425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rPr>
              <a:t>USD planning budgets. Supplier, payroll and investment terms require agreement. No funding received.</a:t>
            </a:r>
          </a:p>
        </p:txBody>
      </p:sp>
    </p:spTree>
    <p:extLst>
      <p:ext uri="{BB962C8B-B14F-4D97-AF65-F5344CB8AC3E}">
        <p14:creationId xmlns:p14="http://schemas.microsoft.com/office/powerpoint/2010/main" val="863912777"/>
      </p:ext>
    </p:extLst>
  </p:cSld>
</p:sld>
</file>

<file path=ppt/slides/slide37.xml><?xml version="1.0" encoding="utf-8"?>
<p:sld xmlns:p="http://schemas.openxmlformats.org/presentationml/2006/main">
  <p:cSld>
    <p:bg>
      <p:bgPr>
        <a:solidFill xmlns:a="http://schemas.openxmlformats.org/drawingml/2006/main">
          <a:srgbClr val="08121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3F7281D-8F87-4FF9-AD51-03919DAEA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Planned local AI capacity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1FAAC83-743E-436D-B58F-555F9F102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91275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rPr>
              <a:t>37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EE9F445-26D2-4FB7-B5CA-6FF8C7A84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33550"/>
            <a:ext cx="51911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NVIDIA DGX Spark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897F9CF-E9A3-4A34-8CB6-C14CDF8F0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28850"/>
            <a:ext cx="5191125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21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128 GB shared CPU/GPU memory and 4 TB SSD.</a:t>
            </a:r>
          </a:p>
          <a:p xmlns:a="http://schemas.openxmlformats.org/drawingml/2006/main">
            <a:pPr algn="l">
              <a:buNone/>
              <a:defRPr sz="21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150 × 150 × 50.5 mm, 1.2 kg.</a:t>
            </a:r>
          </a:p>
          <a:p xmlns:a="http://schemas.openxmlformats.org/drawingml/2006/main">
            <a:pPr algn="l">
              <a:buNone/>
              <a:defRPr sz="21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Compact enough to move with the workstation.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325C692-EA16-4BDD-9F30-21A223F76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05250"/>
            <a:ext cx="51911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202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US$6,950 before tax and delivery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3076B4C-12CD-408E-B4A5-106617F12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1733550"/>
            <a:ext cx="51911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Offload the local AI stack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1C03736-B663-4217-B7DA-A0F3A4D66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2228850"/>
            <a:ext cx="5191125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21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Keep Qwen and compatible AI workers resident on Spark. Free Station and laptops for editing, motion graphics and rendering.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084D53A-EAB7-44DF-ACCE-F0303BBEC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3905250"/>
            <a:ext cx="51911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202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Model and workload compatibility checks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97B206A-DBAB-4540-B29A-3A1495C85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6255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700" b="1">
                <a:solidFill>
                  <a:srgbClr val="61A3FF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2700" b="1">
                <a:solidFill>
                  <a:srgbClr val="61A3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700" b="1">
                <a:solidFill>
                  <a:srgbClr val="61A3FF"/>
                </a:solidFill>
                <a:latin typeface="Helvetica Neue"/>
                <a:ea typeface="Helvetica Neue"/>
                <a:cs typeface="Helvetica Neue"/>
              </a:rPr>
              <a:t>Included in the US$100,000 resource budget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5768E63-2F24-47EC-91CC-9C37F9D1C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2455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1800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Expected impact: concurrent AI access, fewer waits and several-fold faster development cycles. Validate under load.</a:t>
            </a:r>
          </a:p>
        </p:txBody>
      </p:sp>
    </p:spTree>
    <p:extLst>
      <p:ext uri="{BB962C8B-B14F-4D97-AF65-F5344CB8AC3E}">
        <p14:creationId xmlns:p14="http://schemas.microsoft.com/office/powerpoint/2010/main" val="898320263"/>
      </p:ext>
    </p:extLst>
  </p:cSld>
</p:sld>
</file>

<file path=ppt/slides/slide38.xml><?xml version="1.0" encoding="utf-8"?>
<p:sld xmlns:p="http://schemas.openxmlformats.org/presentationml/2006/main">
  <p:cSld>
    <p:bg>
      <p:bgPr>
        <a:solidFill xmlns:a="http://schemas.openxmlformats.org/drawingml/2006/main">
          <a:srgbClr val="08121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ADF3BDF-9820-4AB5-BC95-4E86D6349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33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33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Founder and current funding request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DE09453-F502-4E07-A8A9-0D653546F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91275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B5C4C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B5C4CD"/>
                </a:solidFill>
                <a:latin typeface="Helvetica Neue"/>
                <a:ea typeface="Helvetica Neue"/>
                <a:cs typeface="Helvetica Neue"/>
              </a:rPr>
              <a:t>38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088B271-3270-4B22-AE8E-9F8D87EBE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51911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Vitalii Pavlichuk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29835C2-9B86-424C-8692-E44973C4D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71700"/>
            <a:ext cx="5191125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2025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Mechanical design engineering background. Conceived Vantemio and designs its architecture and workflows. First software project, about seven months in development.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6E41CC2-DD03-4FAB-B684-884D3AD0E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1676400"/>
            <a:ext cx="51911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Funding request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537ED93-E6BE-4BB3-B0B5-E7135137B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2171700"/>
            <a:ext cx="5191125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2025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US$150,000 solo or US$400,000 with two developers. Both include US$50,000 founder compensation for 12 months of full-time work.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EB7D1F3-A465-4B64-8364-6DB1F89E6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24325"/>
            <a:ext cx="10858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2025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Informal marketing and promotion experience supports product strategy. Implementation uses AI coding tools.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2A325B5-1267-4049-B4F4-2A7A2C140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62575"/>
            <a:ext cx="533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1875" b="0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56DBD0"/>
                </a:solidFill>
                <a:latin typeface="Helvetica Neue"/>
                <a:ea typeface="Helvetica Neue"/>
                <a:cs typeface="Helvetica Neue"/>
                <a:hlinkClick xmlns:r="http://schemas.openxmlformats.org/officeDocument/2006/relationships" r:id="R838d41c0208e46dd"/>
              </a:rPr>
              <a:t>Website and current documentation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57EBADA-D817-4D18-9B45-8E09BA4F5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5362575"/>
            <a:ext cx="5095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56DBD0"/>
                </a:solidFill>
                <a:latin typeface="Helvetica Neue"/>
                <a:ea typeface="Helvetica Neue"/>
                <a:cs typeface="Helvetica Neue"/>
                <a:hlinkClick xmlns:r="http://schemas.openxmlformats.org/officeDocument/2006/relationships" r:id="R0497abb022be4fb7"/>
              </a:rPr>
              <a:t>Founder LinkedIn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64B2C42-8196-48CB-9DE4-05A5480D3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29325"/>
            <a:ext cx="10858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B5C4C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0">
                <a:solidFill>
                  <a:srgbClr val="B5C4CD"/>
                </a:solidFill>
                <a:latin typeface="Helvetica Neue"/>
                <a:ea typeface="Helvetica Neue"/>
                <a:cs typeface="Helvetica Neue"/>
              </a:rPr>
              <a:t>Private studio source is available for controlled technical review.</a:t>
            </a:r>
          </a:p>
        </p:txBody>
      </p:sp>
    </p:spTree>
    <p:extLst>
      <p:ext uri="{BB962C8B-B14F-4D97-AF65-F5344CB8AC3E}">
        <p14:creationId xmlns:p14="http://schemas.microsoft.com/office/powerpoint/2010/main" val="749977684"/>
      </p:ext>
    </p:extLst>
  </p:cSld>
</p:sld>
</file>

<file path=ppt/slides/slide39.xml><?xml version="1.0" encoding="utf-8"?>
<p:sld xmlns:p="http://schemas.openxmlformats.org/presentationml/2006/main">
  <p:cSld>
    <p:bg>
      <p:bgPr>
        <a:solidFill xmlns:a="http://schemas.openxmlformats.org/drawingml/2006/main">
          <a:srgbClr val="08121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37F3121-3661-40F0-AD92-5B77DBCB1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Evidence and review links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0CAD016-175B-45C8-BC3A-E3BFE266A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91275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rPr>
              <a:t>39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B7EF3AC-9F9E-4BE9-A4F0-7941B7990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14500"/>
            <a:ext cx="1095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61A3FF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2175" b="0">
                <a:solidFill>
                  <a:srgbClr val="61A3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0">
                <a:solidFill>
                  <a:srgbClr val="61A3FF"/>
                </a:solidFill>
                <a:latin typeface="Helvetica Neue"/>
                <a:ea typeface="Helvetica Neue"/>
                <a:cs typeface="Helvetica Neue"/>
                <a:hlinkClick xmlns:r="http://schemas.openxmlformats.org/officeDocument/2006/relationships" r:id="R49a4d6d4bd8347c8"/>
              </a:rPr>
              <a:t>Website and technical documentation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A95B57D-FBBB-4AD2-A96B-01E337CA6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57450"/>
            <a:ext cx="1095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61A3FF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2175" b="0">
                <a:solidFill>
                  <a:srgbClr val="61A3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0">
                <a:solidFill>
                  <a:srgbClr val="61A3FF"/>
                </a:solidFill>
                <a:latin typeface="Helvetica Neue"/>
                <a:ea typeface="Helvetica Neue"/>
                <a:cs typeface="Helvetica Neue"/>
                <a:hlinkClick xmlns:r="http://schemas.openxmlformats.org/officeDocument/2006/relationships" r:id="R743c95a0d8fd437c"/>
              </a:rPr>
              <a:t>Public source and development modules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9B7250A-DC6E-4FB7-BCB0-9F3FCA9F0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00400"/>
            <a:ext cx="1095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61A3FF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2175" b="0">
                <a:solidFill>
                  <a:srgbClr val="61A3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0">
                <a:solidFill>
                  <a:srgbClr val="61A3FF"/>
                </a:solidFill>
                <a:latin typeface="Helvetica Neue"/>
                <a:ea typeface="Helvetica Neue"/>
                <a:cs typeface="Helvetica Neue"/>
                <a:hlinkClick xmlns:r="http://schemas.openxmlformats.org/officeDocument/2006/relationships" r:id="R878d406b50ff4e87"/>
              </a:rPr>
              <a:t>Historical demo and transaction references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1282931-7C84-4B5C-B358-C88AC0390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43350"/>
            <a:ext cx="1095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61A3FF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2175" b="0">
                <a:solidFill>
                  <a:srgbClr val="61A3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0">
                <a:solidFill>
                  <a:srgbClr val="61A3FF"/>
                </a:solidFill>
                <a:latin typeface="Helvetica Neue"/>
                <a:ea typeface="Helvetica Neue"/>
                <a:cs typeface="Helvetica Neue"/>
                <a:hlinkClick xmlns:r="http://schemas.openxmlformats.org/officeDocument/2006/relationships" r:id="Rfa44f008e3184731"/>
              </a:rPr>
              <a:t>Market specification and fulfillment design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B01FE59-8959-4301-A4FD-E0CE03BD8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86300"/>
            <a:ext cx="1095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0">
                <a:solidFill>
                  <a:srgbClr val="61A3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0">
                <a:solidFill>
                  <a:srgbClr val="61A3FF"/>
                </a:solidFill>
                <a:latin typeface="Helvetica Neue"/>
                <a:ea typeface="Helvetica Neue"/>
                <a:cs typeface="Helvetica Neue"/>
                <a:hlinkClick xmlns:r="http://schemas.openxmlformats.org/officeDocument/2006/relationships" r:id="R049fddf9476c45a6"/>
              </a:rPr>
              <a:t>Founder: Vitalii Pavlichuk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17A4151-B2D4-4028-9B28-022C304DC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48325"/>
            <a:ext cx="10953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202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Public source covers selected modules. The proprietary core and private production data remain closed.</a:t>
            </a:r>
          </a:p>
        </p:txBody>
      </p:sp>
    </p:spTree>
    <p:extLst>
      <p:ext uri="{BB962C8B-B14F-4D97-AF65-F5344CB8AC3E}">
        <p14:creationId xmlns:p14="http://schemas.microsoft.com/office/powerpoint/2010/main" val="133956164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2026-10-09T00:54:04.4950000Z</dcterms:created>
  <dcterms:modified xsi:type="dcterms:W3CDTF">2026-10-09T00:54:04.4950000Z</dcterms:modified>
</coreProperties>
</file>